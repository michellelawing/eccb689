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515" r:id="rId3"/>
    <p:sldId id="541" r:id="rId4"/>
    <p:sldId id="514" r:id="rId5"/>
    <p:sldId id="543" r:id="rId6"/>
    <p:sldId id="542" r:id="rId7"/>
    <p:sldId id="544" r:id="rId8"/>
    <p:sldId id="547" r:id="rId9"/>
    <p:sldId id="545" r:id="rId10"/>
    <p:sldId id="553" r:id="rId11"/>
    <p:sldId id="554" r:id="rId12"/>
    <p:sldId id="555" r:id="rId13"/>
    <p:sldId id="548" r:id="rId14"/>
    <p:sldId id="549" r:id="rId15"/>
    <p:sldId id="550" r:id="rId16"/>
    <p:sldId id="551" r:id="rId17"/>
    <p:sldId id="552" r:id="rId18"/>
    <p:sldId id="556" r:id="rId19"/>
    <p:sldId id="557" r:id="rId20"/>
    <p:sldId id="558" r:id="rId21"/>
    <p:sldId id="559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6E93F3-11AD-C848-9581-61FF99ABE858}">
          <p14:sldIdLst>
            <p14:sldId id="256"/>
            <p14:sldId id="515"/>
            <p14:sldId id="541"/>
            <p14:sldId id="514"/>
            <p14:sldId id="543"/>
            <p14:sldId id="542"/>
            <p14:sldId id="544"/>
            <p14:sldId id="547"/>
            <p14:sldId id="545"/>
            <p14:sldId id="553"/>
            <p14:sldId id="554"/>
            <p14:sldId id="555"/>
            <p14:sldId id="548"/>
            <p14:sldId id="549"/>
            <p14:sldId id="550"/>
            <p14:sldId id="551"/>
            <p14:sldId id="552"/>
            <p14:sldId id="556"/>
            <p14:sldId id="557"/>
            <p14:sldId id="558"/>
            <p14:sldId id="5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a Lawi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94606"/>
  </p:normalViewPr>
  <p:slideViewPr>
    <p:cSldViewPr snapToGrid="0" snapToObjects="1">
      <p:cViewPr>
        <p:scale>
          <a:sx n="140" d="100"/>
          <a:sy n="140" d="100"/>
        </p:scale>
        <p:origin x="144" y="48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2D4AE1-BD9C-1741-B132-ACC4FD870A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2F900-87CF-6E4F-9FCE-F0A8E37B2F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404FB-D815-9B49-9DBC-B684E3C0E79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167D0-463A-4043-821F-310E6E0480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556C2-9555-094A-9761-17FDE74E66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5A322-2EE7-5046-A0D8-D3FF3645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6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C5A93-540D-2443-A380-5679C155FF1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A90D5-3B1D-1149-800E-15EBB293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9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9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3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0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3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4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0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2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9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72041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29292"/>
            <a:ext cx="8229600" cy="3265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768856" y="69057"/>
            <a:ext cx="236892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ECCB</a:t>
            </a:r>
            <a:r>
              <a:rPr lang="en-US" sz="1100" baseline="0" dirty="0">
                <a:solidFill>
                  <a:schemeClr val="bg1">
                    <a:lumMod val="50000"/>
                  </a:schemeClr>
                </a:solidFill>
              </a:rPr>
              <a:t> 689 Modeling Ecological Niches</a:t>
            </a:r>
          </a:p>
          <a:p>
            <a:r>
              <a:rPr lang="en-US" sz="1100" baseline="0" dirty="0">
                <a:solidFill>
                  <a:schemeClr val="bg1">
                    <a:lumMod val="50000"/>
                  </a:schemeClr>
                </a:solidFill>
              </a:rPr>
              <a:t>and Species’ Geographic Distributions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94237" y="69057"/>
            <a:ext cx="3735891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Ecology and Conservation Biology | </a:t>
            </a:r>
            <a:r>
              <a:rPr lang="en-US" sz="1100" dirty="0">
                <a:solidFill>
                  <a:srgbClr val="800000"/>
                </a:solidFill>
              </a:rPr>
              <a:t>Texas A&amp;M University</a:t>
            </a:r>
          </a:p>
        </p:txBody>
      </p:sp>
    </p:spTree>
    <p:extLst>
      <p:ext uri="{BB962C8B-B14F-4D97-AF65-F5344CB8AC3E}">
        <p14:creationId xmlns:p14="http://schemas.microsoft.com/office/powerpoint/2010/main" val="190773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rgbClr val="800000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4589" y="1469231"/>
            <a:ext cx="7158247" cy="1102519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Week 10. Comparing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8812" y="2826129"/>
            <a:ext cx="2326373" cy="1001825"/>
          </a:xfrm>
        </p:spPr>
        <p:txBody>
          <a:bodyPr>
            <a:normAutofit fontScale="85000" lnSpcReduction="10000"/>
          </a:bodyPr>
          <a:lstStyle/>
          <a:p>
            <a:r>
              <a:rPr lang="en-US" sz="1600" dirty="0">
                <a:solidFill>
                  <a:srgbClr val="800000"/>
                </a:solidFill>
              </a:rPr>
              <a:t>A. Michelle Lawing, PhD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Associate Professor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Paleobiology, Evolution, and Climate Lab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Ecology and Conservation Biology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Texas A&amp;M University</a:t>
            </a:r>
          </a:p>
          <a:p>
            <a:pPr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</a:rPr>
              <a:t>alawing@tamu.edu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0477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90A04-CC46-81EB-10DB-8BF42B5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487" y="1979975"/>
            <a:ext cx="5495026" cy="857250"/>
          </a:xfrm>
        </p:spPr>
        <p:txBody>
          <a:bodyPr>
            <a:normAutofit/>
          </a:bodyPr>
          <a:lstStyle/>
          <a:p>
            <a:r>
              <a:rPr lang="en-US" dirty="0"/>
              <a:t>Welcome, hello, any announcements?</a:t>
            </a:r>
          </a:p>
        </p:txBody>
      </p:sp>
    </p:spTree>
    <p:extLst>
      <p:ext uri="{BB962C8B-B14F-4D97-AF65-F5344CB8AC3E}">
        <p14:creationId xmlns:p14="http://schemas.microsoft.com/office/powerpoint/2010/main" val="182652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29E7-D049-043B-4B15-5DABF32E1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097" y="2920814"/>
            <a:ext cx="8229600" cy="857250"/>
          </a:xfrm>
        </p:spPr>
        <p:txBody>
          <a:bodyPr/>
          <a:lstStyle/>
          <a:p>
            <a:r>
              <a:rPr lang="en-US" dirty="0"/>
              <a:t>Upcoming Project Milestones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CC3541F-8F94-C67C-3731-7CA5648C4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2033936"/>
              </p:ext>
            </p:extLst>
          </p:nvPr>
        </p:nvGraphicFramePr>
        <p:xfrm>
          <a:off x="1599696" y="3778064"/>
          <a:ext cx="5944607" cy="79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4173">
                  <a:extLst>
                    <a:ext uri="{9D8B030D-6E8A-4147-A177-3AD203B41FA5}">
                      <a16:colId xmlns:a16="http://schemas.microsoft.com/office/drawing/2014/main" val="4005966982"/>
                    </a:ext>
                  </a:extLst>
                </a:gridCol>
                <a:gridCol w="2890434">
                  <a:extLst>
                    <a:ext uri="{9D8B030D-6E8A-4147-A177-3AD203B41FA5}">
                      <a16:colId xmlns:a16="http://schemas.microsoft.com/office/drawing/2014/main" val="262250381"/>
                    </a:ext>
                  </a:extLst>
                </a:gridCol>
              </a:tblGrid>
              <a:tr h="3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Milestone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071243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Nov.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Preliminary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70703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627BBF61-3CA3-CF93-B41A-4EF6A3BD4F62}"/>
              </a:ext>
            </a:extLst>
          </p:cNvPr>
          <p:cNvSpPr txBox="1">
            <a:spLocks/>
          </p:cNvSpPr>
          <p:nvPr/>
        </p:nvSpPr>
        <p:spPr>
          <a:xfrm>
            <a:off x="358097" y="64103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rgbClr val="8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Upcoming Lab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CBF219B-22B7-DDF9-40FD-6A92279930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5453315"/>
              </p:ext>
            </p:extLst>
          </p:nvPr>
        </p:nvGraphicFramePr>
        <p:xfrm>
          <a:off x="1500593" y="1603059"/>
          <a:ext cx="5944607" cy="79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4173">
                  <a:extLst>
                    <a:ext uri="{9D8B030D-6E8A-4147-A177-3AD203B41FA5}">
                      <a16:colId xmlns:a16="http://schemas.microsoft.com/office/drawing/2014/main" val="4005966982"/>
                    </a:ext>
                  </a:extLst>
                </a:gridCol>
                <a:gridCol w="2890434">
                  <a:extLst>
                    <a:ext uri="{9D8B030D-6E8A-4147-A177-3AD203B41FA5}">
                      <a16:colId xmlns:a16="http://schemas.microsoft.com/office/drawing/2014/main" val="262250381"/>
                    </a:ext>
                  </a:extLst>
                </a:gridCol>
              </a:tblGrid>
              <a:tr h="3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Lab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071243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Oct. 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Lab 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707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276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3A30-1780-5937-E856-89F2E855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0307-79AE-61F3-A7AF-66C33C0C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468E-DFB5-9223-01DC-321D344FD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9 Evaluating Niche Models</a:t>
            </a:r>
          </a:p>
          <a:p>
            <a:r>
              <a:rPr lang="en-US" dirty="0"/>
              <a:t>Comparing models</a:t>
            </a:r>
          </a:p>
          <a:p>
            <a:r>
              <a:rPr lang="en-US" dirty="0"/>
              <a:t>Lab 06 code</a:t>
            </a:r>
          </a:p>
        </p:txBody>
      </p:sp>
    </p:spTree>
    <p:extLst>
      <p:ext uri="{BB962C8B-B14F-4D97-AF65-F5344CB8AC3E}">
        <p14:creationId xmlns:p14="http://schemas.microsoft.com/office/powerpoint/2010/main" val="135870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eorge E. P. Box – Models – Yahooey's Blog">
            <a:extLst>
              <a:ext uri="{FF2B5EF4-FFF2-40B4-BE49-F238E27FC236}">
                <a16:creationId xmlns:a16="http://schemas.microsoft.com/office/drawing/2014/main" id="{7BDAEF16-99B5-0DD2-87DA-CC3731ABB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499" y="1181100"/>
            <a:ext cx="5447040" cy="306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819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D0D0-C60F-2400-96B6-39A21C9C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know whether a model is useful?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B8E9A-75A7-B3EF-C416-1AED51CA9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model evaluation to determine performance and significance</a:t>
            </a:r>
          </a:p>
          <a:p>
            <a:pPr lvl="1"/>
            <a:r>
              <a:rPr lang="en-US" dirty="0"/>
              <a:t>Performance: How well does the model achieve its intended purpose?</a:t>
            </a:r>
          </a:p>
          <a:p>
            <a:pPr lvl="1"/>
            <a:r>
              <a:rPr lang="en-US" dirty="0"/>
              <a:t>Significance: Does the model perform better than expected under a null hypothesis?</a:t>
            </a:r>
          </a:p>
          <a:p>
            <a:pPr lvl="1"/>
            <a:endParaRPr lang="en-US" dirty="0"/>
          </a:p>
          <a:p>
            <a:r>
              <a:rPr lang="en-US" dirty="0"/>
              <a:t>Please note that a model can be statistically significant without being particularly useful and a model can have good performance without being significantly different from the null expectation.</a:t>
            </a:r>
          </a:p>
        </p:txBody>
      </p:sp>
    </p:spTree>
    <p:extLst>
      <p:ext uri="{BB962C8B-B14F-4D97-AF65-F5344CB8AC3E}">
        <p14:creationId xmlns:p14="http://schemas.microsoft.com/office/powerpoint/2010/main" val="116526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7F609-611A-11CA-3CBB-F5926F34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types of prediction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2622C-BD5C-FF4F-1DC3-076438ACF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292"/>
            <a:ext cx="4660775" cy="326533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Omission error (false negative) - The species is present, but the model predicts absence or unsuitable conditions. The model fails to identify a known occurrence.</a:t>
            </a:r>
          </a:p>
          <a:p>
            <a:endParaRPr lang="en-US" dirty="0"/>
          </a:p>
          <a:p>
            <a:r>
              <a:rPr lang="en-US" dirty="0"/>
              <a:t>Commission error (false positive) - The model predicts presence or suitability where the species is recorded as absent.</a:t>
            </a:r>
          </a:p>
          <a:p>
            <a:pPr lvl="1"/>
            <a:r>
              <a:rPr lang="en-US" dirty="0"/>
              <a:t>Please note that an apparent commission error may not be a real error.</a:t>
            </a:r>
          </a:p>
          <a:p>
            <a:pPr lvl="1"/>
            <a:r>
              <a:rPr lang="en-US" dirty="0"/>
              <a:t>The species may be absent because of dispersal limitations, biotic interactions, or incomplete sampling, even when the environment is suitable. This is something you can address in your Discussion section.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B4137-6530-ACE4-6581-9BB5F0EE6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975" y="647700"/>
            <a:ext cx="4026025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CBFA-2238-24FE-8946-FE4EDCE3D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41D0B-538D-6FF5-D5A5-0966FF83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 versus evaluation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E1CE4-F97C-4BCC-9F79-5C06F8DC6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need to evaluate models using data not used to fit them.</a:t>
            </a:r>
          </a:p>
          <a:p>
            <a:pPr lvl="1"/>
            <a:r>
              <a:rPr lang="en-US" dirty="0"/>
              <a:t>Calibration (training) data are used to fit the relationship between occurrences and environmental predictors.</a:t>
            </a:r>
          </a:p>
          <a:p>
            <a:pPr lvl="1"/>
            <a:r>
              <a:rPr lang="en-US" dirty="0"/>
              <a:t>Evaluation (testing) data are used to assess how well the fitted model generalizes.</a:t>
            </a:r>
          </a:p>
          <a:p>
            <a:r>
              <a:rPr lang="en-US" dirty="0"/>
              <a:t>Important considerations:</a:t>
            </a:r>
          </a:p>
          <a:p>
            <a:pPr lvl="1"/>
            <a:r>
              <a:rPr lang="en-US" dirty="0"/>
              <a:t>Evaluating a model on training data can give overly optimistic results.</a:t>
            </a:r>
          </a:p>
          <a:p>
            <a:pPr lvl="1"/>
            <a:r>
              <a:rPr lang="en-US" dirty="0"/>
              <a:t>Nearby records may not be statistically independent because of spatial autocorrelation.</a:t>
            </a:r>
          </a:p>
          <a:p>
            <a:pPr lvl="1"/>
            <a:r>
              <a:rPr lang="en-US" dirty="0"/>
              <a:t>Randomly splitting a biased dataset does not remove the underlying sampling bias.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61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B8ED98-757F-C230-F57D-B375BBF43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146" y="1329291"/>
            <a:ext cx="6927198" cy="275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57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EBE7-5861-6E09-60B2-092361D9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8073"/>
            <a:ext cx="3319272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Use the confusion matrix to calculate metrics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6452AD-9E3E-F405-A5A8-7A8C5B7B7B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808964"/>
              </p:ext>
            </p:extLst>
          </p:nvPr>
        </p:nvGraphicFramePr>
        <p:xfrm>
          <a:off x="457200" y="2571749"/>
          <a:ext cx="8229600" cy="2042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1096">
                  <a:extLst>
                    <a:ext uri="{9D8B030D-6E8A-4147-A177-3AD203B41FA5}">
                      <a16:colId xmlns:a16="http://schemas.microsoft.com/office/drawing/2014/main" val="2717134666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1331122570"/>
                    </a:ext>
                  </a:extLst>
                </a:gridCol>
                <a:gridCol w="4645152">
                  <a:extLst>
                    <a:ext uri="{9D8B030D-6E8A-4147-A177-3AD203B41FA5}">
                      <a16:colId xmlns:a16="http://schemas.microsoft.com/office/drawing/2014/main" val="1908927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Measure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Formula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Definition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020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a/(</a:t>
                      </a:r>
                      <a:r>
                        <a:rPr lang="en-US" sz="1600" dirty="0" err="1"/>
                        <a:t>a+c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Proportion of actual presences correctly predicted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948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Specificity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d/(</a:t>
                      </a:r>
                      <a:r>
                        <a:rPr lang="en-US" sz="1600" dirty="0" err="1"/>
                        <a:t>b+d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Proportion of actual absences correctly predicted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7475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Omission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c/(</a:t>
                      </a:r>
                      <a:r>
                        <a:rPr lang="en-US" sz="1600" dirty="0" err="1"/>
                        <a:t>a+c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Proportion of presences missed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679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Commission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b/(</a:t>
                      </a:r>
                      <a:r>
                        <a:rPr lang="en-US" sz="1600" dirty="0" err="1"/>
                        <a:t>b+d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Proportion of absences predicted 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146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a+d</a:t>
                      </a:r>
                      <a:r>
                        <a:rPr lang="en-US" sz="1600" dirty="0"/>
                        <a:t>)/(</a:t>
                      </a:r>
                      <a:r>
                        <a:rPr lang="en-US" sz="1600" dirty="0" err="1"/>
                        <a:t>a+b+c+d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Proportion of all observations classified correctly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721976"/>
                  </a:ext>
                </a:extLst>
              </a:tr>
            </a:tbl>
          </a:graphicData>
        </a:graphic>
      </p:graphicFrame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E88E54-C38E-5346-7EF6-07E0B8724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728073"/>
            <a:ext cx="4425697" cy="175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45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23C64-51F1-5B96-EF6B-72677C7BF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E692B-C93C-C477-E306-380F6120F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2132"/>
            <a:ext cx="8229600" cy="1379618"/>
          </a:xfrm>
        </p:spPr>
        <p:txBody>
          <a:bodyPr/>
          <a:lstStyle/>
          <a:p>
            <a:r>
              <a:rPr lang="en-US" dirty="0"/>
              <a:t>Loss functions assign costs to different outcomes.</a:t>
            </a:r>
          </a:p>
          <a:p>
            <a:r>
              <a:rPr lang="en-US" dirty="0"/>
              <a:t>Zero-one loss functions give equal penalties to both errors.</a:t>
            </a:r>
          </a:p>
          <a:p>
            <a:r>
              <a:rPr lang="en-US" dirty="0"/>
              <a:t>Asymmetric loss functions allow one kind of error to matter more.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6D6F2FC-A12D-ACBE-5BB0-1A1FD6294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87" y="2485268"/>
            <a:ext cx="7447026" cy="25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0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EFD23-DEC6-451E-0128-90561D70E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Loss function choice depends on what you are trying to predict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E0310-B3EC-2C8A-5863-57C89028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Actual occurrence or occupied distribution?</a:t>
            </a:r>
          </a:p>
          <a:p>
            <a:pPr lvl="0"/>
            <a:r>
              <a:rPr lang="en-US" dirty="0"/>
              <a:t>Environmental suitability or potential distribution?</a:t>
            </a:r>
          </a:p>
          <a:p>
            <a:pPr lvl="0"/>
            <a:r>
              <a:rPr lang="en-US" dirty="0"/>
              <a:t>Do you have true absences or only background?</a:t>
            </a:r>
          </a:p>
          <a:p>
            <a:pPr lvl="0"/>
            <a:r>
              <a:rPr lang="en-US" dirty="0"/>
              <a:t>Which kinds of errors matter for the biological application?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844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D933-3972-D515-6215-A25037E9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aspect of model performance are we measuring?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51070-1F56-CAEC-ACFF-08BB0305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Discrimination - Can the model distinguish known occurrences from absences or background locations?</a:t>
            </a:r>
          </a:p>
          <a:p>
            <a:r>
              <a:rPr lang="en-US" dirty="0"/>
              <a:t>Goodness of fit / probability calibration - How well do occurrence probabilities correspond to observed frequencies?</a:t>
            </a:r>
          </a:p>
          <a:p>
            <a:r>
              <a:rPr lang="en-US" dirty="0"/>
              <a:t>Different evaluation measures answer different questions. For example:</a:t>
            </a:r>
          </a:p>
          <a:p>
            <a:pPr lvl="1"/>
            <a:r>
              <a:rPr lang="en-US" dirty="0"/>
              <a:t>Sensitivity tells about the proportion of known presences correctly predicted.</a:t>
            </a:r>
          </a:p>
          <a:p>
            <a:pPr lvl="1"/>
            <a:r>
              <a:rPr lang="en-US" dirty="0"/>
              <a:t>Specificity tells about the proportion of true absences correctly predicted.</a:t>
            </a:r>
          </a:p>
          <a:p>
            <a:pPr lvl="1"/>
            <a:r>
              <a:rPr lang="en-US" dirty="0"/>
              <a:t>AUC tells about the ability to rank presences above absences or background locations across thresholds.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6400-0849-D04E-CF71-01B83F16D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B58D2-E915-97B5-73A6-CA77020AE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292"/>
            <a:ext cx="3105150" cy="3265331"/>
          </a:xfrm>
        </p:spPr>
        <p:txBody>
          <a:bodyPr>
            <a:normAutofit/>
          </a:bodyPr>
          <a:lstStyle/>
          <a:p>
            <a:r>
              <a:rPr lang="en-US" dirty="0"/>
              <a:t>Receiver Operating Characteristic (ROC) plots model performance across classification thresholds.</a:t>
            </a:r>
          </a:p>
          <a:p>
            <a:pPr lvl="1"/>
            <a:r>
              <a:rPr lang="en-US" dirty="0"/>
              <a:t>Y-axis: sensitivity (true positive rate)</a:t>
            </a:r>
          </a:p>
          <a:p>
            <a:pPr lvl="1"/>
            <a:r>
              <a:rPr lang="en-US" dirty="0"/>
              <a:t>X-axis: 1 − specificity (false positive rate)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908EC7-EDCB-977C-DE12-EF89453F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795" y="737635"/>
            <a:ext cx="3704545" cy="3143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0FF139-B2F3-6FE5-CE7B-9FD09ABAEE73}"/>
              </a:ext>
            </a:extLst>
          </p:cNvPr>
          <p:cNvSpPr txBox="1"/>
          <p:nvPr/>
        </p:nvSpPr>
        <p:spPr>
          <a:xfrm>
            <a:off x="4895850" y="3952875"/>
            <a:ext cx="37045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200" dirty="0">
                <a:effectLst/>
                <a:latin typeface="+mn-lt"/>
              </a:rPr>
              <a:t>Dashed line is the expected performance of a random classifier</a:t>
            </a:r>
            <a:r>
              <a:rPr lang="en-US" sz="1200" dirty="0"/>
              <a:t> </a:t>
            </a:r>
            <a:r>
              <a:rPr lang="en-US" sz="1200" dirty="0">
                <a:effectLst/>
                <a:latin typeface="+mn-lt"/>
              </a:rPr>
              <a:t>(for presence/absence evaluation data).</a:t>
            </a:r>
          </a:p>
          <a:p>
            <a:pPr marL="0" marR="0">
              <a:buNone/>
            </a:pPr>
            <a:endParaRPr lang="en-US" sz="1200" dirty="0"/>
          </a:p>
          <a:p>
            <a:pPr marL="0" marR="0">
              <a:buNone/>
            </a:pPr>
            <a:r>
              <a:rPr lang="en-US" sz="1200" dirty="0"/>
              <a:t>Solid line is </a:t>
            </a:r>
            <a:r>
              <a:rPr lang="en-US" sz="1200" dirty="0">
                <a:effectLst/>
                <a:latin typeface="+mn-lt"/>
              </a:rPr>
              <a:t>the observed performance in this hypothetical example.</a:t>
            </a:r>
            <a:endParaRPr lang="en-US" sz="12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219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16684-C8BB-C690-5B53-5F3E80147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D17B-3300-7CB2-A234-A3B5A4394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C1B45-C974-CE0F-A5BD-00E65FE48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292"/>
            <a:ext cx="3790951" cy="326533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Area Under the Curve (AUC) summarizes the model's ranking ability across thresholds.</a:t>
            </a:r>
          </a:p>
          <a:p>
            <a:pPr lvl="1"/>
            <a:r>
              <a:rPr lang="en-US" dirty="0"/>
              <a:t>AUC is widely used, but interpretation depends on the evaluation data.</a:t>
            </a:r>
          </a:p>
          <a:p>
            <a:pPr lvl="1"/>
            <a:r>
              <a:rPr lang="en-US" dirty="0"/>
              <a:t>With presence/background data:</a:t>
            </a:r>
          </a:p>
          <a:p>
            <a:pPr lvl="2"/>
            <a:r>
              <a:rPr lang="en-US" dirty="0"/>
              <a:t>background points are not confirmed absences;</a:t>
            </a:r>
          </a:p>
          <a:p>
            <a:pPr lvl="2"/>
            <a:r>
              <a:rPr lang="en-US" dirty="0"/>
              <a:t>AUC measures discrimination of presences from background;</a:t>
            </a:r>
          </a:p>
          <a:p>
            <a:pPr lvl="2"/>
            <a:r>
              <a:rPr lang="en-US" dirty="0"/>
              <a:t>the result depends on the geographic region used to sample background.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D4738F-BFD1-F671-0A16-5DB65414A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795" y="737635"/>
            <a:ext cx="3704545" cy="3143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999871-047B-7594-17E9-0D826AF969C5}"/>
              </a:ext>
            </a:extLst>
          </p:cNvPr>
          <p:cNvSpPr txBox="1"/>
          <p:nvPr/>
        </p:nvSpPr>
        <p:spPr>
          <a:xfrm>
            <a:off x="4895850" y="3952875"/>
            <a:ext cx="37045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200" dirty="0">
                <a:effectLst/>
                <a:latin typeface="+mn-lt"/>
              </a:rPr>
              <a:t>Dashed line is the expected performance of a random classifier</a:t>
            </a:r>
            <a:r>
              <a:rPr lang="en-US" sz="1200" dirty="0"/>
              <a:t> </a:t>
            </a:r>
            <a:r>
              <a:rPr lang="en-US" sz="1200" dirty="0">
                <a:effectLst/>
                <a:latin typeface="+mn-lt"/>
              </a:rPr>
              <a:t>(for presence/absence evaluation data).</a:t>
            </a:r>
          </a:p>
          <a:p>
            <a:pPr marL="0" marR="0">
              <a:buNone/>
            </a:pPr>
            <a:endParaRPr lang="en-US" sz="1200" dirty="0"/>
          </a:p>
          <a:p>
            <a:pPr marL="0" marR="0">
              <a:buNone/>
            </a:pPr>
            <a:r>
              <a:rPr lang="en-US" sz="1200" dirty="0"/>
              <a:t>Solid line is </a:t>
            </a:r>
            <a:r>
              <a:rPr lang="en-US" sz="1200" dirty="0">
                <a:effectLst/>
                <a:latin typeface="+mn-lt"/>
              </a:rPr>
              <a:t>the observed performance in this hypothetical example.</a:t>
            </a:r>
            <a:endParaRPr lang="en-US" sz="12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25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DBDD-C263-7FA9-AB07-CBD11D5A5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our first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4F9C0-64D1-90A3-3C37-65D1DF975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06: Comparing and evaluating models</a:t>
            </a:r>
          </a:p>
          <a:p>
            <a:endParaRPr lang="en-US" dirty="0"/>
          </a:p>
          <a:p>
            <a:r>
              <a:rPr lang="en-US" dirty="0"/>
              <a:t>We will:</a:t>
            </a:r>
          </a:p>
          <a:p>
            <a:pPr lvl="1"/>
            <a:r>
              <a:rPr lang="en-US" dirty="0"/>
              <a:t>Fit a GLM and a GAM using the same data.</a:t>
            </a:r>
          </a:p>
          <a:p>
            <a:pPr lvl="1"/>
            <a:r>
              <a:rPr lang="en-US" dirty="0"/>
              <a:t>Compare how they represent environmental response curves.</a:t>
            </a:r>
          </a:p>
          <a:p>
            <a:pPr lvl="1"/>
            <a:r>
              <a:rPr lang="en-US" dirty="0"/>
              <a:t>Evaluate their predictions using held-out data.</a:t>
            </a:r>
          </a:p>
          <a:p>
            <a:pPr lvl="1"/>
            <a:r>
              <a:rPr lang="en-US" dirty="0"/>
              <a:t>Examine whether greater complexity improves performance.</a:t>
            </a:r>
          </a:p>
          <a:p>
            <a:pPr lvl="1"/>
            <a:r>
              <a:rPr lang="en-US" dirty="0"/>
              <a:t>Consider what the evaluation results actually tell 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17FB-B355-AA20-F008-D36ADB2A4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AB2D7-1870-DC1C-60DF-27EDC4886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  <a:defRPr sz="1330">
                <a:solidFill>
                  <a:srgbClr val="4B785D"/>
                </a:solidFill>
                <a:latin typeface="Consolas"/>
              </a:defRPr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Reuse the model-ready data from Lab 05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&gt; </a:t>
            </a:r>
            <a:r>
              <a:rPr lang="en-US" sz="1600" dirty="0" err="1">
                <a:solidFill>
                  <a:srgbClr val="0070C0"/>
                </a:solidFill>
              </a:rPr>
              <a:t>set.seed</a:t>
            </a:r>
            <a:r>
              <a:rPr lang="en-US" sz="1600" dirty="0">
                <a:solidFill>
                  <a:srgbClr val="0070C0"/>
                </a:solidFill>
              </a:rPr>
              <a:t>(689)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&gt; </a:t>
            </a:r>
            <a:r>
              <a:rPr lang="en-US" sz="1600" dirty="0" err="1">
                <a:solidFill>
                  <a:srgbClr val="0070C0"/>
                </a:solidFill>
              </a:rPr>
              <a:t>train_rows</a:t>
            </a:r>
            <a:r>
              <a:rPr lang="en-US" sz="1600" dirty="0">
                <a:solidFill>
                  <a:srgbClr val="0070C0"/>
                </a:solidFill>
              </a:rPr>
              <a:t> &lt;- sample(</a:t>
            </a:r>
            <a:r>
              <a:rPr lang="en-US" sz="1600" dirty="0" err="1">
                <a:solidFill>
                  <a:srgbClr val="0070C0"/>
                </a:solidFill>
              </a:rPr>
              <a:t>seq_len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dirty="0" err="1">
                <a:solidFill>
                  <a:srgbClr val="0070C0"/>
                </a:solidFill>
              </a:rPr>
              <a:t>nrow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dirty="0" err="1">
                <a:solidFill>
                  <a:srgbClr val="0070C0"/>
                </a:solidFill>
              </a:rPr>
              <a:t>model_data</a:t>
            </a:r>
            <a:r>
              <a:rPr lang="en-US" sz="1600" dirty="0">
                <a:solidFill>
                  <a:srgbClr val="0070C0"/>
                </a:solidFill>
              </a:rPr>
              <a:t>)),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                     size = floor(0.8 * </a:t>
            </a:r>
            <a:r>
              <a:rPr lang="en-US" sz="1600" dirty="0" err="1">
                <a:solidFill>
                  <a:srgbClr val="0070C0"/>
                </a:solidFill>
              </a:rPr>
              <a:t>nrow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dirty="0" err="1">
                <a:solidFill>
                  <a:srgbClr val="0070C0"/>
                </a:solidFill>
              </a:rPr>
              <a:t>model_data</a:t>
            </a:r>
            <a:r>
              <a:rPr lang="en-US" sz="1600" dirty="0">
                <a:solidFill>
                  <a:srgbClr val="0070C0"/>
                </a:solidFill>
              </a:rPr>
              <a:t>)))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&gt; </a:t>
            </a:r>
            <a:r>
              <a:rPr lang="en-US" sz="1600" dirty="0" err="1">
                <a:solidFill>
                  <a:srgbClr val="0070C0"/>
                </a:solidFill>
              </a:rPr>
              <a:t>training_data</a:t>
            </a:r>
            <a:r>
              <a:rPr lang="en-US" sz="1600" dirty="0">
                <a:solidFill>
                  <a:srgbClr val="0070C0"/>
                </a:solidFill>
              </a:rPr>
              <a:t> &lt;- </a:t>
            </a:r>
            <a:r>
              <a:rPr lang="en-US" sz="1600" dirty="0" err="1">
                <a:solidFill>
                  <a:srgbClr val="0070C0"/>
                </a:solidFill>
              </a:rPr>
              <a:t>model_data</a:t>
            </a:r>
            <a:r>
              <a:rPr lang="en-US" sz="1600" dirty="0">
                <a:solidFill>
                  <a:srgbClr val="0070C0"/>
                </a:solidFill>
              </a:rPr>
              <a:t>[</a:t>
            </a:r>
            <a:r>
              <a:rPr lang="en-US" sz="1600" dirty="0" err="1">
                <a:solidFill>
                  <a:srgbClr val="0070C0"/>
                </a:solidFill>
              </a:rPr>
              <a:t>train_rows</a:t>
            </a:r>
            <a:r>
              <a:rPr lang="en-US" sz="1600" dirty="0">
                <a:solidFill>
                  <a:srgbClr val="0070C0"/>
                </a:solidFill>
              </a:rPr>
              <a:t>, ]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&gt; </a:t>
            </a:r>
            <a:r>
              <a:rPr lang="en-US" sz="1600" dirty="0" err="1">
                <a:solidFill>
                  <a:srgbClr val="0070C0"/>
                </a:solidFill>
              </a:rPr>
              <a:t>test_data</a:t>
            </a:r>
            <a:r>
              <a:rPr lang="en-US" sz="1600" dirty="0">
                <a:solidFill>
                  <a:srgbClr val="0070C0"/>
                </a:solidFill>
              </a:rPr>
              <a:t> &lt;- </a:t>
            </a:r>
            <a:r>
              <a:rPr lang="en-US" sz="1600" dirty="0" err="1">
                <a:solidFill>
                  <a:srgbClr val="0070C0"/>
                </a:solidFill>
              </a:rPr>
              <a:t>model_data</a:t>
            </a:r>
            <a:r>
              <a:rPr lang="en-US" sz="1600" dirty="0">
                <a:solidFill>
                  <a:srgbClr val="0070C0"/>
                </a:solidFill>
              </a:rPr>
              <a:t>[-</a:t>
            </a:r>
            <a:r>
              <a:rPr lang="en-US" sz="1600" dirty="0" err="1">
                <a:solidFill>
                  <a:srgbClr val="0070C0"/>
                </a:solidFill>
              </a:rPr>
              <a:t>train_rows</a:t>
            </a:r>
            <a:r>
              <a:rPr lang="en-US" sz="1600" dirty="0">
                <a:solidFill>
                  <a:srgbClr val="0070C0"/>
                </a:solidFill>
              </a:rPr>
              <a:t>, ]</a:t>
            </a:r>
          </a:p>
        </p:txBody>
      </p:sp>
    </p:spTree>
    <p:extLst>
      <p:ext uri="{BB962C8B-B14F-4D97-AF65-F5344CB8AC3E}">
        <p14:creationId xmlns:p14="http://schemas.microsoft.com/office/powerpoint/2010/main" val="174793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0D55-DDF1-0EE6-06CC-03031243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0414-EBC8-8CE3-5BCB-5704BA071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GLM/GAM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FB967-B65A-0AF9-D755-6E9272B62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  <a:defRPr sz="1330">
                <a:solidFill>
                  <a:srgbClr val="4B785D"/>
                </a:solidFill>
                <a:latin typeface="Consolas"/>
              </a:defRPr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Same observations and predictors but different model structures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&gt; </a:t>
            </a:r>
            <a:r>
              <a:rPr lang="en-US" sz="1600" dirty="0" err="1">
                <a:solidFill>
                  <a:srgbClr val="0070C0"/>
                </a:solidFill>
              </a:rPr>
              <a:t>model_glm</a:t>
            </a:r>
            <a:r>
              <a:rPr lang="en-US" sz="1600" dirty="0">
                <a:solidFill>
                  <a:srgbClr val="0070C0"/>
                </a:solidFill>
              </a:rPr>
              <a:t> &lt;- </a:t>
            </a:r>
            <a:r>
              <a:rPr lang="en-US" sz="1600" dirty="0" err="1">
                <a:solidFill>
                  <a:srgbClr val="0070C0"/>
                </a:solidFill>
              </a:rPr>
              <a:t>glm</a:t>
            </a:r>
            <a:r>
              <a:rPr lang="en-US" sz="1600" dirty="0">
                <a:solidFill>
                  <a:srgbClr val="0070C0"/>
                </a:solidFill>
              </a:rPr>
              <a:t>(presence ~ bio1_c + bio12_mm,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                data = </a:t>
            </a:r>
            <a:r>
              <a:rPr lang="en-US" sz="1600" dirty="0" err="1">
                <a:solidFill>
                  <a:srgbClr val="0070C0"/>
                </a:solidFill>
              </a:rPr>
              <a:t>training_data</a:t>
            </a:r>
            <a:r>
              <a:rPr lang="en-US" sz="1600" dirty="0">
                <a:solidFill>
                  <a:srgbClr val="0070C0"/>
                </a:solidFill>
              </a:rPr>
              <a:t>, family = binomial())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&gt; </a:t>
            </a:r>
            <a:r>
              <a:rPr lang="en-US" sz="1600" dirty="0" err="1">
                <a:solidFill>
                  <a:srgbClr val="0070C0"/>
                </a:solidFill>
              </a:rPr>
              <a:t>model_gam</a:t>
            </a:r>
            <a:r>
              <a:rPr lang="en-US" sz="1600" dirty="0">
                <a:solidFill>
                  <a:srgbClr val="0070C0"/>
                </a:solidFill>
              </a:rPr>
              <a:t> &lt;- </a:t>
            </a:r>
            <a:r>
              <a:rPr lang="en-US" sz="1600" dirty="0" err="1">
                <a:solidFill>
                  <a:srgbClr val="0070C0"/>
                </a:solidFill>
              </a:rPr>
              <a:t>mgcv</a:t>
            </a:r>
            <a:r>
              <a:rPr lang="en-US" sz="1600" dirty="0">
                <a:solidFill>
                  <a:srgbClr val="0070C0"/>
                </a:solidFill>
              </a:rPr>
              <a:t>::gam(presence ~ s(bio1_c, k=4) + s(bio12_mm, k=4),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                data = </a:t>
            </a:r>
            <a:r>
              <a:rPr lang="en-US" sz="1600" dirty="0" err="1">
                <a:solidFill>
                  <a:srgbClr val="0070C0"/>
                </a:solidFill>
              </a:rPr>
              <a:t>training_data</a:t>
            </a:r>
            <a:r>
              <a:rPr lang="en-US" sz="1600" dirty="0">
                <a:solidFill>
                  <a:srgbClr val="0070C0"/>
                </a:solidFill>
              </a:rPr>
              <a:t>, family = binomial())</a:t>
            </a:r>
          </a:p>
        </p:txBody>
      </p:sp>
    </p:spTree>
    <p:extLst>
      <p:ext uri="{BB962C8B-B14F-4D97-AF65-F5344CB8AC3E}">
        <p14:creationId xmlns:p14="http://schemas.microsoft.com/office/powerpoint/2010/main" val="160761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0652-AF2A-C882-77E2-C39313AC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predictions from testing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87A7C-0931-0365-C760-BE0345AD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  <a:defRPr sz="1330">
                <a:solidFill>
                  <a:srgbClr val="4B785D"/>
                </a:solidFill>
                <a:latin typeface="Consolas"/>
              </a:defRPr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Predict on records not used in model fitting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&gt; </a:t>
            </a:r>
            <a:r>
              <a:rPr lang="en-US" sz="1600" dirty="0" err="1">
                <a:solidFill>
                  <a:srgbClr val="0070C0"/>
                </a:solidFill>
              </a:rPr>
              <a:t>test_data$glm_score</a:t>
            </a:r>
            <a:r>
              <a:rPr lang="en-US" sz="1600" dirty="0">
                <a:solidFill>
                  <a:srgbClr val="0070C0"/>
                </a:solidFill>
              </a:rPr>
              <a:t> &lt;- predict(</a:t>
            </a:r>
            <a:r>
              <a:rPr lang="en-US" sz="1600" dirty="0" err="1">
                <a:solidFill>
                  <a:srgbClr val="0070C0"/>
                </a:solidFill>
              </a:rPr>
              <a:t>model_glm</a:t>
            </a:r>
            <a:r>
              <a:rPr lang="en-US" sz="1600" dirty="0">
                <a:solidFill>
                  <a:srgbClr val="0070C0"/>
                </a:solidFill>
              </a:rPr>
              <a:t>, </a:t>
            </a:r>
            <a:r>
              <a:rPr lang="en-US" sz="1600" dirty="0" err="1">
                <a:solidFill>
                  <a:srgbClr val="0070C0"/>
                </a:solidFill>
              </a:rPr>
              <a:t>newdata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dirty="0" err="1">
                <a:solidFill>
                  <a:srgbClr val="0070C0"/>
                </a:solidFill>
              </a:rPr>
              <a:t>test_data</a:t>
            </a:r>
            <a:r>
              <a:rPr lang="en-US" sz="1600" dirty="0">
                <a:solidFill>
                  <a:srgbClr val="0070C0"/>
                </a:solidFill>
              </a:rPr>
              <a:t>, 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										type = "response")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&gt; </a:t>
            </a:r>
            <a:r>
              <a:rPr lang="en-US" sz="1600" dirty="0" err="1">
                <a:solidFill>
                  <a:srgbClr val="0070C0"/>
                </a:solidFill>
              </a:rPr>
              <a:t>test_data$gam_score</a:t>
            </a:r>
            <a:r>
              <a:rPr lang="en-US" sz="1600" dirty="0">
                <a:solidFill>
                  <a:srgbClr val="0070C0"/>
                </a:solidFill>
              </a:rPr>
              <a:t> &lt;- predict(</a:t>
            </a:r>
            <a:r>
              <a:rPr lang="en-US" sz="1600" dirty="0" err="1">
                <a:solidFill>
                  <a:srgbClr val="0070C0"/>
                </a:solidFill>
              </a:rPr>
              <a:t>model_gam</a:t>
            </a:r>
            <a:r>
              <a:rPr lang="en-US" sz="1600" dirty="0">
                <a:solidFill>
                  <a:srgbClr val="0070C0"/>
                </a:solidFill>
              </a:rPr>
              <a:t>, </a:t>
            </a:r>
            <a:r>
              <a:rPr lang="en-US" sz="1600" dirty="0" err="1">
                <a:solidFill>
                  <a:srgbClr val="0070C0"/>
                </a:solidFill>
              </a:rPr>
              <a:t>newdata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dirty="0" err="1">
                <a:solidFill>
                  <a:srgbClr val="0070C0"/>
                </a:solidFill>
              </a:rPr>
              <a:t>test_data</a:t>
            </a:r>
            <a:r>
              <a:rPr lang="en-US" sz="1600" dirty="0">
                <a:solidFill>
                  <a:srgbClr val="0070C0"/>
                </a:solidFill>
              </a:rPr>
              <a:t>, 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										type = "response")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4B785D"/>
                </a:solidFill>
                <a:latin typeface="Consolas"/>
              </a:defRPr>
            </a:pPr>
            <a:endParaRPr 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51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0765-DFC9-AAE9-6A7B-1A24AFF25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4B29-E750-6EF2-6930-504102C5D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Examine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3A9A7-DAE0-2D6C-0236-DF28BC60A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292"/>
            <a:ext cx="5426626" cy="326533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  <a:defRPr sz="1330">
                <a:solidFill>
                  <a:srgbClr val="4B785D"/>
                </a:solidFill>
                <a:latin typeface="Consolas"/>
              </a:defRPr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Do higher model scores tend to occur at known presences?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&gt; boxplot(</a:t>
            </a:r>
            <a:r>
              <a:rPr lang="en-US" sz="1600" dirty="0" err="1">
                <a:solidFill>
                  <a:srgbClr val="0070C0"/>
                </a:solidFill>
              </a:rPr>
              <a:t>glm_score</a:t>
            </a:r>
            <a:r>
              <a:rPr lang="en-US" sz="1600" dirty="0">
                <a:solidFill>
                  <a:srgbClr val="0070C0"/>
                </a:solidFill>
              </a:rPr>
              <a:t> ~ presence, data = 	</a:t>
            </a:r>
            <a:r>
              <a:rPr lang="en-US" sz="1600" dirty="0" err="1">
                <a:solidFill>
                  <a:srgbClr val="0070C0"/>
                </a:solidFill>
              </a:rPr>
              <a:t>test_data</a:t>
            </a:r>
            <a:r>
              <a:rPr lang="en-US" sz="1600" dirty="0">
                <a:solidFill>
                  <a:srgbClr val="0070C0"/>
                </a:solidFill>
              </a:rPr>
              <a:t>, </a:t>
            </a:r>
            <a:r>
              <a:rPr lang="en-US" sz="1600" dirty="0" err="1">
                <a:solidFill>
                  <a:srgbClr val="0070C0"/>
                </a:solidFill>
              </a:rPr>
              <a:t>xlab</a:t>
            </a:r>
            <a:r>
              <a:rPr lang="en-US" sz="1600" dirty="0">
                <a:solidFill>
                  <a:srgbClr val="0070C0"/>
                </a:solidFill>
              </a:rPr>
              <a:t> = "0 = background; 1 = 	presence", main = "GLM")</a:t>
            </a: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  <a:defRPr sz="133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solidFill>
                  <a:srgbClr val="0070C0"/>
                </a:solidFill>
              </a:rPr>
              <a:t>&gt; boxplot(</a:t>
            </a:r>
            <a:r>
              <a:rPr lang="en-US" sz="1600" dirty="0" err="1">
                <a:solidFill>
                  <a:srgbClr val="0070C0"/>
                </a:solidFill>
              </a:rPr>
              <a:t>gam_score</a:t>
            </a:r>
            <a:r>
              <a:rPr lang="en-US" sz="1600" dirty="0">
                <a:solidFill>
                  <a:srgbClr val="0070C0"/>
                </a:solidFill>
              </a:rPr>
              <a:t> ~ presence, data = 	</a:t>
            </a:r>
            <a:r>
              <a:rPr lang="en-US" sz="1600" dirty="0" err="1">
                <a:solidFill>
                  <a:srgbClr val="0070C0"/>
                </a:solidFill>
              </a:rPr>
              <a:t>test_data</a:t>
            </a:r>
            <a:r>
              <a:rPr lang="en-US" sz="1600" dirty="0">
                <a:solidFill>
                  <a:srgbClr val="0070C0"/>
                </a:solidFill>
              </a:rPr>
              <a:t>, </a:t>
            </a:r>
            <a:r>
              <a:rPr lang="en-US" sz="1600" dirty="0" err="1">
                <a:solidFill>
                  <a:srgbClr val="0070C0"/>
                </a:solidFill>
              </a:rPr>
              <a:t>xlab</a:t>
            </a:r>
            <a:r>
              <a:rPr lang="en-US" sz="1600" dirty="0">
                <a:solidFill>
                  <a:srgbClr val="0070C0"/>
                </a:solidFill>
              </a:rPr>
              <a:t> = "0 = background; 1 = 	presence", main = "GAM")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D80D22-07EA-7BFD-7898-590F67E9A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1" y="548877"/>
            <a:ext cx="2975072" cy="23349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ACE8FB-359F-E577-39CD-77E3CC39B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419" y="2580534"/>
            <a:ext cx="2664177" cy="20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0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F724-BF88-B669-29FB-91873291F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2968" y="2026521"/>
            <a:ext cx="2578608" cy="857250"/>
          </a:xfrm>
        </p:spPr>
        <p:txBody>
          <a:bodyPr/>
          <a:lstStyle/>
          <a:p>
            <a:r>
              <a:rPr lang="en-US" dirty="0"/>
              <a:t>Lab 06 workshop</a:t>
            </a:r>
          </a:p>
        </p:txBody>
      </p:sp>
    </p:spTree>
    <p:extLst>
      <p:ext uri="{BB962C8B-B14F-4D97-AF65-F5344CB8AC3E}">
        <p14:creationId xmlns:p14="http://schemas.microsoft.com/office/powerpoint/2010/main" val="2610765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25261</TotalTime>
  <Words>1122</Words>
  <Application>Microsoft Macintosh PowerPoint</Application>
  <PresentationFormat>On-screen Show (16:9)</PresentationFormat>
  <Paragraphs>137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Helvetica</vt:lpstr>
      <vt:lpstr>Office Theme</vt:lpstr>
      <vt:lpstr>Week 10. Comparing Models</vt:lpstr>
      <vt:lpstr>Welcome, hello, any announcements?</vt:lpstr>
      <vt:lpstr>Upcoming Project Milestones</vt:lpstr>
      <vt:lpstr>Class Plan</vt:lpstr>
      <vt:lpstr>PowerPoint Presentation</vt:lpstr>
      <vt:lpstr>How do we know whether a model is useful?</vt:lpstr>
      <vt:lpstr>Two types of prediction error</vt:lpstr>
      <vt:lpstr>Calibration versus evaluation data</vt:lpstr>
      <vt:lpstr>PowerPoint Presentation</vt:lpstr>
      <vt:lpstr>Use the confusion matrix to calculate metrics</vt:lpstr>
      <vt:lpstr>Loss functions</vt:lpstr>
      <vt:lpstr>Loss function choice depends on what you are trying to predict</vt:lpstr>
      <vt:lpstr>What aspect of model performance are we measuring?</vt:lpstr>
      <vt:lpstr>ROC curves</vt:lpstr>
      <vt:lpstr>AUC</vt:lpstr>
      <vt:lpstr>Evaluating our first models</vt:lpstr>
      <vt:lpstr>Training Data</vt:lpstr>
      <vt:lpstr>Fitting GLM/GAM models</vt:lpstr>
      <vt:lpstr>Calculate predictions from testing data</vt:lpstr>
      <vt:lpstr>Examine predictions</vt:lpstr>
      <vt:lpstr>Lab 06 workshop</vt:lpstr>
    </vt:vector>
  </TitlesOfParts>
  <Company>TAMU - Spatial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Projections</dc:title>
  <dc:creator>Michelle Lawing</dc:creator>
  <cp:lastModifiedBy>Michelle Lawing</cp:lastModifiedBy>
  <cp:revision>1115</cp:revision>
  <dcterms:created xsi:type="dcterms:W3CDTF">2014-08-30T17:37:24Z</dcterms:created>
  <dcterms:modified xsi:type="dcterms:W3CDTF">2026-10-27T19:35:12Z</dcterms:modified>
</cp:coreProperties>
</file>