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handoutMasterIdLst>
    <p:handoutMasterId r:id="rId31"/>
  </p:handoutMasterIdLst>
  <p:sldIdLst>
    <p:sldId id="256" r:id="rId2"/>
    <p:sldId id="515" r:id="rId3"/>
    <p:sldId id="540" r:id="rId4"/>
    <p:sldId id="514" r:id="rId5"/>
    <p:sldId id="595" r:id="rId6"/>
    <p:sldId id="617" r:id="rId7"/>
    <p:sldId id="614" r:id="rId8"/>
    <p:sldId id="616" r:id="rId9"/>
    <p:sldId id="594" r:id="rId10"/>
    <p:sldId id="618" r:id="rId11"/>
    <p:sldId id="603" r:id="rId12"/>
    <p:sldId id="611" r:id="rId13"/>
    <p:sldId id="612" r:id="rId14"/>
    <p:sldId id="613" r:id="rId15"/>
    <p:sldId id="621" r:id="rId16"/>
    <p:sldId id="619" r:id="rId17"/>
    <p:sldId id="620" r:id="rId18"/>
    <p:sldId id="607" r:id="rId19"/>
    <p:sldId id="606" r:id="rId20"/>
    <p:sldId id="605" r:id="rId21"/>
    <p:sldId id="599" r:id="rId22"/>
    <p:sldId id="624" r:id="rId23"/>
    <p:sldId id="622" r:id="rId24"/>
    <p:sldId id="623" r:id="rId25"/>
    <p:sldId id="625" r:id="rId26"/>
    <p:sldId id="628" r:id="rId27"/>
    <p:sldId id="626" r:id="rId28"/>
    <p:sldId id="627" r:id="rId29"/>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A6E93F3-11AD-C848-9581-61FF99ABE858}">
          <p14:sldIdLst>
            <p14:sldId id="256"/>
            <p14:sldId id="515"/>
            <p14:sldId id="540"/>
            <p14:sldId id="514"/>
            <p14:sldId id="595"/>
            <p14:sldId id="617"/>
            <p14:sldId id="614"/>
            <p14:sldId id="616"/>
            <p14:sldId id="594"/>
            <p14:sldId id="618"/>
            <p14:sldId id="603"/>
            <p14:sldId id="611"/>
            <p14:sldId id="612"/>
            <p14:sldId id="613"/>
            <p14:sldId id="621"/>
            <p14:sldId id="619"/>
            <p14:sldId id="620"/>
            <p14:sldId id="607"/>
            <p14:sldId id="606"/>
            <p14:sldId id="605"/>
            <p14:sldId id="599"/>
            <p14:sldId id="624"/>
            <p14:sldId id="622"/>
            <p14:sldId id="623"/>
            <p14:sldId id="625"/>
            <p14:sldId id="628"/>
            <p14:sldId id="626"/>
            <p14:sldId id="627"/>
          </p14:sldIdLst>
        </p14:section>
      </p14:sectionLst>
    </p:ex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nna Lawing"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3178"/>
    <p:restoredTop sz="94610"/>
  </p:normalViewPr>
  <p:slideViewPr>
    <p:cSldViewPr snapToGrid="0" snapToObjects="1">
      <p:cViewPr varScale="1">
        <p:scale>
          <a:sx n="138" d="100"/>
          <a:sy n="138" d="100"/>
        </p:scale>
        <p:origin x="432" y="114"/>
      </p:cViewPr>
      <p:guideLst>
        <p:guide orient="horz" pos="1620"/>
        <p:guide pos="2880"/>
      </p:guideLst>
    </p:cSldViewPr>
  </p:slideViewPr>
  <p:notesTextViewPr>
    <p:cViewPr>
      <p:scale>
        <a:sx n="100" d="100"/>
        <a:sy n="100" d="100"/>
      </p:scale>
      <p:origin x="0" y="0"/>
    </p:cViewPr>
  </p:notesTextViewPr>
  <p:notesViewPr>
    <p:cSldViewPr snapToGrid="0" snapToObjects="1">
      <p:cViewPr varScale="1">
        <p:scale>
          <a:sx n="85" d="100"/>
          <a:sy n="85" d="100"/>
        </p:scale>
        <p:origin x="3928" y="1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D2D4AE1-BD9C-1741-B132-ACC4FD870A3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C52F900-87CF-6E4F-9FCE-F0A8E37B2F2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D8404FB-D815-9B49-9DBC-B684E3C0E790}" type="datetimeFigureOut">
              <a:rPr lang="en-US" smtClean="0"/>
              <a:t>9/29/2026</a:t>
            </a:fld>
            <a:endParaRPr lang="en-US"/>
          </a:p>
        </p:txBody>
      </p:sp>
      <p:sp>
        <p:nvSpPr>
          <p:cNvPr id="4" name="Footer Placeholder 3">
            <a:extLst>
              <a:ext uri="{FF2B5EF4-FFF2-40B4-BE49-F238E27FC236}">
                <a16:creationId xmlns:a16="http://schemas.microsoft.com/office/drawing/2014/main" id="{749167D0-463A-4043-821F-310E6E04806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51556C2-9555-094A-9761-17FDE74E664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395A322-2EE7-5046-A0D8-D3FF3645CA32}" type="slidenum">
              <a:rPr lang="en-US" smtClean="0"/>
              <a:t>‹#›</a:t>
            </a:fld>
            <a:endParaRPr lang="en-US"/>
          </a:p>
        </p:txBody>
      </p:sp>
    </p:spTree>
    <p:extLst>
      <p:ext uri="{BB962C8B-B14F-4D97-AF65-F5344CB8AC3E}">
        <p14:creationId xmlns:p14="http://schemas.microsoft.com/office/powerpoint/2010/main" val="36596563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AC5A93-540D-2443-A380-5679C155FF14}" type="datetimeFigureOut">
              <a:rPr lang="en-US" smtClean="0"/>
              <a:t>9/29/2026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00A90D5-3B1D-1149-800E-15EBB2932B0B}" type="slidenum">
              <a:rPr lang="en-US" smtClean="0"/>
              <a:t>‹#›</a:t>
            </a:fld>
            <a:endParaRPr lang="en-US"/>
          </a:p>
        </p:txBody>
      </p:sp>
    </p:spTree>
    <p:extLst>
      <p:ext uri="{BB962C8B-B14F-4D97-AF65-F5344CB8AC3E}">
        <p14:creationId xmlns:p14="http://schemas.microsoft.com/office/powerpoint/2010/main" val="1785365711"/>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6" name="Slide Number Placeholder 5"/>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3440793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9/29/2026</a:t>
            </a:fld>
            <a:endParaRPr lang="en-US"/>
          </a:p>
        </p:txBody>
      </p:sp>
      <p:sp>
        <p:nvSpPr>
          <p:cNvPr id="5" name="Footer Placeholder 4"/>
          <p:cNvSpPr>
            <a:spLocks noGrp="1"/>
          </p:cNvSpPr>
          <p:nvPr>
            <p:ph type="ftr" sz="quarter" idx="11"/>
          </p:nvPr>
        </p:nvSpPr>
        <p:spPr>
          <a:xfrm>
            <a:off x="87432" y="69057"/>
            <a:ext cx="3417621"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1060699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9/29/2026</a:t>
            </a:fld>
            <a:endParaRPr lang="en-US"/>
          </a:p>
        </p:txBody>
      </p:sp>
      <p:sp>
        <p:nvSpPr>
          <p:cNvPr id="5" name="Footer Placeholder 4"/>
          <p:cNvSpPr>
            <a:spLocks noGrp="1"/>
          </p:cNvSpPr>
          <p:nvPr>
            <p:ph type="ftr" sz="quarter" idx="11"/>
          </p:nvPr>
        </p:nvSpPr>
        <p:spPr>
          <a:xfrm>
            <a:off x="87432" y="69057"/>
            <a:ext cx="3417621"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4120590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9/29/2026</a:t>
            </a:fld>
            <a:endParaRPr lang="en-US"/>
          </a:p>
        </p:txBody>
      </p:sp>
      <p:sp>
        <p:nvSpPr>
          <p:cNvPr id="6" name="Footer Placeholder 5"/>
          <p:cNvSpPr>
            <a:spLocks noGrp="1"/>
          </p:cNvSpPr>
          <p:nvPr>
            <p:ph type="ftr" sz="quarter" idx="11"/>
          </p:nvPr>
        </p:nvSpPr>
        <p:spPr>
          <a:xfrm>
            <a:off x="87432" y="69057"/>
            <a:ext cx="3417621" cy="273844"/>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3499436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9/29/2026</a:t>
            </a:fld>
            <a:endParaRPr lang="en-US"/>
          </a:p>
        </p:txBody>
      </p:sp>
      <p:sp>
        <p:nvSpPr>
          <p:cNvPr id="8" name="Footer Placeholder 7"/>
          <p:cNvSpPr>
            <a:spLocks noGrp="1"/>
          </p:cNvSpPr>
          <p:nvPr>
            <p:ph type="ftr" sz="quarter" idx="11"/>
          </p:nvPr>
        </p:nvSpPr>
        <p:spPr>
          <a:xfrm>
            <a:off x="87432" y="69057"/>
            <a:ext cx="3417621" cy="273844"/>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1391905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9/29/2026</a:t>
            </a:fld>
            <a:endParaRPr lang="en-US"/>
          </a:p>
        </p:txBody>
      </p:sp>
      <p:sp>
        <p:nvSpPr>
          <p:cNvPr id="4" name="Footer Placeholder 3"/>
          <p:cNvSpPr>
            <a:spLocks noGrp="1"/>
          </p:cNvSpPr>
          <p:nvPr>
            <p:ph type="ftr" sz="quarter" idx="11"/>
          </p:nvPr>
        </p:nvSpPr>
        <p:spPr>
          <a:xfrm>
            <a:off x="87432" y="69057"/>
            <a:ext cx="3417621" cy="273844"/>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33392365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9/29/2026</a:t>
            </a:fld>
            <a:endParaRPr lang="en-US"/>
          </a:p>
        </p:txBody>
      </p:sp>
      <p:sp>
        <p:nvSpPr>
          <p:cNvPr id="3" name="Footer Placeholder 2"/>
          <p:cNvSpPr>
            <a:spLocks noGrp="1"/>
          </p:cNvSpPr>
          <p:nvPr>
            <p:ph type="ftr" sz="quarter" idx="11"/>
          </p:nvPr>
        </p:nvSpPr>
        <p:spPr>
          <a:xfrm>
            <a:off x="87432" y="69057"/>
            <a:ext cx="3417621" cy="273844"/>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2294834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9/29/2026</a:t>
            </a:fld>
            <a:endParaRPr lang="en-US"/>
          </a:p>
        </p:txBody>
      </p:sp>
      <p:sp>
        <p:nvSpPr>
          <p:cNvPr id="6" name="Footer Placeholder 5"/>
          <p:cNvSpPr>
            <a:spLocks noGrp="1"/>
          </p:cNvSpPr>
          <p:nvPr>
            <p:ph type="ftr" sz="quarter" idx="11"/>
          </p:nvPr>
        </p:nvSpPr>
        <p:spPr>
          <a:xfrm>
            <a:off x="87432" y="69057"/>
            <a:ext cx="3417621" cy="273844"/>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1139741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9/29/2026</a:t>
            </a:fld>
            <a:endParaRPr lang="en-US"/>
          </a:p>
        </p:txBody>
      </p:sp>
      <p:sp>
        <p:nvSpPr>
          <p:cNvPr id="6" name="Footer Placeholder 5"/>
          <p:cNvSpPr>
            <a:spLocks noGrp="1"/>
          </p:cNvSpPr>
          <p:nvPr>
            <p:ph type="ftr" sz="quarter" idx="11"/>
          </p:nvPr>
        </p:nvSpPr>
        <p:spPr>
          <a:xfrm>
            <a:off x="87432" y="69057"/>
            <a:ext cx="3417621" cy="273844"/>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2516507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9/29/2026</a:t>
            </a:fld>
            <a:endParaRPr lang="en-US"/>
          </a:p>
        </p:txBody>
      </p:sp>
      <p:sp>
        <p:nvSpPr>
          <p:cNvPr id="5" name="Footer Placeholder 4"/>
          <p:cNvSpPr>
            <a:spLocks noGrp="1"/>
          </p:cNvSpPr>
          <p:nvPr>
            <p:ph type="ftr" sz="quarter" idx="11"/>
          </p:nvPr>
        </p:nvSpPr>
        <p:spPr>
          <a:xfrm>
            <a:off x="87432" y="69057"/>
            <a:ext cx="3417621"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4159324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6824133" cy="273844"/>
          </a:xfrm>
          <a:prstGeom prst="rect">
            <a:avLst/>
          </a:prstGeom>
        </p:spPr>
        <p:txBody>
          <a:bodyPr/>
          <a:lstStyle/>
          <a:p>
            <a:fld id="{D19067CA-FF63-4940-92DF-E3096929B04A}" type="datetimeFigureOut">
              <a:rPr lang="en-US" smtClean="0"/>
              <a:t>9/29/2026</a:t>
            </a:fld>
            <a:endParaRPr lang="en-US"/>
          </a:p>
        </p:txBody>
      </p:sp>
      <p:sp>
        <p:nvSpPr>
          <p:cNvPr id="5" name="Footer Placeholder 4"/>
          <p:cNvSpPr>
            <a:spLocks noGrp="1"/>
          </p:cNvSpPr>
          <p:nvPr>
            <p:ph type="ftr" sz="quarter" idx="11"/>
          </p:nvPr>
        </p:nvSpPr>
        <p:spPr>
          <a:xfrm>
            <a:off x="87432" y="69057"/>
            <a:ext cx="3417621"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2EE7B1D5-5050-0D43-BD0C-41769CA1EAB2}" type="slidenum">
              <a:rPr lang="en-US" smtClean="0"/>
              <a:t>‹#›</a:t>
            </a:fld>
            <a:endParaRPr lang="en-US"/>
          </a:p>
        </p:txBody>
      </p:sp>
    </p:spTree>
    <p:extLst>
      <p:ext uri="{BB962C8B-B14F-4D97-AF65-F5344CB8AC3E}">
        <p14:creationId xmlns:p14="http://schemas.microsoft.com/office/powerpoint/2010/main" val="1528596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72041"/>
            <a:ext cx="8229600"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329292"/>
            <a:ext cx="8229600" cy="326533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2EE7B1D5-5050-0D43-BD0C-41769CA1EAB2}" type="slidenum">
              <a:rPr lang="en-US" smtClean="0"/>
              <a:t>‹#›</a:t>
            </a:fld>
            <a:endParaRPr lang="en-US"/>
          </a:p>
        </p:txBody>
      </p:sp>
      <p:sp>
        <p:nvSpPr>
          <p:cNvPr id="7" name="Footer Placeholder 4"/>
          <p:cNvSpPr txBox="1">
            <a:spLocks/>
          </p:cNvSpPr>
          <p:nvPr userDrawn="1"/>
        </p:nvSpPr>
        <p:spPr>
          <a:xfrm>
            <a:off x="6768856" y="69057"/>
            <a:ext cx="2368925" cy="273844"/>
          </a:xfrm>
          <a:prstGeom prst="rect">
            <a:avLst/>
          </a:prstGeom>
        </p:spPr>
        <p:txBody>
          <a:bodyPr vert="horz" lIns="68580" tIns="34290" rIns="68580" bIns="34290" rtlCol="0" anchor="ctr"/>
          <a:lstStyle>
            <a:defPPr>
              <a:defRPr lang="en-US"/>
            </a:defPPr>
            <a:lvl1pPr marL="0" algn="l" defTabSz="457200" rtl="0" eaLnBrk="1" latinLnBrk="0" hangingPunct="1">
              <a:defRPr sz="1000" kern="1200">
                <a:solidFill>
                  <a:schemeClr val="tx1">
                    <a:tint val="75000"/>
                  </a:schemeClr>
                </a:solidFill>
                <a:latin typeface="Calibri"/>
                <a:ea typeface="+mn-ea"/>
                <a:cs typeface="Calibri"/>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100" dirty="0">
                <a:solidFill>
                  <a:schemeClr val="bg1">
                    <a:lumMod val="50000"/>
                  </a:schemeClr>
                </a:solidFill>
              </a:rPr>
              <a:t>ECCB</a:t>
            </a:r>
            <a:r>
              <a:rPr lang="en-US" sz="1100" baseline="0" dirty="0">
                <a:solidFill>
                  <a:schemeClr val="bg1">
                    <a:lumMod val="50000"/>
                  </a:schemeClr>
                </a:solidFill>
              </a:rPr>
              <a:t> 689 Modeling Ecological Niches</a:t>
            </a:r>
          </a:p>
          <a:p>
            <a:r>
              <a:rPr lang="en-US" sz="1100" baseline="0" dirty="0">
                <a:solidFill>
                  <a:schemeClr val="bg1">
                    <a:lumMod val="50000"/>
                  </a:schemeClr>
                </a:solidFill>
              </a:rPr>
              <a:t>and Species’ Geographic Distributions</a:t>
            </a:r>
            <a:endParaRPr lang="en-US" sz="1100" dirty="0">
              <a:solidFill>
                <a:schemeClr val="bg1">
                  <a:lumMod val="50000"/>
                </a:schemeClr>
              </a:solidFill>
            </a:endParaRPr>
          </a:p>
        </p:txBody>
      </p:sp>
      <p:sp>
        <p:nvSpPr>
          <p:cNvPr id="9" name="Footer Placeholder 4"/>
          <p:cNvSpPr txBox="1">
            <a:spLocks/>
          </p:cNvSpPr>
          <p:nvPr userDrawn="1"/>
        </p:nvSpPr>
        <p:spPr>
          <a:xfrm>
            <a:off x="94237" y="69057"/>
            <a:ext cx="3735891" cy="273844"/>
          </a:xfrm>
          <a:prstGeom prst="rect">
            <a:avLst/>
          </a:prstGeom>
        </p:spPr>
        <p:txBody>
          <a:bodyPr vert="horz" lIns="68580" tIns="34290" rIns="68580" bIns="34290" rtlCol="0" anchor="ctr"/>
          <a:lstStyle>
            <a:defPPr>
              <a:defRPr lang="en-US"/>
            </a:defPPr>
            <a:lvl1pPr marL="0" algn="l" defTabSz="457200" rtl="0" eaLnBrk="1" latinLnBrk="0" hangingPunct="1">
              <a:defRPr sz="1000" kern="1200">
                <a:solidFill>
                  <a:schemeClr val="tx1">
                    <a:tint val="75000"/>
                  </a:schemeClr>
                </a:solidFill>
                <a:latin typeface="Calibri"/>
                <a:ea typeface="+mn-ea"/>
                <a:cs typeface="Calibri"/>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100" dirty="0">
                <a:solidFill>
                  <a:schemeClr val="bg1">
                    <a:lumMod val="50000"/>
                  </a:schemeClr>
                </a:solidFill>
              </a:rPr>
              <a:t>Ecology and Conservation Biology | </a:t>
            </a:r>
            <a:r>
              <a:rPr lang="en-US" sz="1100" dirty="0">
                <a:solidFill>
                  <a:srgbClr val="800000"/>
                </a:solidFill>
              </a:rPr>
              <a:t>Texas A&amp;M University</a:t>
            </a:r>
          </a:p>
        </p:txBody>
      </p:sp>
    </p:spTree>
    <p:extLst>
      <p:ext uri="{BB962C8B-B14F-4D97-AF65-F5344CB8AC3E}">
        <p14:creationId xmlns:p14="http://schemas.microsoft.com/office/powerpoint/2010/main" val="19077384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rtl="0" eaLnBrk="1" latinLnBrk="0" hangingPunct="1">
        <a:spcBef>
          <a:spcPct val="0"/>
        </a:spcBef>
        <a:buNone/>
        <a:defRPr sz="2700" kern="1200">
          <a:solidFill>
            <a:srgbClr val="800000"/>
          </a:solidFill>
          <a:latin typeface="+mj-lt"/>
          <a:ea typeface="+mj-ea"/>
          <a:cs typeface="+mj-cs"/>
        </a:defRPr>
      </a:lvl1pPr>
    </p:titleStyle>
    <p:bodyStyle>
      <a:lvl1pPr marL="257175" indent="-257175" algn="l" defTabSz="342900" rtl="0" eaLnBrk="1" latinLnBrk="0" hangingPunct="1">
        <a:spcBef>
          <a:spcPct val="20000"/>
        </a:spcBef>
        <a:buFont typeface="Arial"/>
        <a:buChar char="•"/>
        <a:defRPr sz="21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18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5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35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35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4589" y="1469231"/>
            <a:ext cx="7158247" cy="1102519"/>
          </a:xfrm>
        </p:spPr>
        <p:txBody>
          <a:bodyPr>
            <a:normAutofit/>
          </a:bodyPr>
          <a:lstStyle/>
          <a:p>
            <a:pPr algn="ctr"/>
            <a:r>
              <a:rPr lang="en-US" sz="2800" dirty="0"/>
              <a:t>Week 6. Environments</a:t>
            </a:r>
          </a:p>
        </p:txBody>
      </p:sp>
      <p:sp>
        <p:nvSpPr>
          <p:cNvPr id="3" name="Subtitle 2"/>
          <p:cNvSpPr>
            <a:spLocks noGrp="1"/>
          </p:cNvSpPr>
          <p:nvPr>
            <p:ph type="subTitle" idx="1"/>
          </p:nvPr>
        </p:nvSpPr>
        <p:spPr>
          <a:xfrm>
            <a:off x="3408812" y="2826129"/>
            <a:ext cx="2326373" cy="1001825"/>
          </a:xfrm>
        </p:spPr>
        <p:txBody>
          <a:bodyPr>
            <a:normAutofit fontScale="85000" lnSpcReduction="10000"/>
          </a:bodyPr>
          <a:lstStyle/>
          <a:p>
            <a:r>
              <a:rPr lang="en-US" sz="1600" dirty="0">
                <a:solidFill>
                  <a:srgbClr val="800000"/>
                </a:solidFill>
              </a:rPr>
              <a:t>A. Michelle Lawing, PhD</a:t>
            </a:r>
          </a:p>
          <a:p>
            <a:pPr>
              <a:spcBef>
                <a:spcPts val="0"/>
              </a:spcBef>
            </a:pPr>
            <a:r>
              <a:rPr lang="en-US" sz="1200" dirty="0">
                <a:solidFill>
                  <a:schemeClr val="tx1"/>
                </a:solidFill>
              </a:rPr>
              <a:t>Associate Professor</a:t>
            </a:r>
          </a:p>
          <a:p>
            <a:pPr>
              <a:spcBef>
                <a:spcPts val="0"/>
              </a:spcBef>
            </a:pPr>
            <a:r>
              <a:rPr lang="en-US" sz="1200" dirty="0">
                <a:solidFill>
                  <a:schemeClr val="tx1"/>
                </a:solidFill>
              </a:rPr>
              <a:t>Paleobiology, Evolution, and Climate Lab</a:t>
            </a:r>
          </a:p>
          <a:p>
            <a:pPr>
              <a:spcBef>
                <a:spcPts val="0"/>
              </a:spcBef>
            </a:pPr>
            <a:r>
              <a:rPr lang="en-US" sz="1200" dirty="0">
                <a:solidFill>
                  <a:schemeClr val="tx1"/>
                </a:solidFill>
              </a:rPr>
              <a:t>Ecology and Conservation Biology</a:t>
            </a:r>
          </a:p>
          <a:p>
            <a:pPr>
              <a:spcBef>
                <a:spcPts val="0"/>
              </a:spcBef>
            </a:pPr>
            <a:r>
              <a:rPr lang="en-US" sz="1200" dirty="0">
                <a:solidFill>
                  <a:schemeClr val="tx1"/>
                </a:solidFill>
              </a:rPr>
              <a:t>Texas A&amp;M University</a:t>
            </a:r>
          </a:p>
          <a:p>
            <a:pPr>
              <a:spcBef>
                <a:spcPts val="0"/>
              </a:spcBef>
            </a:pPr>
            <a:r>
              <a:rPr lang="en-US" sz="1200" dirty="0" err="1">
                <a:solidFill>
                  <a:schemeClr val="tx1"/>
                </a:solidFill>
              </a:rPr>
              <a:t>alawing@tamu.edu</a:t>
            </a:r>
            <a:endParaRPr lang="en-US" sz="1200" dirty="0">
              <a:solidFill>
                <a:schemeClr val="tx1"/>
              </a:solidFill>
            </a:endParaRPr>
          </a:p>
          <a:p>
            <a:endParaRPr lang="en-US" sz="1200" dirty="0"/>
          </a:p>
        </p:txBody>
      </p:sp>
    </p:spTree>
    <p:extLst>
      <p:ext uri="{BB962C8B-B14F-4D97-AF65-F5344CB8AC3E}">
        <p14:creationId xmlns:p14="http://schemas.microsoft.com/office/powerpoint/2010/main" val="3104773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90A04-CC46-81EB-10DB-8BF42B54283C}"/>
              </a:ext>
            </a:extLst>
          </p:cNvPr>
          <p:cNvSpPr>
            <a:spLocks noGrp="1"/>
          </p:cNvSpPr>
          <p:nvPr>
            <p:ph type="title"/>
          </p:nvPr>
        </p:nvSpPr>
        <p:spPr>
          <a:xfrm>
            <a:off x="1824487" y="1979975"/>
            <a:ext cx="5495026" cy="857250"/>
          </a:xfrm>
        </p:spPr>
        <p:txBody>
          <a:bodyPr>
            <a:normAutofit/>
          </a:bodyPr>
          <a:lstStyle/>
          <a:p>
            <a:r>
              <a:rPr lang="en-US" dirty="0"/>
              <a:t>Welcome, hello, any announcements?</a:t>
            </a:r>
          </a:p>
        </p:txBody>
      </p:sp>
    </p:spTree>
    <p:extLst>
      <p:ext uri="{BB962C8B-B14F-4D97-AF65-F5344CB8AC3E}">
        <p14:creationId xmlns:p14="http://schemas.microsoft.com/office/powerpoint/2010/main" val="1826526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529E7-D049-043B-4B15-5DABF32E1E99}"/>
              </a:ext>
            </a:extLst>
          </p:cNvPr>
          <p:cNvSpPr>
            <a:spLocks noGrp="1"/>
          </p:cNvSpPr>
          <p:nvPr>
            <p:ph type="title"/>
          </p:nvPr>
        </p:nvSpPr>
        <p:spPr>
          <a:xfrm>
            <a:off x="212757" y="272864"/>
            <a:ext cx="8229600" cy="857250"/>
          </a:xfrm>
        </p:spPr>
        <p:txBody>
          <a:bodyPr/>
          <a:lstStyle/>
          <a:p>
            <a:r>
              <a:rPr lang="en-US" dirty="0"/>
              <a:t>Project Milestones</a:t>
            </a:r>
          </a:p>
        </p:txBody>
      </p:sp>
      <p:graphicFrame>
        <p:nvGraphicFramePr>
          <p:cNvPr id="6" name="Content Placeholder 5">
            <a:extLst>
              <a:ext uri="{FF2B5EF4-FFF2-40B4-BE49-F238E27FC236}">
                <a16:creationId xmlns:a16="http://schemas.microsoft.com/office/drawing/2014/main" id="{ECC3541F-8F94-C67C-3731-7CA5648C4ECE}"/>
              </a:ext>
            </a:extLst>
          </p:cNvPr>
          <p:cNvGraphicFramePr>
            <a:graphicFrameLocks noGrp="1"/>
          </p:cNvGraphicFramePr>
          <p:nvPr>
            <p:ph idx="1"/>
            <p:extLst>
              <p:ext uri="{D42A27DB-BD31-4B8C-83A1-F6EECF244321}">
                <p14:modId xmlns:p14="http://schemas.microsoft.com/office/powerpoint/2010/main" val="3260133872"/>
              </p:ext>
            </p:extLst>
          </p:nvPr>
        </p:nvGraphicFramePr>
        <p:xfrm>
          <a:off x="1454356" y="1062036"/>
          <a:ext cx="5944607" cy="3503800"/>
        </p:xfrm>
        <a:graphic>
          <a:graphicData uri="http://schemas.openxmlformats.org/drawingml/2006/table">
            <a:tbl>
              <a:tblPr>
                <a:tableStyleId>{5C22544A-7EE6-4342-B048-85BDC9FD1C3A}</a:tableStyleId>
              </a:tblPr>
              <a:tblGrid>
                <a:gridCol w="3054173">
                  <a:extLst>
                    <a:ext uri="{9D8B030D-6E8A-4147-A177-3AD203B41FA5}">
                      <a16:colId xmlns:a16="http://schemas.microsoft.com/office/drawing/2014/main" val="4005966982"/>
                    </a:ext>
                  </a:extLst>
                </a:gridCol>
                <a:gridCol w="2890434">
                  <a:extLst>
                    <a:ext uri="{9D8B030D-6E8A-4147-A177-3AD203B41FA5}">
                      <a16:colId xmlns:a16="http://schemas.microsoft.com/office/drawing/2014/main" val="262250381"/>
                    </a:ext>
                  </a:extLst>
                </a:gridCol>
              </a:tblGrid>
              <a:tr h="394594">
                <a:tc>
                  <a:txBody>
                    <a:bodyPr/>
                    <a:lstStyle/>
                    <a:p>
                      <a:pPr>
                        <a:buNone/>
                      </a:pPr>
                      <a:r>
                        <a:rPr lang="en-US" sz="2000" b="1" dirty="0"/>
                        <a:t>Date</a:t>
                      </a:r>
                    </a:p>
                  </a:txBody>
                  <a:tcPr anchor="ctr"/>
                </a:tc>
                <a:tc>
                  <a:txBody>
                    <a:bodyPr/>
                    <a:lstStyle/>
                    <a:p>
                      <a:pPr>
                        <a:buNone/>
                      </a:pPr>
                      <a:r>
                        <a:rPr lang="en-US" sz="2000" b="1" dirty="0"/>
                        <a:t>Milestone</a:t>
                      </a:r>
                    </a:p>
                  </a:txBody>
                  <a:tcPr anchor="ctr"/>
                </a:tc>
                <a:extLst>
                  <a:ext uri="{0D108BD9-81ED-4DB2-BD59-A6C34878D82A}">
                    <a16:rowId xmlns:a16="http://schemas.microsoft.com/office/drawing/2014/main" val="3994071243"/>
                  </a:ext>
                </a:extLst>
              </a:tr>
              <a:tr h="563180">
                <a:tc>
                  <a:txBody>
                    <a:bodyPr/>
                    <a:lstStyle/>
                    <a:p>
                      <a:pPr>
                        <a:buNone/>
                      </a:pPr>
                      <a:r>
                        <a:rPr lang="en-US" sz="2000"/>
                        <a:t>Sept. 11</a:t>
                      </a:r>
                    </a:p>
                  </a:txBody>
                  <a:tcPr anchor="ctr">
                    <a:lnB w="76200" cap="flat" cmpd="sng" algn="ctr">
                      <a:solidFill>
                        <a:srgbClr val="C00000"/>
                      </a:solidFill>
                      <a:prstDash val="solid"/>
                      <a:round/>
                      <a:headEnd type="none" w="med" len="med"/>
                      <a:tailEnd type="none" w="med" len="med"/>
                    </a:lnB>
                  </a:tcPr>
                </a:tc>
                <a:tc>
                  <a:txBody>
                    <a:bodyPr/>
                    <a:lstStyle/>
                    <a:p>
                      <a:pPr>
                        <a:buNone/>
                      </a:pPr>
                      <a:r>
                        <a:rPr lang="en-US" sz="2000" dirty="0"/>
                        <a:t>Project topic</a:t>
                      </a:r>
                    </a:p>
                  </a:txBody>
                  <a:tcPr anchor="ctr">
                    <a:lnB w="76200" cap="flat" cmpd="sng" algn="ctr">
                      <a:solidFill>
                        <a:srgbClr val="C00000"/>
                      </a:solidFill>
                      <a:prstDash val="solid"/>
                      <a:round/>
                      <a:headEnd type="none" w="med" len="med"/>
                      <a:tailEnd type="none" w="med" len="med"/>
                    </a:lnB>
                  </a:tcPr>
                </a:tc>
                <a:extLst>
                  <a:ext uri="{0D108BD9-81ED-4DB2-BD59-A6C34878D82A}">
                    <a16:rowId xmlns:a16="http://schemas.microsoft.com/office/drawing/2014/main" val="4026119000"/>
                  </a:ext>
                </a:extLst>
              </a:tr>
              <a:tr h="332788">
                <a:tc>
                  <a:txBody>
                    <a:bodyPr/>
                    <a:lstStyle/>
                    <a:p>
                      <a:pPr>
                        <a:buNone/>
                      </a:pPr>
                      <a:r>
                        <a:rPr lang="en-US" sz="2000" dirty="0"/>
                        <a:t>Oct. 2</a:t>
                      </a:r>
                    </a:p>
                  </a:txBody>
                  <a:tcPr anchor="ctr">
                    <a:lnL w="76200" cap="flat" cmpd="sng" algn="ctr">
                      <a:solidFill>
                        <a:srgbClr val="C00000"/>
                      </a:solidFill>
                      <a:prstDash val="solid"/>
                      <a:round/>
                      <a:headEnd type="none" w="med" len="med"/>
                      <a:tailEnd type="none" w="med" len="med"/>
                    </a:lnL>
                    <a:lnR w="12700" cmpd="sng">
                      <a:noFill/>
                    </a:lnR>
                    <a:lnT w="76200" cap="flat" cmpd="sng" algn="ctr">
                      <a:solidFill>
                        <a:srgbClr val="C00000"/>
                      </a:solidFill>
                      <a:prstDash val="solid"/>
                      <a:round/>
                      <a:headEnd type="none" w="med" len="med"/>
                      <a:tailEnd type="none" w="med" len="med"/>
                    </a:lnT>
                    <a:lnB w="762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sz="2000" dirty="0"/>
                        <a:t>Data plan</a:t>
                      </a:r>
                    </a:p>
                  </a:txBody>
                  <a:tcPr anchor="ctr">
                    <a:lnL w="12700" cmpd="sng">
                      <a:noFill/>
                    </a:lnL>
                    <a:lnR w="76200" cap="flat" cmpd="sng" algn="ctr">
                      <a:solidFill>
                        <a:srgbClr val="C00000"/>
                      </a:solidFill>
                      <a:prstDash val="solid"/>
                      <a:round/>
                      <a:headEnd type="none" w="med" len="med"/>
                      <a:tailEnd type="none" w="med" len="med"/>
                    </a:lnR>
                    <a:lnT w="76200" cap="flat" cmpd="sng" algn="ctr">
                      <a:solidFill>
                        <a:srgbClr val="C00000"/>
                      </a:solidFill>
                      <a:prstDash val="solid"/>
                      <a:round/>
                      <a:headEnd type="none" w="med" len="med"/>
                      <a:tailEnd type="none" w="med" len="med"/>
                    </a:lnT>
                    <a:lnB w="76200"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59392885"/>
                  </a:ext>
                </a:extLst>
              </a:tr>
              <a:tr h="332788">
                <a:tc>
                  <a:txBody>
                    <a:bodyPr/>
                    <a:lstStyle/>
                    <a:p>
                      <a:pPr>
                        <a:buNone/>
                      </a:pPr>
                      <a:r>
                        <a:rPr lang="en-US" sz="2000" dirty="0"/>
                        <a:t>Oct. 23</a:t>
                      </a:r>
                    </a:p>
                  </a:txBody>
                  <a:tcPr anchor="ctr">
                    <a:lnT w="76200" cap="flat" cmpd="sng" algn="ctr">
                      <a:solidFill>
                        <a:srgbClr val="C00000"/>
                      </a:solidFill>
                      <a:prstDash val="solid"/>
                      <a:round/>
                      <a:headEnd type="none" w="med" len="med"/>
                      <a:tailEnd type="none" w="med" len="med"/>
                    </a:lnT>
                  </a:tcPr>
                </a:tc>
                <a:tc>
                  <a:txBody>
                    <a:bodyPr/>
                    <a:lstStyle/>
                    <a:p>
                      <a:pPr>
                        <a:buNone/>
                      </a:pPr>
                      <a:r>
                        <a:rPr lang="en-US" sz="2000"/>
                        <a:t>Modeling plan</a:t>
                      </a:r>
                    </a:p>
                  </a:txBody>
                  <a:tcPr anchor="ctr">
                    <a:lnT w="76200" cap="flat" cmpd="sng" algn="ctr">
                      <a:solidFill>
                        <a:srgbClr val="C00000"/>
                      </a:solidFill>
                      <a:prstDash val="solid"/>
                      <a:round/>
                      <a:headEnd type="none" w="med" len="med"/>
                      <a:tailEnd type="none" w="med" len="med"/>
                    </a:lnT>
                  </a:tcPr>
                </a:tc>
                <a:extLst>
                  <a:ext uri="{0D108BD9-81ED-4DB2-BD59-A6C34878D82A}">
                    <a16:rowId xmlns:a16="http://schemas.microsoft.com/office/drawing/2014/main" val="2365707035"/>
                  </a:ext>
                </a:extLst>
              </a:tr>
              <a:tr h="332788">
                <a:tc>
                  <a:txBody>
                    <a:bodyPr/>
                    <a:lstStyle/>
                    <a:p>
                      <a:pPr>
                        <a:buNone/>
                      </a:pPr>
                      <a:r>
                        <a:rPr lang="en-US" sz="2000" dirty="0"/>
                        <a:t>Nov. 6</a:t>
                      </a:r>
                    </a:p>
                  </a:txBody>
                  <a:tcPr anchor="ctr"/>
                </a:tc>
                <a:tc>
                  <a:txBody>
                    <a:bodyPr/>
                    <a:lstStyle/>
                    <a:p>
                      <a:pPr>
                        <a:buNone/>
                      </a:pPr>
                      <a:r>
                        <a:rPr lang="en-US" sz="2000" dirty="0"/>
                        <a:t>Preliminary results</a:t>
                      </a:r>
                    </a:p>
                  </a:txBody>
                  <a:tcPr anchor="ctr"/>
                </a:tc>
                <a:extLst>
                  <a:ext uri="{0D108BD9-81ED-4DB2-BD59-A6C34878D82A}">
                    <a16:rowId xmlns:a16="http://schemas.microsoft.com/office/drawing/2014/main" val="2603199924"/>
                  </a:ext>
                </a:extLst>
              </a:tr>
              <a:tr h="332788">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Dec. 1 (optional)</a:t>
                      </a:r>
                    </a:p>
                  </a:txBody>
                  <a:tcPr anchor="ctr"/>
                </a:tc>
                <a:tc>
                  <a:txBody>
                    <a:bodyPr/>
                    <a:lstStyle/>
                    <a:p>
                      <a:pPr>
                        <a:buNone/>
                      </a:pPr>
                      <a:r>
                        <a:rPr lang="en-US" sz="2000" dirty="0">
                          <a:solidFill>
                            <a:schemeClr val="tx1"/>
                          </a:solidFill>
                        </a:rPr>
                        <a:t>Full final draft due</a:t>
                      </a:r>
                    </a:p>
                  </a:txBody>
                  <a:tcPr anchor="ctr"/>
                </a:tc>
                <a:extLst>
                  <a:ext uri="{0D108BD9-81ED-4DB2-BD59-A6C34878D82A}">
                    <a16:rowId xmlns:a16="http://schemas.microsoft.com/office/drawing/2014/main" val="1177244458"/>
                  </a:ext>
                </a:extLst>
              </a:tr>
              <a:tr h="332788">
                <a:tc>
                  <a:txBody>
                    <a:bodyPr/>
                    <a:lstStyle/>
                    <a:p>
                      <a:pPr>
                        <a:buNone/>
                      </a:pPr>
                      <a:r>
                        <a:rPr lang="en-US" sz="2000" strike="noStrike" dirty="0"/>
                        <a:t>Dec. 10 1-3 pm (finals slot)</a:t>
                      </a:r>
                      <a:endParaRPr lang="en-US" sz="2000" strike="sngStrike" dirty="0"/>
                    </a:p>
                  </a:txBody>
                  <a:tcPr anchor="ctr"/>
                </a:tc>
                <a:tc>
                  <a:txBody>
                    <a:bodyPr/>
                    <a:lstStyle/>
                    <a:p>
                      <a:pPr>
                        <a:buNone/>
                      </a:pPr>
                      <a:r>
                        <a:rPr lang="en-US" sz="2000" dirty="0"/>
                        <a:t>Presentation</a:t>
                      </a:r>
                    </a:p>
                  </a:txBody>
                  <a:tcPr anchor="ctr"/>
                </a:tc>
                <a:extLst>
                  <a:ext uri="{0D108BD9-81ED-4DB2-BD59-A6C34878D82A}">
                    <a16:rowId xmlns:a16="http://schemas.microsoft.com/office/drawing/2014/main" val="2890838770"/>
                  </a:ext>
                </a:extLst>
              </a:tr>
              <a:tr h="563180">
                <a:tc>
                  <a:txBody>
                    <a:bodyPr/>
                    <a:lstStyle/>
                    <a:p>
                      <a:pPr>
                        <a:buNone/>
                      </a:pPr>
                      <a:r>
                        <a:rPr lang="en-US" sz="2000"/>
                        <a:t>Dec. 11</a:t>
                      </a:r>
                    </a:p>
                  </a:txBody>
                  <a:tcPr anchor="ctr"/>
                </a:tc>
                <a:tc>
                  <a:txBody>
                    <a:bodyPr/>
                    <a:lstStyle/>
                    <a:p>
                      <a:pPr>
                        <a:buNone/>
                      </a:pPr>
                      <a:r>
                        <a:rPr lang="en-US" sz="2000" dirty="0"/>
                        <a:t>Final paper</a:t>
                      </a:r>
                    </a:p>
                  </a:txBody>
                  <a:tcPr anchor="ctr"/>
                </a:tc>
                <a:extLst>
                  <a:ext uri="{0D108BD9-81ED-4DB2-BD59-A6C34878D82A}">
                    <a16:rowId xmlns:a16="http://schemas.microsoft.com/office/drawing/2014/main" val="1254816444"/>
                  </a:ext>
                </a:extLst>
              </a:tr>
            </a:tbl>
          </a:graphicData>
        </a:graphic>
      </p:graphicFrame>
    </p:spTree>
    <p:extLst>
      <p:ext uri="{BB962C8B-B14F-4D97-AF65-F5344CB8AC3E}">
        <p14:creationId xmlns:p14="http://schemas.microsoft.com/office/powerpoint/2010/main" val="800322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63A30-1780-5937-E856-89F2E8552B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8A0307-79AE-61F3-A7AF-66C33C0C23A3}"/>
              </a:ext>
            </a:extLst>
          </p:cNvPr>
          <p:cNvSpPr>
            <a:spLocks noGrp="1"/>
          </p:cNvSpPr>
          <p:nvPr>
            <p:ph type="title"/>
          </p:nvPr>
        </p:nvSpPr>
        <p:spPr/>
        <p:txBody>
          <a:bodyPr/>
          <a:lstStyle/>
          <a:p>
            <a:r>
              <a:rPr lang="en-US" dirty="0"/>
              <a:t>Class Plan</a:t>
            </a:r>
          </a:p>
        </p:txBody>
      </p:sp>
      <p:sp>
        <p:nvSpPr>
          <p:cNvPr id="3" name="Content Placeholder 2">
            <a:extLst>
              <a:ext uri="{FF2B5EF4-FFF2-40B4-BE49-F238E27FC236}">
                <a16:creationId xmlns:a16="http://schemas.microsoft.com/office/drawing/2014/main" id="{D737468E-DFB5-9223-01DC-321D344FD275}"/>
              </a:ext>
            </a:extLst>
          </p:cNvPr>
          <p:cNvSpPr>
            <a:spLocks noGrp="1"/>
          </p:cNvSpPr>
          <p:nvPr>
            <p:ph idx="1"/>
          </p:nvPr>
        </p:nvSpPr>
        <p:spPr/>
        <p:txBody>
          <a:bodyPr/>
          <a:lstStyle/>
          <a:p>
            <a:r>
              <a:rPr lang="en-US" dirty="0"/>
              <a:t>Finish talking about environments</a:t>
            </a:r>
          </a:p>
          <a:p>
            <a:r>
              <a:rPr lang="en-US" dirty="0"/>
              <a:t>Brief coding review</a:t>
            </a:r>
          </a:p>
          <a:p>
            <a:r>
              <a:rPr lang="en-US" dirty="0"/>
              <a:t>Lab 04 prep</a:t>
            </a:r>
          </a:p>
        </p:txBody>
      </p:sp>
    </p:spTree>
    <p:extLst>
      <p:ext uri="{BB962C8B-B14F-4D97-AF65-F5344CB8AC3E}">
        <p14:creationId xmlns:p14="http://schemas.microsoft.com/office/powerpoint/2010/main" val="1358706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9ED9E-68AE-C498-9ED5-282140BA54F3}"/>
              </a:ext>
            </a:extLst>
          </p:cNvPr>
          <p:cNvSpPr>
            <a:spLocks noGrp="1"/>
          </p:cNvSpPr>
          <p:nvPr>
            <p:ph type="title"/>
          </p:nvPr>
        </p:nvSpPr>
        <p:spPr>
          <a:xfrm>
            <a:off x="457200" y="942686"/>
            <a:ext cx="4502727" cy="857250"/>
          </a:xfrm>
        </p:spPr>
        <p:txBody>
          <a:bodyPr>
            <a:noAutofit/>
          </a:bodyPr>
          <a:lstStyle/>
          <a:p>
            <a:r>
              <a:rPr lang="en-US" sz="3400" dirty="0"/>
              <a:t>Species–environment relationships</a:t>
            </a:r>
          </a:p>
        </p:txBody>
      </p:sp>
      <p:sp>
        <p:nvSpPr>
          <p:cNvPr id="3" name="Content Placeholder 2">
            <a:extLst>
              <a:ext uri="{FF2B5EF4-FFF2-40B4-BE49-F238E27FC236}">
                <a16:creationId xmlns:a16="http://schemas.microsoft.com/office/drawing/2014/main" id="{B935D462-7107-ADE3-C60A-D5F5331D950B}"/>
              </a:ext>
            </a:extLst>
          </p:cNvPr>
          <p:cNvSpPr>
            <a:spLocks noGrp="1"/>
          </p:cNvSpPr>
          <p:nvPr>
            <p:ph idx="1"/>
          </p:nvPr>
        </p:nvSpPr>
        <p:spPr>
          <a:xfrm>
            <a:off x="457200" y="1980790"/>
            <a:ext cx="4502727" cy="3084478"/>
          </a:xfrm>
        </p:spPr>
        <p:txBody>
          <a:bodyPr/>
          <a:lstStyle/>
          <a:p>
            <a:pPr lvl="0"/>
            <a:r>
              <a:rPr lang="en-US" dirty="0"/>
              <a:t>Species respond to different combinations of environmental conditions</a:t>
            </a:r>
          </a:p>
          <a:p>
            <a:pPr lvl="0"/>
            <a:r>
              <a:rPr lang="en-US" dirty="0"/>
              <a:t>Relevant predictors differ among species and geographic contexts</a:t>
            </a:r>
          </a:p>
          <a:p>
            <a:pPr lvl="0"/>
            <a:r>
              <a:rPr lang="en-US" dirty="0"/>
              <a:t>A statistical association does not necessarily identify a causal mechanism</a:t>
            </a:r>
          </a:p>
        </p:txBody>
      </p:sp>
      <p:pic>
        <p:nvPicPr>
          <p:cNvPr id="4" name="Picture 3">
            <a:extLst>
              <a:ext uri="{FF2B5EF4-FFF2-40B4-BE49-F238E27FC236}">
                <a16:creationId xmlns:a16="http://schemas.microsoft.com/office/drawing/2014/main" id="{36343BA0-32F3-450B-6A87-B247BFB50ECB}"/>
              </a:ext>
            </a:extLst>
          </p:cNvPr>
          <p:cNvPicPr>
            <a:picLocks noChangeAspect="1"/>
          </p:cNvPicPr>
          <p:nvPr/>
        </p:nvPicPr>
        <p:blipFill>
          <a:blip r:embed="rId2"/>
          <a:stretch>
            <a:fillRect/>
          </a:stretch>
        </p:blipFill>
        <p:spPr>
          <a:xfrm>
            <a:off x="5252173" y="762000"/>
            <a:ext cx="3301966" cy="3925346"/>
          </a:xfrm>
          <a:prstGeom prst="rect">
            <a:avLst/>
          </a:prstGeom>
        </p:spPr>
      </p:pic>
      <p:sp>
        <p:nvSpPr>
          <p:cNvPr id="6" name="TextBox 5">
            <a:extLst>
              <a:ext uri="{FF2B5EF4-FFF2-40B4-BE49-F238E27FC236}">
                <a16:creationId xmlns:a16="http://schemas.microsoft.com/office/drawing/2014/main" id="{40F4E1BB-8912-5001-18D8-4329F7CE9E04}"/>
              </a:ext>
            </a:extLst>
          </p:cNvPr>
          <p:cNvSpPr txBox="1"/>
          <p:nvPr/>
        </p:nvSpPr>
        <p:spPr>
          <a:xfrm>
            <a:off x="5128347" y="4686240"/>
            <a:ext cx="3924300" cy="400110"/>
          </a:xfrm>
          <a:prstGeom prst="rect">
            <a:avLst/>
          </a:prstGeom>
          <a:noFill/>
        </p:spPr>
        <p:txBody>
          <a:bodyPr wrap="square">
            <a:spAutoFit/>
          </a:bodyPr>
          <a:lstStyle/>
          <a:p>
            <a:pPr marL="0" marR="0">
              <a:buNone/>
            </a:pPr>
            <a:r>
              <a:rPr lang="en-US" sz="1000" dirty="0">
                <a:effectLst/>
                <a:latin typeface="+mn-lt"/>
              </a:rPr>
              <a:t>Figure 6.1. Example summary of responses of a virtual species to eight environmental characteristics. Adapted from Austin et al. (2006).</a:t>
            </a:r>
            <a:endParaRPr lang="en-US" sz="1000" dirty="0">
              <a:effectLst/>
              <a:latin typeface="Helvetica" pitchFamily="2" charset="0"/>
            </a:endParaRPr>
          </a:p>
        </p:txBody>
      </p:sp>
    </p:spTree>
    <p:extLst>
      <p:ext uri="{BB962C8B-B14F-4D97-AF65-F5344CB8AC3E}">
        <p14:creationId xmlns:p14="http://schemas.microsoft.com/office/powerpoint/2010/main" val="2341232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39D61-A00F-4761-546C-140B363A6E9C}"/>
              </a:ext>
            </a:extLst>
          </p:cNvPr>
          <p:cNvSpPr>
            <a:spLocks noGrp="1"/>
          </p:cNvSpPr>
          <p:nvPr>
            <p:ph type="title"/>
          </p:nvPr>
        </p:nvSpPr>
        <p:spPr>
          <a:xfrm>
            <a:off x="2818562" y="2104707"/>
            <a:ext cx="3506875" cy="857250"/>
          </a:xfrm>
        </p:spPr>
        <p:txBody>
          <a:bodyPr/>
          <a:lstStyle/>
          <a:p>
            <a:r>
              <a:rPr lang="en-US" dirty="0"/>
              <a:t>Direct v indirect effects</a:t>
            </a:r>
          </a:p>
        </p:txBody>
      </p:sp>
    </p:spTree>
    <p:extLst>
      <p:ext uri="{BB962C8B-B14F-4D97-AF65-F5344CB8AC3E}">
        <p14:creationId xmlns:p14="http://schemas.microsoft.com/office/powerpoint/2010/main" val="1078342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32EC0-4C0B-1BB4-E743-22FB7B5A2DCB}"/>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B255660-0E0D-ED79-ABB3-09C82F57223E}"/>
              </a:ext>
            </a:extLst>
          </p:cNvPr>
          <p:cNvSpPr>
            <a:spLocks noGrp="1"/>
          </p:cNvSpPr>
          <p:nvPr>
            <p:ph idx="1"/>
          </p:nvPr>
        </p:nvSpPr>
        <p:spPr>
          <a:xfrm>
            <a:off x="356716" y="1560021"/>
            <a:ext cx="1944357" cy="2427918"/>
          </a:xfrm>
        </p:spPr>
        <p:txBody>
          <a:bodyPr>
            <a:normAutofit fontScale="85000" lnSpcReduction="20000"/>
          </a:bodyPr>
          <a:lstStyle/>
          <a:p>
            <a:r>
              <a:rPr lang="en-US" dirty="0"/>
              <a:t>n228 is the name of the virtual species</a:t>
            </a:r>
          </a:p>
          <a:p>
            <a:r>
              <a:rPr lang="en-US" dirty="0"/>
              <a:t>Each point represents one simulated site</a:t>
            </a:r>
          </a:p>
          <a:p>
            <a:r>
              <a:rPr lang="en-US" dirty="0"/>
              <a:t>Y is the abundance of the species at each site</a:t>
            </a:r>
          </a:p>
          <a:p>
            <a:endParaRPr lang="en-US" dirty="0"/>
          </a:p>
        </p:txBody>
      </p:sp>
      <p:pic>
        <p:nvPicPr>
          <p:cNvPr id="4" name="Picture 3">
            <a:extLst>
              <a:ext uri="{FF2B5EF4-FFF2-40B4-BE49-F238E27FC236}">
                <a16:creationId xmlns:a16="http://schemas.microsoft.com/office/drawing/2014/main" id="{25BA692F-1B4B-1F49-D8B8-68872DF236D2}"/>
              </a:ext>
            </a:extLst>
          </p:cNvPr>
          <p:cNvPicPr>
            <a:picLocks noChangeAspect="1"/>
          </p:cNvPicPr>
          <p:nvPr/>
        </p:nvPicPr>
        <p:blipFill>
          <a:blip r:embed="rId2"/>
          <a:srcRect b="50050"/>
          <a:stretch>
            <a:fillRect/>
          </a:stretch>
        </p:blipFill>
        <p:spPr>
          <a:xfrm>
            <a:off x="2506593" y="827868"/>
            <a:ext cx="6220801" cy="3693889"/>
          </a:xfrm>
          <a:prstGeom prst="rect">
            <a:avLst/>
          </a:prstGeom>
        </p:spPr>
      </p:pic>
    </p:spTree>
    <p:extLst>
      <p:ext uri="{BB962C8B-B14F-4D97-AF65-F5344CB8AC3E}">
        <p14:creationId xmlns:p14="http://schemas.microsoft.com/office/powerpoint/2010/main" val="4112092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7936D-C761-3209-B045-3359EB2042E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4529F4B-585E-2CDA-6553-6C5B96B0609F}"/>
              </a:ext>
            </a:extLst>
          </p:cNvPr>
          <p:cNvPicPr>
            <a:picLocks noChangeAspect="1"/>
          </p:cNvPicPr>
          <p:nvPr/>
        </p:nvPicPr>
        <p:blipFill>
          <a:blip r:embed="rId2"/>
          <a:srcRect l="231" t="49922" r="-231" b="128"/>
          <a:stretch>
            <a:fillRect/>
          </a:stretch>
        </p:blipFill>
        <p:spPr>
          <a:xfrm>
            <a:off x="2556556" y="827869"/>
            <a:ext cx="6230728" cy="3699784"/>
          </a:xfrm>
          <a:prstGeom prst="rect">
            <a:avLst/>
          </a:prstGeom>
        </p:spPr>
      </p:pic>
      <p:sp>
        <p:nvSpPr>
          <p:cNvPr id="7" name="Content Placeholder 6">
            <a:extLst>
              <a:ext uri="{FF2B5EF4-FFF2-40B4-BE49-F238E27FC236}">
                <a16:creationId xmlns:a16="http://schemas.microsoft.com/office/drawing/2014/main" id="{11DDB51B-8499-F45F-D641-ED4147099888}"/>
              </a:ext>
            </a:extLst>
          </p:cNvPr>
          <p:cNvSpPr>
            <a:spLocks noGrp="1"/>
          </p:cNvSpPr>
          <p:nvPr>
            <p:ph idx="1"/>
          </p:nvPr>
        </p:nvSpPr>
        <p:spPr>
          <a:xfrm>
            <a:off x="356716" y="1560021"/>
            <a:ext cx="1944357" cy="2427918"/>
          </a:xfrm>
        </p:spPr>
        <p:txBody>
          <a:bodyPr>
            <a:normAutofit fontScale="85000" lnSpcReduction="20000"/>
          </a:bodyPr>
          <a:lstStyle/>
          <a:p>
            <a:r>
              <a:rPr lang="en-US" dirty="0"/>
              <a:t>n228 is the name of the virtual species</a:t>
            </a:r>
          </a:p>
          <a:p>
            <a:r>
              <a:rPr lang="en-US" dirty="0"/>
              <a:t>Each point represents one simulated site</a:t>
            </a:r>
          </a:p>
          <a:p>
            <a:r>
              <a:rPr lang="en-US" dirty="0"/>
              <a:t>Y is the abundance of the species at each site</a:t>
            </a:r>
          </a:p>
          <a:p>
            <a:endParaRPr lang="en-US" dirty="0"/>
          </a:p>
        </p:txBody>
      </p:sp>
    </p:spTree>
    <p:extLst>
      <p:ext uri="{BB962C8B-B14F-4D97-AF65-F5344CB8AC3E}">
        <p14:creationId xmlns:p14="http://schemas.microsoft.com/office/powerpoint/2010/main" val="2396233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88247-9B04-F072-6FFF-EE6C7A95178E}"/>
              </a:ext>
            </a:extLst>
          </p:cNvPr>
          <p:cNvSpPr>
            <a:spLocks noGrp="1"/>
          </p:cNvSpPr>
          <p:nvPr>
            <p:ph type="title"/>
          </p:nvPr>
        </p:nvSpPr>
        <p:spPr/>
        <p:txBody>
          <a:bodyPr>
            <a:normAutofit/>
          </a:bodyPr>
          <a:lstStyle/>
          <a:p>
            <a:r>
              <a:rPr lang="en-US" sz="3400" dirty="0"/>
              <a:t>Austin et al. (2006)</a:t>
            </a:r>
          </a:p>
        </p:txBody>
      </p:sp>
      <p:sp>
        <p:nvSpPr>
          <p:cNvPr id="3" name="Content Placeholder 2">
            <a:extLst>
              <a:ext uri="{FF2B5EF4-FFF2-40B4-BE49-F238E27FC236}">
                <a16:creationId xmlns:a16="http://schemas.microsoft.com/office/drawing/2014/main" id="{8BF0F5D9-8804-001D-534F-80CD717A522F}"/>
              </a:ext>
            </a:extLst>
          </p:cNvPr>
          <p:cNvSpPr>
            <a:spLocks noGrp="1"/>
          </p:cNvSpPr>
          <p:nvPr>
            <p:ph idx="1"/>
          </p:nvPr>
        </p:nvSpPr>
        <p:spPr/>
        <p:txBody>
          <a:bodyPr/>
          <a:lstStyle/>
          <a:p>
            <a:pPr lvl="0"/>
            <a:r>
              <a:rPr lang="en-US" dirty="0"/>
              <a:t>Austin et al. were making the point that when the true biological response is expressed through indirect predictors, the underlying ecological relationship can become much harder to see. </a:t>
            </a:r>
          </a:p>
          <a:p>
            <a:pPr lvl="0"/>
            <a:r>
              <a:rPr lang="en-US" dirty="0"/>
              <a:t>They explicitly note that the species–environment relationships are relatively obscure for variables such as longitude, latitude, slope, and aspect, even though some of those variables are linked through environmental processes to the actual causal variables.</a:t>
            </a:r>
          </a:p>
        </p:txBody>
      </p:sp>
    </p:spTree>
    <p:extLst>
      <p:ext uri="{BB962C8B-B14F-4D97-AF65-F5344CB8AC3E}">
        <p14:creationId xmlns:p14="http://schemas.microsoft.com/office/powerpoint/2010/main" val="979219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39BCC-962B-CA46-9BD2-DBD300B49211}"/>
              </a:ext>
            </a:extLst>
          </p:cNvPr>
          <p:cNvSpPr>
            <a:spLocks noGrp="1"/>
          </p:cNvSpPr>
          <p:nvPr>
            <p:ph type="title"/>
          </p:nvPr>
        </p:nvSpPr>
        <p:spPr>
          <a:xfrm>
            <a:off x="2891413" y="2009439"/>
            <a:ext cx="3361174" cy="857250"/>
          </a:xfrm>
        </p:spPr>
        <p:txBody>
          <a:bodyPr/>
          <a:lstStyle/>
          <a:p>
            <a:r>
              <a:rPr lang="en-US" dirty="0"/>
              <a:t>Temporal resolution</a:t>
            </a:r>
          </a:p>
        </p:txBody>
      </p:sp>
    </p:spTree>
    <p:extLst>
      <p:ext uri="{BB962C8B-B14F-4D97-AF65-F5344CB8AC3E}">
        <p14:creationId xmlns:p14="http://schemas.microsoft.com/office/powerpoint/2010/main" val="1648547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E08FD-7385-41F0-C751-914D7CC3E76B}"/>
              </a:ext>
            </a:extLst>
          </p:cNvPr>
          <p:cNvSpPr>
            <a:spLocks noGrp="1"/>
          </p:cNvSpPr>
          <p:nvPr>
            <p:ph type="title"/>
          </p:nvPr>
        </p:nvSpPr>
        <p:spPr/>
        <p:txBody>
          <a:bodyPr>
            <a:normAutofit/>
          </a:bodyPr>
          <a:lstStyle/>
          <a:p>
            <a:r>
              <a:rPr lang="en-US" sz="3400"/>
              <a:t>Temporal resolution</a:t>
            </a:r>
            <a:endParaRPr lang="en-US" sz="3400" dirty="0"/>
          </a:p>
        </p:txBody>
      </p:sp>
      <p:sp>
        <p:nvSpPr>
          <p:cNvPr id="3" name="Content Placeholder 2">
            <a:extLst>
              <a:ext uri="{FF2B5EF4-FFF2-40B4-BE49-F238E27FC236}">
                <a16:creationId xmlns:a16="http://schemas.microsoft.com/office/drawing/2014/main" id="{F270F209-38AD-3042-FC78-AE73C90637E0}"/>
              </a:ext>
            </a:extLst>
          </p:cNvPr>
          <p:cNvSpPr>
            <a:spLocks noGrp="1"/>
          </p:cNvSpPr>
          <p:nvPr>
            <p:ph idx="1"/>
          </p:nvPr>
        </p:nvSpPr>
        <p:spPr>
          <a:xfrm>
            <a:off x="457200" y="1329292"/>
            <a:ext cx="4491318" cy="3265331"/>
          </a:xfrm>
        </p:spPr>
        <p:txBody>
          <a:bodyPr>
            <a:normAutofit fontScale="92500" lnSpcReduction="10000"/>
          </a:bodyPr>
          <a:lstStyle/>
          <a:p>
            <a:pPr lvl="0"/>
            <a:r>
              <a:rPr lang="en-US" dirty="0"/>
              <a:t>Occurrence records and environmental predictors should represent fairly compatible periods</a:t>
            </a:r>
          </a:p>
          <a:p>
            <a:pPr lvl="0"/>
            <a:r>
              <a:rPr lang="en-US" dirty="0"/>
              <a:t>Topography changes slowly, but vegetation and land cover can change rapidly</a:t>
            </a:r>
          </a:p>
          <a:p>
            <a:pPr lvl="0"/>
            <a:r>
              <a:rPr lang="en-US" dirty="0"/>
              <a:t>Remote-sensing products require particularly careful temporal matching</a:t>
            </a:r>
          </a:p>
          <a:p>
            <a:pPr lvl="0"/>
            <a:r>
              <a:rPr lang="en-US" dirty="0"/>
              <a:t>Past and future projections require environmental layers from the corresponding period</a:t>
            </a:r>
          </a:p>
        </p:txBody>
      </p:sp>
      <p:pic>
        <p:nvPicPr>
          <p:cNvPr id="4" name="Picture 3">
            <a:extLst>
              <a:ext uri="{FF2B5EF4-FFF2-40B4-BE49-F238E27FC236}">
                <a16:creationId xmlns:a16="http://schemas.microsoft.com/office/drawing/2014/main" id="{4F183CE2-4B03-5CE8-5539-FA5BAFF2456F}"/>
              </a:ext>
            </a:extLst>
          </p:cNvPr>
          <p:cNvPicPr>
            <a:picLocks noChangeAspect="1"/>
          </p:cNvPicPr>
          <p:nvPr/>
        </p:nvPicPr>
        <p:blipFill>
          <a:blip r:embed="rId2"/>
          <a:stretch>
            <a:fillRect/>
          </a:stretch>
        </p:blipFill>
        <p:spPr>
          <a:xfrm>
            <a:off x="5155098" y="495088"/>
            <a:ext cx="3988901" cy="4594623"/>
          </a:xfrm>
          <a:prstGeom prst="rect">
            <a:avLst/>
          </a:prstGeom>
        </p:spPr>
      </p:pic>
    </p:spTree>
    <p:extLst>
      <p:ext uri="{BB962C8B-B14F-4D97-AF65-F5344CB8AC3E}">
        <p14:creationId xmlns:p14="http://schemas.microsoft.com/office/powerpoint/2010/main" val="2603142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E0654-83A3-BA63-3103-4E6D74FCF532}"/>
              </a:ext>
            </a:extLst>
          </p:cNvPr>
          <p:cNvSpPr>
            <a:spLocks noGrp="1"/>
          </p:cNvSpPr>
          <p:nvPr>
            <p:ph type="title"/>
          </p:nvPr>
        </p:nvSpPr>
        <p:spPr/>
        <p:txBody>
          <a:bodyPr/>
          <a:lstStyle/>
          <a:p>
            <a:r>
              <a:rPr lang="en-US" dirty="0"/>
              <a:t>USGS Landsat San Antonio, TX 1974</a:t>
            </a:r>
          </a:p>
        </p:txBody>
      </p:sp>
      <p:pic>
        <p:nvPicPr>
          <p:cNvPr id="5" name="Content Placeholder 4">
            <a:extLst>
              <a:ext uri="{FF2B5EF4-FFF2-40B4-BE49-F238E27FC236}">
                <a16:creationId xmlns:a16="http://schemas.microsoft.com/office/drawing/2014/main" id="{ECF6EC26-C18D-9937-FD5F-203A6A06D6DC}"/>
              </a:ext>
            </a:extLst>
          </p:cNvPr>
          <p:cNvPicPr>
            <a:picLocks noGrp="1" noChangeAspect="1"/>
          </p:cNvPicPr>
          <p:nvPr>
            <p:ph idx="1"/>
          </p:nvPr>
        </p:nvPicPr>
        <p:blipFill>
          <a:blip r:embed="rId2"/>
          <a:stretch>
            <a:fillRect/>
          </a:stretch>
        </p:blipFill>
        <p:spPr>
          <a:xfrm>
            <a:off x="4949700" y="1328737"/>
            <a:ext cx="3655238" cy="3265487"/>
          </a:xfrm>
          <a:prstGeom prst="rect">
            <a:avLst/>
          </a:prstGeom>
        </p:spPr>
      </p:pic>
      <p:sp>
        <p:nvSpPr>
          <p:cNvPr id="7" name="TextBox 6">
            <a:extLst>
              <a:ext uri="{FF2B5EF4-FFF2-40B4-BE49-F238E27FC236}">
                <a16:creationId xmlns:a16="http://schemas.microsoft.com/office/drawing/2014/main" id="{F3D18265-F789-21EC-7904-D0116311B154}"/>
              </a:ext>
            </a:extLst>
          </p:cNvPr>
          <p:cNvSpPr txBox="1"/>
          <p:nvPr/>
        </p:nvSpPr>
        <p:spPr>
          <a:xfrm>
            <a:off x="457200" y="1328737"/>
            <a:ext cx="4316506" cy="3416320"/>
          </a:xfrm>
          <a:prstGeom prst="rect">
            <a:avLst/>
          </a:prstGeom>
          <a:noFill/>
        </p:spPr>
        <p:txBody>
          <a:bodyPr wrap="square">
            <a:spAutoFit/>
          </a:bodyPr>
          <a:lstStyle/>
          <a:p>
            <a:pPr>
              <a:buNone/>
            </a:pPr>
            <a:r>
              <a:rPr lang="en-US" dirty="0"/>
              <a:t>Healthy vegetation strongly reflects near-infrared light. </a:t>
            </a:r>
          </a:p>
          <a:p>
            <a:pPr>
              <a:buNone/>
            </a:pPr>
            <a:endParaRPr lang="en-US" dirty="0"/>
          </a:p>
          <a:p>
            <a:pPr>
              <a:buNone/>
            </a:pPr>
            <a:r>
              <a:rPr lang="en-US" dirty="0"/>
              <a:t>The image assigns that invisible near-infrared signal to the visible red channel:</a:t>
            </a:r>
          </a:p>
          <a:p>
            <a:pPr marL="342900" lvl="0" indent="-342900">
              <a:buFont typeface="Arial" panose="020B0604020202020204" pitchFamily="34" charset="0"/>
              <a:buChar char="•"/>
            </a:pPr>
            <a:r>
              <a:rPr lang="en-US" b="1" dirty="0"/>
              <a:t>Bright red:</a:t>
            </a:r>
            <a:r>
              <a:rPr lang="en-US" dirty="0"/>
              <a:t> dense or actively growing vegetation</a:t>
            </a:r>
          </a:p>
          <a:p>
            <a:pPr marL="342900" lvl="0" indent="-342900">
              <a:buFont typeface="Arial" panose="020B0604020202020204" pitchFamily="34" charset="0"/>
              <a:buChar char="•"/>
            </a:pPr>
            <a:r>
              <a:rPr lang="en-US" b="1" dirty="0"/>
              <a:t>Dark/dull red:</a:t>
            </a:r>
            <a:r>
              <a:rPr lang="en-US" dirty="0"/>
              <a:t> sparser or less vigorous vegetation</a:t>
            </a:r>
          </a:p>
          <a:p>
            <a:pPr marL="342900" lvl="0" indent="-342900">
              <a:buFont typeface="Arial" panose="020B0604020202020204" pitchFamily="34" charset="0"/>
              <a:buChar char="•"/>
            </a:pPr>
            <a:r>
              <a:rPr lang="en-US" b="1" dirty="0"/>
              <a:t>White, gray, or cyan:</a:t>
            </a:r>
            <a:r>
              <a:rPr lang="en-US" dirty="0"/>
              <a:t> roads, buildings, and exposed surfaces</a:t>
            </a:r>
          </a:p>
          <a:p>
            <a:pPr marL="342900" lvl="0" indent="-342900">
              <a:buFont typeface="Arial" panose="020B0604020202020204" pitchFamily="34" charset="0"/>
              <a:buChar char="•"/>
            </a:pPr>
            <a:r>
              <a:rPr lang="en-US" b="1" dirty="0"/>
              <a:t>Very dark areas:</a:t>
            </a:r>
            <a:r>
              <a:rPr lang="en-US" dirty="0"/>
              <a:t> usually water</a:t>
            </a:r>
          </a:p>
        </p:txBody>
      </p:sp>
    </p:spTree>
    <p:extLst>
      <p:ext uri="{BB962C8B-B14F-4D97-AF65-F5344CB8AC3E}">
        <p14:creationId xmlns:p14="http://schemas.microsoft.com/office/powerpoint/2010/main" val="1124678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38DA4-05D3-0EBE-2099-17814F939329}"/>
              </a:ext>
            </a:extLst>
          </p:cNvPr>
          <p:cNvSpPr>
            <a:spLocks noGrp="1"/>
          </p:cNvSpPr>
          <p:nvPr>
            <p:ph type="title"/>
          </p:nvPr>
        </p:nvSpPr>
        <p:spPr/>
        <p:txBody>
          <a:bodyPr/>
          <a:lstStyle/>
          <a:p>
            <a:r>
              <a:rPr lang="en-US" dirty="0"/>
              <a:t>USGS Landsat San Antonio, TX 2022</a:t>
            </a:r>
          </a:p>
        </p:txBody>
      </p:sp>
      <p:pic>
        <p:nvPicPr>
          <p:cNvPr id="5" name="Content Placeholder 4">
            <a:extLst>
              <a:ext uri="{FF2B5EF4-FFF2-40B4-BE49-F238E27FC236}">
                <a16:creationId xmlns:a16="http://schemas.microsoft.com/office/drawing/2014/main" id="{A0E4B7B2-B0BD-C4A8-55FA-E40A4FC58F19}"/>
              </a:ext>
            </a:extLst>
          </p:cNvPr>
          <p:cNvPicPr>
            <a:picLocks noGrp="1" noChangeAspect="1"/>
          </p:cNvPicPr>
          <p:nvPr>
            <p:ph idx="1"/>
          </p:nvPr>
        </p:nvPicPr>
        <p:blipFill>
          <a:blip r:embed="rId2"/>
          <a:stretch>
            <a:fillRect/>
          </a:stretch>
        </p:blipFill>
        <p:spPr>
          <a:xfrm>
            <a:off x="4977774" y="1329291"/>
            <a:ext cx="3655238" cy="3265487"/>
          </a:xfrm>
          <a:prstGeom prst="rect">
            <a:avLst/>
          </a:prstGeom>
        </p:spPr>
      </p:pic>
      <p:sp>
        <p:nvSpPr>
          <p:cNvPr id="6" name="TextBox 5">
            <a:extLst>
              <a:ext uri="{FF2B5EF4-FFF2-40B4-BE49-F238E27FC236}">
                <a16:creationId xmlns:a16="http://schemas.microsoft.com/office/drawing/2014/main" id="{E8F397D4-29E3-7CFB-CF1F-6B9D6E9CD356}"/>
              </a:ext>
            </a:extLst>
          </p:cNvPr>
          <p:cNvSpPr txBox="1"/>
          <p:nvPr/>
        </p:nvSpPr>
        <p:spPr>
          <a:xfrm>
            <a:off x="702791" y="2092928"/>
            <a:ext cx="3655238" cy="1938992"/>
          </a:xfrm>
          <a:prstGeom prst="rect">
            <a:avLst/>
          </a:prstGeom>
          <a:noFill/>
        </p:spPr>
        <p:txBody>
          <a:bodyPr wrap="square">
            <a:spAutoFit/>
          </a:bodyPr>
          <a:lstStyle/>
          <a:p>
            <a:pPr>
              <a:buNone/>
            </a:pPr>
            <a:r>
              <a:rPr lang="en-US" sz="2400" dirty="0"/>
              <a:t>The expanding pale-gray street and development patterns show urban growth replacing or fragmenting vegetation. </a:t>
            </a:r>
          </a:p>
        </p:txBody>
      </p:sp>
    </p:spTree>
    <p:extLst>
      <p:ext uri="{BB962C8B-B14F-4D97-AF65-F5344CB8AC3E}">
        <p14:creationId xmlns:p14="http://schemas.microsoft.com/office/powerpoint/2010/main" val="1597007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CAC85-BE5F-9415-212D-68542631020A}"/>
              </a:ext>
            </a:extLst>
          </p:cNvPr>
          <p:cNvSpPr>
            <a:spLocks noGrp="1"/>
          </p:cNvSpPr>
          <p:nvPr>
            <p:ph type="title"/>
          </p:nvPr>
        </p:nvSpPr>
        <p:spPr>
          <a:xfrm>
            <a:off x="457200" y="835110"/>
            <a:ext cx="5040041" cy="857250"/>
          </a:xfrm>
        </p:spPr>
        <p:txBody>
          <a:bodyPr>
            <a:noAutofit/>
          </a:bodyPr>
          <a:lstStyle/>
          <a:p>
            <a:r>
              <a:rPr lang="en-US" sz="3200" dirty="0"/>
              <a:t>Climate Change Through Geological Time</a:t>
            </a:r>
          </a:p>
        </p:txBody>
      </p:sp>
      <p:sp>
        <p:nvSpPr>
          <p:cNvPr id="3" name="Content Placeholder 2">
            <a:extLst>
              <a:ext uri="{FF2B5EF4-FFF2-40B4-BE49-F238E27FC236}">
                <a16:creationId xmlns:a16="http://schemas.microsoft.com/office/drawing/2014/main" id="{0DFF0834-C4A0-9119-8FAD-6E3404B75267}"/>
              </a:ext>
            </a:extLst>
          </p:cNvPr>
          <p:cNvSpPr>
            <a:spLocks noGrp="1"/>
          </p:cNvSpPr>
          <p:nvPr>
            <p:ph idx="1"/>
          </p:nvPr>
        </p:nvSpPr>
        <p:spPr>
          <a:xfrm>
            <a:off x="457200" y="1949824"/>
            <a:ext cx="5040041" cy="2644799"/>
          </a:xfrm>
        </p:spPr>
        <p:txBody>
          <a:bodyPr>
            <a:normAutofit/>
          </a:bodyPr>
          <a:lstStyle/>
          <a:p>
            <a:r>
              <a:rPr lang="en-US" sz="1900" dirty="0" err="1"/>
              <a:t>PaleoClim</a:t>
            </a:r>
            <a:r>
              <a:rPr lang="en-US" sz="1900" dirty="0"/>
              <a:t> layers are modeled reconstructions of past change</a:t>
            </a:r>
          </a:p>
          <a:p>
            <a:pPr lvl="0"/>
            <a:r>
              <a:rPr lang="en-US" sz="1900" dirty="0"/>
              <a:t>Climate and coastlines have changed through time</a:t>
            </a:r>
          </a:p>
          <a:p>
            <a:pPr lvl="0"/>
            <a:r>
              <a:rPr lang="en-US" sz="1900" dirty="0"/>
              <a:t>Suitable environments may shift, expand, contract, or fragment</a:t>
            </a:r>
          </a:p>
          <a:p>
            <a:pPr lvl="0"/>
            <a:r>
              <a:rPr lang="en-US" sz="1900" dirty="0"/>
              <a:t>A stable climatic niche can produce a changing geographic range</a:t>
            </a:r>
          </a:p>
        </p:txBody>
      </p:sp>
      <p:pic>
        <p:nvPicPr>
          <p:cNvPr id="4" name="Picture 3" descr="Figure 1: Paleoclim datasets.">
            <a:extLst>
              <a:ext uri="{FF2B5EF4-FFF2-40B4-BE49-F238E27FC236}">
                <a16:creationId xmlns:a16="http://schemas.microsoft.com/office/drawing/2014/main" id="{8A703BE4-859F-4862-7826-749E71131F10}"/>
              </a:ext>
            </a:extLst>
          </p:cNvPr>
          <p:cNvPicPr>
            <a:picLocks noChangeAspect="1"/>
          </p:cNvPicPr>
          <p:nvPr/>
        </p:nvPicPr>
        <p:blipFill>
          <a:blip r:embed="rId2"/>
          <a:stretch>
            <a:fillRect/>
          </a:stretch>
        </p:blipFill>
        <p:spPr>
          <a:xfrm>
            <a:off x="5688106" y="372426"/>
            <a:ext cx="3189559" cy="4725572"/>
          </a:xfrm>
          <a:prstGeom prst="rect">
            <a:avLst/>
          </a:prstGeom>
        </p:spPr>
      </p:pic>
      <p:sp>
        <p:nvSpPr>
          <p:cNvPr id="6" name="TextBox 5">
            <a:extLst>
              <a:ext uri="{FF2B5EF4-FFF2-40B4-BE49-F238E27FC236}">
                <a16:creationId xmlns:a16="http://schemas.microsoft.com/office/drawing/2014/main" id="{489FA3DA-6FE5-5095-5C5E-613396890EBF}"/>
              </a:ext>
            </a:extLst>
          </p:cNvPr>
          <p:cNvSpPr txBox="1"/>
          <p:nvPr/>
        </p:nvSpPr>
        <p:spPr>
          <a:xfrm>
            <a:off x="266335" y="4697889"/>
            <a:ext cx="5567083" cy="400110"/>
          </a:xfrm>
          <a:prstGeom prst="rect">
            <a:avLst/>
          </a:prstGeom>
          <a:noFill/>
        </p:spPr>
        <p:txBody>
          <a:bodyPr wrap="square">
            <a:spAutoFit/>
          </a:bodyPr>
          <a:lstStyle/>
          <a:p>
            <a:r>
              <a:rPr lang="en-US" sz="1000" dirty="0"/>
              <a:t>Brown, J.L., Hill, D.J., Dolan, A.M., Carnaval, A.C. and Haywood, A.M., 2018. </a:t>
            </a:r>
            <a:r>
              <a:rPr lang="en-US" sz="1000" dirty="0" err="1"/>
              <a:t>PaleoClim</a:t>
            </a:r>
            <a:r>
              <a:rPr lang="en-US" sz="1000" dirty="0"/>
              <a:t>, high spatial resolution paleoclimate surfaces for global land areas. </a:t>
            </a:r>
            <a:r>
              <a:rPr lang="en-US" sz="1000" i="1" dirty="0"/>
              <a:t>Scientific data</a:t>
            </a:r>
            <a:r>
              <a:rPr lang="en-US" sz="1000" dirty="0"/>
              <a:t>, </a:t>
            </a:r>
            <a:r>
              <a:rPr lang="en-US" sz="1000" i="1" dirty="0"/>
              <a:t>5</a:t>
            </a:r>
            <a:r>
              <a:rPr lang="en-US" sz="1000" dirty="0"/>
              <a:t>(1), p.180254.</a:t>
            </a:r>
          </a:p>
        </p:txBody>
      </p:sp>
    </p:spTree>
    <p:extLst>
      <p:ext uri="{BB962C8B-B14F-4D97-AF65-F5344CB8AC3E}">
        <p14:creationId xmlns:p14="http://schemas.microsoft.com/office/powerpoint/2010/main" val="3259315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D9994-B1CE-2EE9-4DE9-28A8D1C9018A}"/>
              </a:ext>
            </a:extLst>
          </p:cNvPr>
          <p:cNvSpPr>
            <a:spLocks noGrp="1"/>
          </p:cNvSpPr>
          <p:nvPr>
            <p:ph type="title"/>
          </p:nvPr>
        </p:nvSpPr>
        <p:spPr/>
        <p:txBody>
          <a:bodyPr/>
          <a:lstStyle/>
          <a:p>
            <a:endParaRPr lang="en-US"/>
          </a:p>
        </p:txBody>
      </p:sp>
      <p:pic>
        <p:nvPicPr>
          <p:cNvPr id="4" name="Picture 3" descr="Figure 1: Paleoclim datasets.">
            <a:extLst>
              <a:ext uri="{FF2B5EF4-FFF2-40B4-BE49-F238E27FC236}">
                <a16:creationId xmlns:a16="http://schemas.microsoft.com/office/drawing/2014/main" id="{77F00B1B-1151-AB0B-9323-10A1C2380DDB}"/>
              </a:ext>
            </a:extLst>
          </p:cNvPr>
          <p:cNvPicPr>
            <a:picLocks noChangeAspect="1"/>
          </p:cNvPicPr>
          <p:nvPr/>
        </p:nvPicPr>
        <p:blipFill>
          <a:blip r:embed="rId2"/>
          <a:srcRect l="-968" t="86743" r="-1"/>
          <a:stretch>
            <a:fillRect/>
          </a:stretch>
        </p:blipFill>
        <p:spPr>
          <a:xfrm>
            <a:off x="185895" y="1914980"/>
            <a:ext cx="8500905" cy="1653705"/>
          </a:xfrm>
          <a:prstGeom prst="rect">
            <a:avLst/>
          </a:prstGeom>
        </p:spPr>
      </p:pic>
    </p:spTree>
    <p:extLst>
      <p:ext uri="{BB962C8B-B14F-4D97-AF65-F5344CB8AC3E}">
        <p14:creationId xmlns:p14="http://schemas.microsoft.com/office/powerpoint/2010/main" val="11797438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42F39-FD72-23D8-DB6D-C273D4E5F91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9C4A99C-31E4-C13F-62D9-C39D1E3436CC}"/>
              </a:ext>
            </a:extLst>
          </p:cNvPr>
          <p:cNvSpPr>
            <a:spLocks noGrp="1"/>
          </p:cNvSpPr>
          <p:nvPr>
            <p:ph idx="1"/>
          </p:nvPr>
        </p:nvSpPr>
        <p:spPr/>
        <p:txBody>
          <a:bodyPr/>
          <a:lstStyle/>
          <a:p>
            <a:endParaRPr lang="en-US" dirty="0"/>
          </a:p>
        </p:txBody>
      </p:sp>
      <p:pic>
        <p:nvPicPr>
          <p:cNvPr id="4" name="Picture 3" descr="Figure 1: Paleoclim datasets.">
            <a:extLst>
              <a:ext uri="{FF2B5EF4-FFF2-40B4-BE49-F238E27FC236}">
                <a16:creationId xmlns:a16="http://schemas.microsoft.com/office/drawing/2014/main" id="{356198F9-B91E-ADCC-682C-90DB34955F9C}"/>
              </a:ext>
            </a:extLst>
          </p:cNvPr>
          <p:cNvPicPr>
            <a:picLocks noChangeAspect="1"/>
          </p:cNvPicPr>
          <p:nvPr/>
        </p:nvPicPr>
        <p:blipFill>
          <a:blip r:embed="rId2"/>
          <a:srcRect t="13402" b="53818"/>
          <a:stretch>
            <a:fillRect/>
          </a:stretch>
        </p:blipFill>
        <p:spPr>
          <a:xfrm>
            <a:off x="669376" y="803868"/>
            <a:ext cx="7805247" cy="3790756"/>
          </a:xfrm>
          <a:prstGeom prst="rect">
            <a:avLst/>
          </a:prstGeom>
        </p:spPr>
      </p:pic>
    </p:spTree>
    <p:extLst>
      <p:ext uri="{BB962C8B-B14F-4D97-AF65-F5344CB8AC3E}">
        <p14:creationId xmlns:p14="http://schemas.microsoft.com/office/powerpoint/2010/main" val="1253824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21BAD-4A60-783F-931B-88BA6B65A3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4A725C-C622-D206-65DF-9137D5CF9C5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3B2D142-B28B-E975-3802-ED553EE82E21}"/>
              </a:ext>
            </a:extLst>
          </p:cNvPr>
          <p:cNvSpPr>
            <a:spLocks noGrp="1"/>
          </p:cNvSpPr>
          <p:nvPr>
            <p:ph idx="1"/>
          </p:nvPr>
        </p:nvSpPr>
        <p:spPr/>
        <p:txBody>
          <a:bodyPr/>
          <a:lstStyle/>
          <a:p>
            <a:endParaRPr lang="en-US" dirty="0"/>
          </a:p>
        </p:txBody>
      </p:sp>
      <p:pic>
        <p:nvPicPr>
          <p:cNvPr id="4" name="Picture 3" descr="Figure 1: Paleoclim datasets.">
            <a:extLst>
              <a:ext uri="{FF2B5EF4-FFF2-40B4-BE49-F238E27FC236}">
                <a16:creationId xmlns:a16="http://schemas.microsoft.com/office/drawing/2014/main" id="{306792B0-7146-CA51-CA88-4317F96F7796}"/>
              </a:ext>
            </a:extLst>
          </p:cNvPr>
          <p:cNvPicPr>
            <a:picLocks noChangeAspect="1"/>
          </p:cNvPicPr>
          <p:nvPr/>
        </p:nvPicPr>
        <p:blipFill>
          <a:blip r:embed="rId2"/>
          <a:srcRect t="46382" b="20324"/>
          <a:stretch>
            <a:fillRect/>
          </a:stretch>
        </p:blipFill>
        <p:spPr>
          <a:xfrm>
            <a:off x="633781" y="741055"/>
            <a:ext cx="7829979" cy="3862349"/>
          </a:xfrm>
          <a:prstGeom prst="rect">
            <a:avLst/>
          </a:prstGeom>
        </p:spPr>
      </p:pic>
    </p:spTree>
    <p:extLst>
      <p:ext uri="{BB962C8B-B14F-4D97-AF65-F5344CB8AC3E}">
        <p14:creationId xmlns:p14="http://schemas.microsoft.com/office/powerpoint/2010/main" val="36098170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9E9BC-2348-F0AF-611E-9D8EC2766C0B}"/>
              </a:ext>
            </a:extLst>
          </p:cNvPr>
          <p:cNvSpPr>
            <a:spLocks noGrp="1"/>
          </p:cNvSpPr>
          <p:nvPr>
            <p:ph type="title"/>
          </p:nvPr>
        </p:nvSpPr>
        <p:spPr/>
        <p:txBody>
          <a:bodyPr>
            <a:normAutofit/>
          </a:bodyPr>
          <a:lstStyle/>
          <a:p>
            <a:r>
              <a:rPr lang="en-US" sz="3400" dirty="0"/>
              <a:t>Environmental data sources and types</a:t>
            </a:r>
          </a:p>
        </p:txBody>
      </p:sp>
      <p:sp>
        <p:nvSpPr>
          <p:cNvPr id="3" name="Content Placeholder 2">
            <a:extLst>
              <a:ext uri="{FF2B5EF4-FFF2-40B4-BE49-F238E27FC236}">
                <a16:creationId xmlns:a16="http://schemas.microsoft.com/office/drawing/2014/main" id="{BF2116AF-E701-264E-1674-3D18D852BB5E}"/>
              </a:ext>
            </a:extLst>
          </p:cNvPr>
          <p:cNvSpPr>
            <a:spLocks noGrp="1"/>
          </p:cNvSpPr>
          <p:nvPr>
            <p:ph idx="1"/>
          </p:nvPr>
        </p:nvSpPr>
        <p:spPr/>
        <p:txBody>
          <a:bodyPr/>
          <a:lstStyle/>
          <a:p>
            <a:pPr marL="0" indent="0">
              <a:buNone/>
            </a:pPr>
            <a:r>
              <a:rPr lang="en-US" dirty="0"/>
              <a:t>Common sources:</a:t>
            </a:r>
          </a:p>
          <a:p>
            <a:pPr lvl="0"/>
            <a:r>
              <a:rPr lang="en-US" dirty="0"/>
              <a:t>Interpolated weather-station data</a:t>
            </a:r>
          </a:p>
          <a:p>
            <a:pPr lvl="0"/>
            <a:r>
              <a:rPr lang="en-US" dirty="0"/>
              <a:t>Climate-model simulations</a:t>
            </a:r>
          </a:p>
          <a:p>
            <a:pPr lvl="0"/>
            <a:r>
              <a:rPr lang="en-US" dirty="0"/>
              <a:t>Remotely sensed imagery</a:t>
            </a:r>
          </a:p>
          <a:p>
            <a:pPr marL="0" indent="0">
              <a:buNone/>
            </a:pPr>
            <a:endParaRPr lang="en-US" dirty="0"/>
          </a:p>
          <a:p>
            <a:pPr marL="0" indent="0">
              <a:buNone/>
            </a:pPr>
            <a:r>
              <a:rPr lang="en-US" dirty="0"/>
              <a:t>Data may be categorical, ordinal, interval, or continuous. The modeling method needs to handle each type correctly.</a:t>
            </a:r>
          </a:p>
        </p:txBody>
      </p:sp>
    </p:spTree>
    <p:extLst>
      <p:ext uri="{BB962C8B-B14F-4D97-AF65-F5344CB8AC3E}">
        <p14:creationId xmlns:p14="http://schemas.microsoft.com/office/powerpoint/2010/main" val="4125339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AFDEE-7362-7860-26DF-2BD4BFD4D1D6}"/>
              </a:ext>
            </a:extLst>
          </p:cNvPr>
          <p:cNvSpPr>
            <a:spLocks noGrp="1"/>
          </p:cNvSpPr>
          <p:nvPr>
            <p:ph type="title"/>
          </p:nvPr>
        </p:nvSpPr>
        <p:spPr/>
        <p:txBody>
          <a:bodyPr>
            <a:normAutofit/>
          </a:bodyPr>
          <a:lstStyle/>
          <a:p>
            <a:r>
              <a:rPr lang="en-US" sz="3400" dirty="0"/>
              <a:t>Modern extension: projection risks</a:t>
            </a:r>
          </a:p>
        </p:txBody>
      </p:sp>
      <p:sp>
        <p:nvSpPr>
          <p:cNvPr id="3" name="Content Placeholder 2">
            <a:extLst>
              <a:ext uri="{FF2B5EF4-FFF2-40B4-BE49-F238E27FC236}">
                <a16:creationId xmlns:a16="http://schemas.microsoft.com/office/drawing/2014/main" id="{A0CE753D-4FEB-8C4A-5083-1C520F38F53B}"/>
              </a:ext>
            </a:extLst>
          </p:cNvPr>
          <p:cNvSpPr>
            <a:spLocks noGrp="1"/>
          </p:cNvSpPr>
          <p:nvPr>
            <p:ph idx="1"/>
          </p:nvPr>
        </p:nvSpPr>
        <p:spPr/>
        <p:txBody>
          <a:bodyPr/>
          <a:lstStyle/>
          <a:p>
            <a:pPr lvl="0"/>
            <a:r>
              <a:rPr lang="en-US" dirty="0"/>
              <a:t>Projection layers must use the same variables, units, and definitions as calibration layers</a:t>
            </a:r>
          </a:p>
          <a:p>
            <a:pPr lvl="0"/>
            <a:r>
              <a:rPr lang="en-US" dirty="0"/>
              <a:t>Identify environments outside the calibration range using tools such as MESS or MOP</a:t>
            </a:r>
          </a:p>
          <a:p>
            <a:pPr lvl="0"/>
            <a:r>
              <a:rPr lang="en-US" dirty="0"/>
              <a:t>Predictions in novel environments depend on extrapolation assumptions</a:t>
            </a:r>
          </a:p>
          <a:p>
            <a:pPr lvl="0"/>
            <a:r>
              <a:rPr lang="en-US" dirty="0"/>
              <a:t>Compare results across climate models, predictor sets, and resolutions to quantify uncertainty</a:t>
            </a:r>
          </a:p>
        </p:txBody>
      </p:sp>
    </p:spTree>
    <p:extLst>
      <p:ext uri="{BB962C8B-B14F-4D97-AF65-F5344CB8AC3E}">
        <p14:creationId xmlns:p14="http://schemas.microsoft.com/office/powerpoint/2010/main" val="1871069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D53696-CC64-A6B5-AB7D-AA1023F8B8F5}"/>
              </a:ext>
            </a:extLst>
          </p:cNvPr>
          <p:cNvSpPr>
            <a:spLocks noGrp="1"/>
          </p:cNvSpPr>
          <p:nvPr>
            <p:ph type="title"/>
          </p:nvPr>
        </p:nvSpPr>
        <p:spPr>
          <a:xfrm>
            <a:off x="480060" y="244026"/>
            <a:ext cx="3276451" cy="1467631"/>
          </a:xfrm>
        </p:spPr>
        <p:txBody>
          <a:bodyPr anchor="b">
            <a:normAutofit/>
          </a:bodyPr>
          <a:lstStyle/>
          <a:p>
            <a:r>
              <a:rPr lang="en-US" sz="4100"/>
              <a:t>Ancillary data</a:t>
            </a:r>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60" y="1940245"/>
            <a:ext cx="2606040" cy="13716"/>
          </a:xfrm>
          <a:custGeom>
            <a:avLst/>
            <a:gdLst>
              <a:gd name="csX0" fmla="*/ 0 w 2606040"/>
              <a:gd name="csY0" fmla="*/ 0 h 13716"/>
              <a:gd name="csX1" fmla="*/ 625450 w 2606040"/>
              <a:gd name="csY1" fmla="*/ 0 h 13716"/>
              <a:gd name="csX2" fmla="*/ 1224839 w 2606040"/>
              <a:gd name="csY2" fmla="*/ 0 h 13716"/>
              <a:gd name="csX3" fmla="*/ 1824228 w 2606040"/>
              <a:gd name="csY3" fmla="*/ 0 h 13716"/>
              <a:gd name="csX4" fmla="*/ 2606040 w 2606040"/>
              <a:gd name="csY4" fmla="*/ 0 h 13716"/>
              <a:gd name="csX5" fmla="*/ 2606040 w 2606040"/>
              <a:gd name="csY5" fmla="*/ 13716 h 13716"/>
              <a:gd name="csX6" fmla="*/ 1902409 w 2606040"/>
              <a:gd name="csY6" fmla="*/ 13716 h 13716"/>
              <a:gd name="csX7" fmla="*/ 1276960 w 2606040"/>
              <a:gd name="csY7" fmla="*/ 13716 h 13716"/>
              <a:gd name="csX8" fmla="*/ 677570 w 2606040"/>
              <a:gd name="csY8" fmla="*/ 13716 h 13716"/>
              <a:gd name="csX9" fmla="*/ 0 w 2606040"/>
              <a:gd name="csY9" fmla="*/ 13716 h 13716"/>
              <a:gd name="csX10" fmla="*/ 0 w 2606040"/>
              <a:gd name="csY10"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06040" h="13716" fill="none" extrusionOk="0">
                <a:moveTo>
                  <a:pt x="0" y="0"/>
                </a:moveTo>
                <a:cubicBezTo>
                  <a:pt x="266776" y="-600"/>
                  <a:pt x="322756" y="3201"/>
                  <a:pt x="625450" y="0"/>
                </a:cubicBezTo>
                <a:cubicBezTo>
                  <a:pt x="928144" y="-3201"/>
                  <a:pt x="968141" y="9269"/>
                  <a:pt x="1224839" y="0"/>
                </a:cubicBezTo>
                <a:cubicBezTo>
                  <a:pt x="1481537" y="-9269"/>
                  <a:pt x="1569059" y="21947"/>
                  <a:pt x="1824228" y="0"/>
                </a:cubicBezTo>
                <a:cubicBezTo>
                  <a:pt x="2079397" y="-21947"/>
                  <a:pt x="2326053" y="-10194"/>
                  <a:pt x="2606040" y="0"/>
                </a:cubicBezTo>
                <a:cubicBezTo>
                  <a:pt x="2605690" y="5728"/>
                  <a:pt x="2605650" y="7624"/>
                  <a:pt x="2606040" y="13716"/>
                </a:cubicBezTo>
                <a:cubicBezTo>
                  <a:pt x="2256758" y="26838"/>
                  <a:pt x="2173673" y="-17450"/>
                  <a:pt x="1902409" y="13716"/>
                </a:cubicBezTo>
                <a:cubicBezTo>
                  <a:pt x="1631145" y="44882"/>
                  <a:pt x="1461378" y="894"/>
                  <a:pt x="1276960" y="13716"/>
                </a:cubicBezTo>
                <a:cubicBezTo>
                  <a:pt x="1092542" y="26538"/>
                  <a:pt x="890442" y="8641"/>
                  <a:pt x="677570" y="13716"/>
                </a:cubicBezTo>
                <a:cubicBezTo>
                  <a:pt x="464698" y="18792"/>
                  <a:pt x="187648" y="31265"/>
                  <a:pt x="0" y="13716"/>
                </a:cubicBezTo>
                <a:cubicBezTo>
                  <a:pt x="-302" y="10335"/>
                  <a:pt x="417" y="4724"/>
                  <a:pt x="0" y="0"/>
                </a:cubicBezTo>
                <a:close/>
              </a:path>
              <a:path w="2606040" h="13716" stroke="0" extrusionOk="0">
                <a:moveTo>
                  <a:pt x="0" y="0"/>
                </a:moveTo>
                <a:cubicBezTo>
                  <a:pt x="197231" y="3803"/>
                  <a:pt x="358914" y="-9291"/>
                  <a:pt x="599389" y="0"/>
                </a:cubicBezTo>
                <a:cubicBezTo>
                  <a:pt x="839864" y="9291"/>
                  <a:pt x="979371" y="8509"/>
                  <a:pt x="1303020" y="0"/>
                </a:cubicBezTo>
                <a:cubicBezTo>
                  <a:pt x="1626669" y="-8509"/>
                  <a:pt x="1726300" y="7440"/>
                  <a:pt x="1876349" y="0"/>
                </a:cubicBezTo>
                <a:cubicBezTo>
                  <a:pt x="2026398" y="-7440"/>
                  <a:pt x="2430712" y="17957"/>
                  <a:pt x="2606040" y="0"/>
                </a:cubicBezTo>
                <a:cubicBezTo>
                  <a:pt x="2606569" y="5071"/>
                  <a:pt x="2606315" y="7437"/>
                  <a:pt x="2606040" y="13716"/>
                </a:cubicBezTo>
                <a:cubicBezTo>
                  <a:pt x="2393024" y="-2332"/>
                  <a:pt x="2191161" y="34687"/>
                  <a:pt x="1980590" y="13716"/>
                </a:cubicBezTo>
                <a:cubicBezTo>
                  <a:pt x="1770019" y="-7255"/>
                  <a:pt x="1476440" y="31542"/>
                  <a:pt x="1276960" y="13716"/>
                </a:cubicBezTo>
                <a:cubicBezTo>
                  <a:pt x="1077480" y="-4110"/>
                  <a:pt x="880988" y="37553"/>
                  <a:pt x="651510" y="13716"/>
                </a:cubicBezTo>
                <a:cubicBezTo>
                  <a:pt x="422032" y="-10121"/>
                  <a:pt x="130744" y="-6519"/>
                  <a:pt x="0" y="13716"/>
                </a:cubicBezTo>
                <a:cubicBezTo>
                  <a:pt x="198" y="8947"/>
                  <a:pt x="304" y="520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1418E42-77F8-9DD9-599C-351CE8FE0E29}"/>
              </a:ext>
            </a:extLst>
          </p:cNvPr>
          <p:cNvSpPr>
            <a:spLocks noGrp="1"/>
          </p:cNvSpPr>
          <p:nvPr>
            <p:ph idx="1"/>
          </p:nvPr>
        </p:nvSpPr>
        <p:spPr>
          <a:xfrm>
            <a:off x="242047" y="2303480"/>
            <a:ext cx="3953435" cy="2490501"/>
          </a:xfrm>
        </p:spPr>
        <p:txBody>
          <a:bodyPr>
            <a:noAutofit/>
          </a:bodyPr>
          <a:lstStyle/>
          <a:p>
            <a:pPr lvl="0">
              <a:lnSpc>
                <a:spcPct val="90000"/>
              </a:lnSpc>
            </a:pPr>
            <a:r>
              <a:rPr lang="en-US" sz="1700" dirty="0"/>
              <a:t>Geographic barriers, dispersal history, and land use help explain occupied distributions</a:t>
            </a:r>
          </a:p>
          <a:p>
            <a:pPr lvl="0">
              <a:lnSpc>
                <a:spcPct val="90000"/>
              </a:lnSpc>
            </a:pPr>
            <a:r>
              <a:rPr lang="en-US" sz="1700" dirty="0"/>
              <a:t>These layers can refine niche-model predictions after model calibration</a:t>
            </a:r>
          </a:p>
          <a:p>
            <a:pPr lvl="0">
              <a:lnSpc>
                <a:spcPct val="100000"/>
              </a:lnSpc>
            </a:pPr>
            <a:r>
              <a:rPr lang="en-US" sz="1700" dirty="0"/>
              <a:t>Latitude and longitude should not substitute for environmental mechanisms when ecological interpretation or transfer is the goal</a:t>
            </a:r>
          </a:p>
        </p:txBody>
      </p:sp>
      <p:pic>
        <p:nvPicPr>
          <p:cNvPr id="4" name="Picture 3">
            <a:extLst>
              <a:ext uri="{FF2B5EF4-FFF2-40B4-BE49-F238E27FC236}">
                <a16:creationId xmlns:a16="http://schemas.microsoft.com/office/drawing/2014/main" id="{12EFF484-3610-7CA9-9931-35C3CBEA7757}"/>
              </a:ext>
              <a:ext uri="{C183D7F6-B498-43B3-948B-1728B52AA6E4}">
                <adec:decorative xmlns:adec="http://schemas.microsoft.com/office/drawing/2017/decorative" val="1"/>
              </a:ext>
            </a:extLst>
          </p:cNvPr>
          <p:cNvPicPr>
            <a:picLocks noChangeAspect="1"/>
          </p:cNvPicPr>
          <p:nvPr/>
        </p:nvPicPr>
        <p:blipFill>
          <a:blip r:embed="rId2"/>
          <a:srcRect l="4405" t="9029" r="-4405" b="42368"/>
          <a:stretch>
            <a:fillRect/>
          </a:stretch>
        </p:blipFill>
        <p:spPr>
          <a:xfrm>
            <a:off x="4212375" y="10"/>
            <a:ext cx="5159081" cy="51434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7" name="TextBox 6">
            <a:extLst>
              <a:ext uri="{FF2B5EF4-FFF2-40B4-BE49-F238E27FC236}">
                <a16:creationId xmlns:a16="http://schemas.microsoft.com/office/drawing/2014/main" id="{1B85886F-D59C-377A-ED8C-DFA36C7099D7}"/>
              </a:ext>
            </a:extLst>
          </p:cNvPr>
          <p:cNvSpPr txBox="1"/>
          <p:nvPr/>
        </p:nvSpPr>
        <p:spPr>
          <a:xfrm>
            <a:off x="4651708" y="4557323"/>
            <a:ext cx="4699746" cy="553998"/>
          </a:xfrm>
          <a:prstGeom prst="rect">
            <a:avLst/>
          </a:prstGeom>
          <a:noFill/>
        </p:spPr>
        <p:txBody>
          <a:bodyPr wrap="square">
            <a:spAutoFit/>
          </a:bodyPr>
          <a:lstStyle/>
          <a:p>
            <a:r>
              <a:rPr lang="en-US" sz="1000" b="1" dirty="0">
                <a:solidFill>
                  <a:schemeClr val="bg1"/>
                </a:solidFill>
              </a:rPr>
              <a:t>Falaschi, M., Simoncini, A., </a:t>
            </a:r>
            <a:r>
              <a:rPr lang="en-US" sz="1000" b="1" dirty="0" err="1">
                <a:solidFill>
                  <a:schemeClr val="bg1"/>
                </a:solidFill>
              </a:rPr>
              <a:t>Ancillotto</a:t>
            </a:r>
            <a:r>
              <a:rPr lang="en-US" sz="1000" b="1" dirty="0">
                <a:solidFill>
                  <a:schemeClr val="bg1"/>
                </a:solidFill>
              </a:rPr>
              <a:t>, L., Viviano, A., </a:t>
            </a:r>
            <a:r>
              <a:rPr lang="en-US" sz="1000" b="1" dirty="0" err="1">
                <a:solidFill>
                  <a:schemeClr val="bg1"/>
                </a:solidFill>
              </a:rPr>
              <a:t>Menchetti</a:t>
            </a:r>
            <a:r>
              <a:rPr lang="en-US" sz="1000" b="1" dirty="0">
                <a:solidFill>
                  <a:schemeClr val="bg1"/>
                </a:solidFill>
              </a:rPr>
              <a:t>, M., Mazza, G. and Mori, E., 2025. Crossing borders: Connectivity analyses reveal potential patterns of range expansion of the Northern raccoon in Europe. </a:t>
            </a:r>
            <a:r>
              <a:rPr lang="en-US" sz="1000" b="1" i="1" dirty="0" err="1">
                <a:solidFill>
                  <a:schemeClr val="bg1"/>
                </a:solidFill>
              </a:rPr>
              <a:t>NeoBiota</a:t>
            </a:r>
            <a:r>
              <a:rPr lang="en-US" sz="1000" b="1" dirty="0">
                <a:solidFill>
                  <a:schemeClr val="bg1"/>
                </a:solidFill>
              </a:rPr>
              <a:t>, </a:t>
            </a:r>
            <a:r>
              <a:rPr lang="en-US" sz="1000" b="1" i="1" dirty="0">
                <a:solidFill>
                  <a:schemeClr val="bg1"/>
                </a:solidFill>
              </a:rPr>
              <a:t>99</a:t>
            </a:r>
            <a:r>
              <a:rPr lang="en-US" sz="1000" b="1" dirty="0">
                <a:solidFill>
                  <a:schemeClr val="bg1"/>
                </a:solidFill>
              </a:rPr>
              <a:t>, pp.71-92.</a:t>
            </a:r>
          </a:p>
        </p:txBody>
      </p:sp>
    </p:spTree>
    <p:extLst>
      <p:ext uri="{BB962C8B-B14F-4D97-AF65-F5344CB8AC3E}">
        <p14:creationId xmlns:p14="http://schemas.microsoft.com/office/powerpoint/2010/main" val="2910929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97268-F428-A327-C193-765450004B0E}"/>
              </a:ext>
            </a:extLst>
          </p:cNvPr>
          <p:cNvSpPr>
            <a:spLocks noGrp="1"/>
          </p:cNvSpPr>
          <p:nvPr>
            <p:ph type="title"/>
          </p:nvPr>
        </p:nvSpPr>
        <p:spPr/>
        <p:txBody>
          <a:bodyPr>
            <a:normAutofit/>
          </a:bodyPr>
          <a:lstStyle/>
          <a:p>
            <a:r>
              <a:rPr lang="en-US" sz="3400" dirty="0"/>
              <a:t>Environmental-data audit</a:t>
            </a:r>
          </a:p>
        </p:txBody>
      </p:sp>
      <p:sp>
        <p:nvSpPr>
          <p:cNvPr id="3" name="Content Placeholder 2">
            <a:extLst>
              <a:ext uri="{FF2B5EF4-FFF2-40B4-BE49-F238E27FC236}">
                <a16:creationId xmlns:a16="http://schemas.microsoft.com/office/drawing/2014/main" id="{CBB739CC-57F3-030A-5DAD-83D72068F85A}"/>
              </a:ext>
            </a:extLst>
          </p:cNvPr>
          <p:cNvSpPr>
            <a:spLocks noGrp="1"/>
          </p:cNvSpPr>
          <p:nvPr>
            <p:ph idx="1"/>
          </p:nvPr>
        </p:nvSpPr>
        <p:spPr/>
        <p:txBody>
          <a:bodyPr/>
          <a:lstStyle/>
          <a:p>
            <a:pPr marL="0" indent="0">
              <a:buNone/>
            </a:pPr>
            <a:r>
              <a:rPr lang="en-US" dirty="0"/>
              <a:t>When you select your predictor variables, be sure to answer the following questions.</a:t>
            </a:r>
          </a:p>
          <a:p>
            <a:pPr lvl="0"/>
            <a:r>
              <a:rPr lang="en-US" dirty="0"/>
              <a:t>What ecological process does it represent?</a:t>
            </a:r>
          </a:p>
          <a:p>
            <a:pPr lvl="0"/>
            <a:r>
              <a:rPr lang="en-US" dirty="0"/>
              <a:t>Is it direct, indirect, or a resource?</a:t>
            </a:r>
          </a:p>
          <a:p>
            <a:pPr lvl="0"/>
            <a:r>
              <a:rPr lang="en-US" dirty="0"/>
              <a:t>What are its extent, resolution, and time period?</a:t>
            </a:r>
          </a:p>
          <a:p>
            <a:pPr lvl="0"/>
            <a:r>
              <a:rPr lang="en-US" dirty="0"/>
              <a:t>How was it generated?</a:t>
            </a:r>
          </a:p>
          <a:p>
            <a:pPr lvl="0"/>
            <a:r>
              <a:rPr lang="en-US" dirty="0"/>
              <a:t>What mismatch or uncertainty in this variable could affect the model?</a:t>
            </a:r>
          </a:p>
        </p:txBody>
      </p:sp>
    </p:spTree>
    <p:extLst>
      <p:ext uri="{BB962C8B-B14F-4D97-AF65-F5344CB8AC3E}">
        <p14:creationId xmlns:p14="http://schemas.microsoft.com/office/powerpoint/2010/main" val="3677698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05F52-676C-3A6F-9645-A28DAB86ED1C}"/>
              </a:ext>
            </a:extLst>
          </p:cNvPr>
          <p:cNvSpPr>
            <a:spLocks noGrp="1"/>
          </p:cNvSpPr>
          <p:nvPr>
            <p:ph type="title"/>
          </p:nvPr>
        </p:nvSpPr>
        <p:spPr>
          <a:xfrm>
            <a:off x="1801167" y="2009439"/>
            <a:ext cx="5541666" cy="857250"/>
          </a:xfrm>
        </p:spPr>
        <p:txBody>
          <a:bodyPr/>
          <a:lstStyle/>
          <a:p>
            <a:r>
              <a:rPr lang="en-US" dirty="0"/>
              <a:t>Environmental data practicalities</a:t>
            </a:r>
          </a:p>
        </p:txBody>
      </p:sp>
    </p:spTree>
    <p:extLst>
      <p:ext uri="{BB962C8B-B14F-4D97-AF65-F5344CB8AC3E}">
        <p14:creationId xmlns:p14="http://schemas.microsoft.com/office/powerpoint/2010/main" val="38893724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3F424-7282-F920-45BC-AF92AC15CEE8}"/>
              </a:ext>
            </a:extLst>
          </p:cNvPr>
          <p:cNvSpPr>
            <a:spLocks noGrp="1"/>
          </p:cNvSpPr>
          <p:nvPr>
            <p:ph type="title"/>
          </p:nvPr>
        </p:nvSpPr>
        <p:spPr/>
        <p:txBody>
          <a:bodyPr>
            <a:normAutofit/>
          </a:bodyPr>
          <a:lstStyle/>
          <a:p>
            <a:r>
              <a:rPr lang="en-US" dirty="0"/>
              <a:t>Environmental data file types</a:t>
            </a:r>
          </a:p>
        </p:txBody>
      </p:sp>
      <p:sp>
        <p:nvSpPr>
          <p:cNvPr id="3" name="Content Placeholder 2">
            <a:extLst>
              <a:ext uri="{FF2B5EF4-FFF2-40B4-BE49-F238E27FC236}">
                <a16:creationId xmlns:a16="http://schemas.microsoft.com/office/drawing/2014/main" id="{3BF8BFED-721F-AD35-8E4C-4E3E2A6178A9}"/>
              </a:ext>
            </a:extLst>
          </p:cNvPr>
          <p:cNvSpPr>
            <a:spLocks noGrp="1"/>
          </p:cNvSpPr>
          <p:nvPr>
            <p:ph idx="1"/>
          </p:nvPr>
        </p:nvSpPr>
        <p:spPr/>
        <p:txBody>
          <a:bodyPr/>
          <a:lstStyle/>
          <a:p>
            <a:pPr lvl="0"/>
            <a:r>
              <a:rPr lang="en-US" dirty="0" err="1"/>
              <a:t>GeoTIFF</a:t>
            </a:r>
            <a:r>
              <a:rPr lang="en-US" dirty="0"/>
              <a:t> (.</a:t>
            </a:r>
            <a:r>
              <a:rPr lang="en-US" dirty="0" err="1"/>
              <a:t>tif</a:t>
            </a:r>
            <a:r>
              <a:rPr lang="en-US" dirty="0"/>
              <a:t>)</a:t>
            </a:r>
          </a:p>
          <a:p>
            <a:pPr lvl="0"/>
            <a:r>
              <a:rPr lang="en-US" dirty="0" err="1"/>
              <a:t>NetCDF</a:t>
            </a:r>
            <a:r>
              <a:rPr lang="en-US" dirty="0"/>
              <a:t> (.nc)</a:t>
            </a:r>
          </a:p>
          <a:p>
            <a:pPr lvl="0"/>
            <a:r>
              <a:rPr lang="en-US" dirty="0"/>
              <a:t>sometimes CSV or other spatial formats</a:t>
            </a:r>
          </a:p>
          <a:p>
            <a:endParaRPr lang="en-US" dirty="0"/>
          </a:p>
        </p:txBody>
      </p:sp>
      <p:sp>
        <p:nvSpPr>
          <p:cNvPr id="4" name="TextBox 3">
            <a:extLst>
              <a:ext uri="{FF2B5EF4-FFF2-40B4-BE49-F238E27FC236}">
                <a16:creationId xmlns:a16="http://schemas.microsoft.com/office/drawing/2014/main" id="{815B6FAE-FFE7-ABEF-2B6C-A09B82E4730E}"/>
              </a:ext>
            </a:extLst>
          </p:cNvPr>
          <p:cNvSpPr txBox="1"/>
          <p:nvPr/>
        </p:nvSpPr>
        <p:spPr>
          <a:xfrm>
            <a:off x="457200" y="3095383"/>
            <a:ext cx="6400800" cy="923330"/>
          </a:xfrm>
          <a:prstGeom prst="rect">
            <a:avLst/>
          </a:prstGeom>
          <a:noFill/>
        </p:spPr>
        <p:txBody>
          <a:bodyPr wrap="square">
            <a:spAutoFit/>
          </a:bodyPr>
          <a:lstStyle/>
          <a:p>
            <a:pPr rtl="0">
              <a:buNone/>
            </a:pPr>
            <a:r>
              <a:rPr lang="en-US" dirty="0">
                <a:solidFill>
                  <a:schemeClr val="accent1">
                    <a:lumMod val="75000"/>
                  </a:schemeClr>
                </a:solidFill>
                <a:latin typeface="+mn-lt"/>
              </a:rPr>
              <a:t>library(terra)</a:t>
            </a:r>
          </a:p>
          <a:p>
            <a:pPr rtl="0">
              <a:buNone/>
            </a:pPr>
            <a:endParaRPr lang="en-US" dirty="0">
              <a:solidFill>
                <a:schemeClr val="accent1">
                  <a:lumMod val="75000"/>
                </a:schemeClr>
              </a:solidFill>
              <a:latin typeface="+mn-lt"/>
            </a:endParaRPr>
          </a:p>
          <a:p>
            <a:pPr rtl="0">
              <a:buNone/>
            </a:pPr>
            <a:r>
              <a:rPr lang="en-US" dirty="0">
                <a:solidFill>
                  <a:schemeClr val="accent1">
                    <a:lumMod val="75000"/>
                  </a:schemeClr>
                </a:solidFill>
                <a:latin typeface="+mn-lt"/>
              </a:rPr>
              <a:t>temp &lt;- </a:t>
            </a:r>
            <a:r>
              <a:rPr lang="en-US" dirty="0" err="1">
                <a:solidFill>
                  <a:schemeClr val="accent1">
                    <a:lumMod val="75000"/>
                  </a:schemeClr>
                </a:solidFill>
                <a:latin typeface="+mn-lt"/>
              </a:rPr>
              <a:t>rast</a:t>
            </a:r>
            <a:r>
              <a:rPr lang="en-US" dirty="0">
                <a:solidFill>
                  <a:schemeClr val="accent1">
                    <a:lumMod val="75000"/>
                  </a:schemeClr>
                </a:solidFill>
                <a:latin typeface="+mn-lt"/>
              </a:rPr>
              <a:t>("data/environment/</a:t>
            </a:r>
            <a:r>
              <a:rPr lang="en-US" dirty="0" err="1">
                <a:solidFill>
                  <a:schemeClr val="accent1">
                    <a:lumMod val="75000"/>
                  </a:schemeClr>
                </a:solidFill>
                <a:latin typeface="+mn-lt"/>
              </a:rPr>
              <a:t>temperature.tif</a:t>
            </a:r>
            <a:r>
              <a:rPr lang="en-US" dirty="0">
                <a:solidFill>
                  <a:schemeClr val="accent1">
                    <a:lumMod val="75000"/>
                  </a:schemeClr>
                </a:solidFill>
                <a:latin typeface="+mn-lt"/>
              </a:rPr>
              <a:t>")</a:t>
            </a:r>
            <a:endParaRPr lang="en-US" dirty="0">
              <a:solidFill>
                <a:schemeClr val="accent1">
                  <a:lumMod val="75000"/>
                </a:schemeClr>
              </a:solidFill>
              <a:latin typeface="Courier New" panose="02070309020205020404" pitchFamily="49" charset="0"/>
            </a:endParaRPr>
          </a:p>
        </p:txBody>
      </p:sp>
    </p:spTree>
    <p:extLst>
      <p:ext uri="{BB962C8B-B14F-4D97-AF65-F5344CB8AC3E}">
        <p14:creationId xmlns:p14="http://schemas.microsoft.com/office/powerpoint/2010/main" val="29539066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A84AA-E13C-E4D2-3E68-69E843952030}"/>
              </a:ext>
            </a:extLst>
          </p:cNvPr>
          <p:cNvSpPr>
            <a:spLocks noGrp="1"/>
          </p:cNvSpPr>
          <p:nvPr>
            <p:ph type="title"/>
          </p:nvPr>
        </p:nvSpPr>
        <p:spPr/>
        <p:txBody>
          <a:bodyPr/>
          <a:lstStyle/>
          <a:p>
            <a:r>
              <a:rPr lang="en-US" dirty="0"/>
              <a:t>Working with multiple environmental variables</a:t>
            </a:r>
          </a:p>
        </p:txBody>
      </p:sp>
      <p:sp>
        <p:nvSpPr>
          <p:cNvPr id="5" name="TextBox 4">
            <a:extLst>
              <a:ext uri="{FF2B5EF4-FFF2-40B4-BE49-F238E27FC236}">
                <a16:creationId xmlns:a16="http://schemas.microsoft.com/office/drawing/2014/main" id="{744C96EE-907C-41AB-D24C-865A6C7FECC6}"/>
              </a:ext>
            </a:extLst>
          </p:cNvPr>
          <p:cNvSpPr txBox="1"/>
          <p:nvPr/>
        </p:nvSpPr>
        <p:spPr>
          <a:xfrm>
            <a:off x="778747" y="1648420"/>
            <a:ext cx="6400800" cy="2585323"/>
          </a:xfrm>
          <a:prstGeom prst="rect">
            <a:avLst/>
          </a:prstGeom>
          <a:noFill/>
        </p:spPr>
        <p:txBody>
          <a:bodyPr wrap="square">
            <a:spAutoFit/>
          </a:bodyPr>
          <a:lstStyle/>
          <a:p>
            <a:r>
              <a:rPr lang="en-US" dirty="0">
                <a:solidFill>
                  <a:schemeClr val="accent1">
                    <a:lumMod val="75000"/>
                  </a:schemeClr>
                </a:solidFill>
              </a:rPr>
              <a:t>temp &lt;- </a:t>
            </a:r>
            <a:r>
              <a:rPr lang="en-US" dirty="0" err="1">
                <a:solidFill>
                  <a:schemeClr val="accent1">
                    <a:lumMod val="75000"/>
                  </a:schemeClr>
                </a:solidFill>
              </a:rPr>
              <a:t>rast</a:t>
            </a:r>
            <a:r>
              <a:rPr lang="en-US" dirty="0">
                <a:solidFill>
                  <a:schemeClr val="accent1">
                    <a:lumMod val="75000"/>
                  </a:schemeClr>
                </a:solidFill>
              </a:rPr>
              <a:t>("data/environment/</a:t>
            </a:r>
            <a:r>
              <a:rPr lang="en-US" dirty="0" err="1">
                <a:solidFill>
                  <a:schemeClr val="accent1">
                    <a:lumMod val="75000"/>
                  </a:schemeClr>
                </a:solidFill>
              </a:rPr>
              <a:t>temperature.tif</a:t>
            </a:r>
            <a:r>
              <a:rPr lang="en-US" dirty="0">
                <a:solidFill>
                  <a:schemeClr val="accent1">
                    <a:lumMod val="75000"/>
                  </a:schemeClr>
                </a:solidFill>
              </a:rPr>
              <a:t>")</a:t>
            </a:r>
          </a:p>
          <a:p>
            <a:r>
              <a:rPr lang="en-US" dirty="0" err="1">
                <a:solidFill>
                  <a:schemeClr val="accent1">
                    <a:lumMod val="75000"/>
                  </a:schemeClr>
                </a:solidFill>
              </a:rPr>
              <a:t>precip</a:t>
            </a:r>
            <a:r>
              <a:rPr lang="en-US" dirty="0">
                <a:solidFill>
                  <a:schemeClr val="accent1">
                    <a:lumMod val="75000"/>
                  </a:schemeClr>
                </a:solidFill>
              </a:rPr>
              <a:t> &lt;- </a:t>
            </a:r>
            <a:r>
              <a:rPr lang="en-US" dirty="0" err="1">
                <a:solidFill>
                  <a:schemeClr val="accent1">
                    <a:lumMod val="75000"/>
                  </a:schemeClr>
                </a:solidFill>
              </a:rPr>
              <a:t>rast</a:t>
            </a:r>
            <a:r>
              <a:rPr lang="en-US" dirty="0">
                <a:solidFill>
                  <a:schemeClr val="accent1">
                    <a:lumMod val="75000"/>
                  </a:schemeClr>
                </a:solidFill>
              </a:rPr>
              <a:t>("data/environment/</a:t>
            </a:r>
            <a:r>
              <a:rPr lang="en-US" dirty="0" err="1">
                <a:solidFill>
                  <a:schemeClr val="accent1">
                    <a:lumMod val="75000"/>
                  </a:schemeClr>
                </a:solidFill>
              </a:rPr>
              <a:t>precipitation.tif</a:t>
            </a:r>
            <a:r>
              <a:rPr lang="en-US" dirty="0">
                <a:solidFill>
                  <a:schemeClr val="accent1">
                    <a:lumMod val="75000"/>
                  </a:schemeClr>
                </a:solidFill>
              </a:rPr>
              <a:t>")</a:t>
            </a:r>
          </a:p>
          <a:p>
            <a:endParaRPr lang="en-US" dirty="0">
              <a:solidFill>
                <a:schemeClr val="accent1">
                  <a:lumMod val="75000"/>
                </a:schemeClr>
              </a:solidFill>
            </a:endParaRPr>
          </a:p>
          <a:p>
            <a:r>
              <a:rPr lang="en-US" dirty="0">
                <a:solidFill>
                  <a:schemeClr val="accent1">
                    <a:lumMod val="75000"/>
                  </a:schemeClr>
                </a:solidFill>
              </a:rPr>
              <a:t>env &lt;- c(temp, </a:t>
            </a:r>
            <a:r>
              <a:rPr lang="en-US" dirty="0" err="1">
                <a:solidFill>
                  <a:schemeClr val="accent1">
                    <a:lumMod val="75000"/>
                  </a:schemeClr>
                </a:solidFill>
              </a:rPr>
              <a:t>precip</a:t>
            </a:r>
            <a:r>
              <a:rPr lang="en-US" dirty="0">
                <a:solidFill>
                  <a:schemeClr val="accent1">
                    <a:lumMod val="75000"/>
                  </a:schemeClr>
                </a:solidFill>
              </a:rPr>
              <a:t>)</a:t>
            </a:r>
          </a:p>
          <a:p>
            <a:endParaRPr lang="en-US" dirty="0">
              <a:solidFill>
                <a:schemeClr val="accent1">
                  <a:lumMod val="75000"/>
                </a:schemeClr>
              </a:solidFill>
            </a:endParaRPr>
          </a:p>
          <a:p>
            <a:r>
              <a:rPr lang="en-US" dirty="0">
                <a:solidFill>
                  <a:schemeClr val="accent1">
                    <a:lumMod val="75000"/>
                  </a:schemeClr>
                </a:solidFill>
              </a:rPr>
              <a:t>names(env) &lt;- c("temperature", "precipitation")</a:t>
            </a:r>
          </a:p>
          <a:p>
            <a:endParaRPr lang="en-US" dirty="0">
              <a:solidFill>
                <a:schemeClr val="accent1">
                  <a:lumMod val="75000"/>
                </a:schemeClr>
              </a:solidFill>
            </a:endParaRPr>
          </a:p>
          <a:p>
            <a:r>
              <a:rPr lang="en-US" dirty="0">
                <a:solidFill>
                  <a:schemeClr val="accent1">
                    <a:lumMod val="75000"/>
                  </a:schemeClr>
                </a:solidFill>
              </a:rPr>
              <a:t>env</a:t>
            </a:r>
          </a:p>
          <a:p>
            <a:r>
              <a:rPr lang="en-US" dirty="0">
                <a:solidFill>
                  <a:schemeClr val="accent1">
                    <a:lumMod val="75000"/>
                  </a:schemeClr>
                </a:solidFill>
              </a:rPr>
              <a:t>plot(env)</a:t>
            </a:r>
          </a:p>
        </p:txBody>
      </p:sp>
    </p:spTree>
    <p:extLst>
      <p:ext uri="{BB962C8B-B14F-4D97-AF65-F5344CB8AC3E}">
        <p14:creationId xmlns:p14="http://schemas.microsoft.com/office/powerpoint/2010/main" val="32837502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94D52-8BA0-8FE1-772F-9B279764439F}"/>
              </a:ext>
            </a:extLst>
          </p:cNvPr>
          <p:cNvSpPr>
            <a:spLocks noGrp="1"/>
          </p:cNvSpPr>
          <p:nvPr>
            <p:ph type="title"/>
          </p:nvPr>
        </p:nvSpPr>
        <p:spPr/>
        <p:txBody>
          <a:bodyPr/>
          <a:lstStyle/>
          <a:p>
            <a:r>
              <a:rPr lang="en-US" dirty="0"/>
              <a:t>Occurrence points and rasters need to align</a:t>
            </a:r>
          </a:p>
        </p:txBody>
      </p:sp>
      <p:sp>
        <p:nvSpPr>
          <p:cNvPr id="3" name="Content Placeholder 2">
            <a:extLst>
              <a:ext uri="{FF2B5EF4-FFF2-40B4-BE49-F238E27FC236}">
                <a16:creationId xmlns:a16="http://schemas.microsoft.com/office/drawing/2014/main" id="{C8C2C77F-911D-281B-C626-D63C8DE354E5}"/>
              </a:ext>
            </a:extLst>
          </p:cNvPr>
          <p:cNvSpPr>
            <a:spLocks noGrp="1"/>
          </p:cNvSpPr>
          <p:nvPr>
            <p:ph idx="1"/>
          </p:nvPr>
        </p:nvSpPr>
        <p:spPr>
          <a:xfrm>
            <a:off x="582804" y="1329292"/>
            <a:ext cx="8103996" cy="3265331"/>
          </a:xfrm>
        </p:spPr>
        <p:txBody>
          <a:bodyPr/>
          <a:lstStyle/>
          <a:p>
            <a:pPr marL="0" indent="0">
              <a:buNone/>
            </a:pPr>
            <a:r>
              <a:rPr lang="en-US" dirty="0" err="1">
                <a:solidFill>
                  <a:schemeClr val="accent1">
                    <a:lumMod val="75000"/>
                  </a:schemeClr>
                </a:solidFill>
              </a:rPr>
              <a:t>st_crs</a:t>
            </a:r>
            <a:r>
              <a:rPr lang="en-US" dirty="0">
                <a:solidFill>
                  <a:schemeClr val="accent1">
                    <a:lumMod val="75000"/>
                  </a:schemeClr>
                </a:solidFill>
              </a:rPr>
              <a:t>(</a:t>
            </a:r>
            <a:r>
              <a:rPr lang="en-US" dirty="0" err="1">
                <a:solidFill>
                  <a:schemeClr val="accent1">
                    <a:lumMod val="75000"/>
                  </a:schemeClr>
                </a:solidFill>
              </a:rPr>
              <a:t>occ_sf</a:t>
            </a:r>
            <a:r>
              <a:rPr lang="en-US" dirty="0">
                <a:solidFill>
                  <a:schemeClr val="accent1">
                    <a:lumMod val="75000"/>
                  </a:schemeClr>
                </a:solidFill>
              </a:rPr>
              <a:t>)</a:t>
            </a:r>
          </a:p>
          <a:p>
            <a:endParaRPr lang="en-US" dirty="0">
              <a:solidFill>
                <a:schemeClr val="accent1">
                  <a:lumMod val="75000"/>
                </a:schemeClr>
              </a:solidFill>
            </a:endParaRPr>
          </a:p>
          <a:p>
            <a:pPr marL="0" indent="0">
              <a:buNone/>
            </a:pPr>
            <a:r>
              <a:rPr lang="en-US" dirty="0" err="1">
                <a:solidFill>
                  <a:schemeClr val="accent1">
                    <a:lumMod val="75000"/>
                  </a:schemeClr>
                </a:solidFill>
              </a:rPr>
              <a:t>crs</a:t>
            </a:r>
            <a:r>
              <a:rPr lang="en-US" dirty="0">
                <a:solidFill>
                  <a:schemeClr val="accent1">
                    <a:lumMod val="75000"/>
                  </a:schemeClr>
                </a:solidFill>
              </a:rPr>
              <a:t>(env)</a:t>
            </a:r>
          </a:p>
          <a:p>
            <a:pPr marL="0" indent="0">
              <a:buNone/>
            </a:pPr>
            <a:endParaRPr lang="en-US" dirty="0">
              <a:solidFill>
                <a:schemeClr val="accent1">
                  <a:lumMod val="75000"/>
                </a:schemeClr>
              </a:solidFill>
            </a:endParaRPr>
          </a:p>
          <a:p>
            <a:pPr marL="0" indent="0">
              <a:buNone/>
            </a:pPr>
            <a:r>
              <a:rPr lang="en-US" dirty="0" err="1">
                <a:solidFill>
                  <a:schemeClr val="accent1">
                    <a:lumMod val="75000"/>
                  </a:schemeClr>
                </a:solidFill>
              </a:rPr>
              <a:t>env_crop</a:t>
            </a:r>
            <a:r>
              <a:rPr lang="en-US" dirty="0">
                <a:solidFill>
                  <a:schemeClr val="accent1">
                    <a:lumMod val="75000"/>
                  </a:schemeClr>
                </a:solidFill>
              </a:rPr>
              <a:t> &lt;- crop(env, </a:t>
            </a:r>
            <a:r>
              <a:rPr lang="en-US" dirty="0" err="1">
                <a:solidFill>
                  <a:schemeClr val="accent1">
                    <a:lumMod val="75000"/>
                  </a:schemeClr>
                </a:solidFill>
              </a:rPr>
              <a:t>vect</a:t>
            </a:r>
            <a:r>
              <a:rPr lang="en-US" dirty="0">
                <a:solidFill>
                  <a:schemeClr val="accent1">
                    <a:lumMod val="75000"/>
                  </a:schemeClr>
                </a:solidFill>
              </a:rPr>
              <a:t>(</a:t>
            </a:r>
            <a:r>
              <a:rPr lang="en-US" dirty="0" err="1">
                <a:solidFill>
                  <a:schemeClr val="accent1">
                    <a:lumMod val="75000"/>
                  </a:schemeClr>
                </a:solidFill>
              </a:rPr>
              <a:t>occ_sf</a:t>
            </a:r>
            <a:r>
              <a:rPr lang="en-US" dirty="0">
                <a:solidFill>
                  <a:schemeClr val="accent1">
                    <a:lumMod val="75000"/>
                  </a:schemeClr>
                </a:solidFill>
              </a:rPr>
              <a:t>))</a:t>
            </a:r>
          </a:p>
          <a:p>
            <a:pPr marL="0" indent="0">
              <a:buNone/>
            </a:pPr>
            <a:endParaRPr lang="en-US" dirty="0">
              <a:solidFill>
                <a:schemeClr val="accent1">
                  <a:lumMod val="75000"/>
                </a:schemeClr>
              </a:solidFill>
            </a:endParaRPr>
          </a:p>
          <a:p>
            <a:pPr marL="0" indent="0">
              <a:buNone/>
            </a:pPr>
            <a:endParaRPr lang="en-US" dirty="0"/>
          </a:p>
        </p:txBody>
      </p:sp>
      <p:sp>
        <p:nvSpPr>
          <p:cNvPr id="5" name="TextBox 4">
            <a:extLst>
              <a:ext uri="{FF2B5EF4-FFF2-40B4-BE49-F238E27FC236}">
                <a16:creationId xmlns:a16="http://schemas.microsoft.com/office/drawing/2014/main" id="{5BE44998-43DF-6731-3F97-02ED5BCC9997}"/>
              </a:ext>
            </a:extLst>
          </p:cNvPr>
          <p:cNvSpPr txBox="1"/>
          <p:nvPr/>
        </p:nvSpPr>
        <p:spPr>
          <a:xfrm>
            <a:off x="4496637" y="1329291"/>
            <a:ext cx="4572000" cy="1477328"/>
          </a:xfrm>
          <a:prstGeom prst="rect">
            <a:avLst/>
          </a:prstGeom>
          <a:noFill/>
        </p:spPr>
        <p:txBody>
          <a:bodyPr wrap="square">
            <a:spAutoFit/>
          </a:bodyPr>
          <a:lstStyle/>
          <a:p>
            <a:pPr>
              <a:buNone/>
            </a:pPr>
            <a:r>
              <a:rPr lang="en-US" dirty="0"/>
              <a:t>You may need to:</a:t>
            </a:r>
          </a:p>
          <a:p>
            <a:pPr marL="342900" lvl="0" indent="-342900">
              <a:buFont typeface="Arial" panose="020B0604020202020204" pitchFamily="34" charset="0"/>
              <a:buChar char="•"/>
            </a:pPr>
            <a:r>
              <a:rPr lang="en-US" dirty="0"/>
              <a:t>transform a CRS</a:t>
            </a:r>
          </a:p>
          <a:p>
            <a:pPr marL="342900" lvl="0" indent="-342900">
              <a:buFont typeface="Arial" panose="020B0604020202020204" pitchFamily="34" charset="0"/>
              <a:buChar char="•"/>
            </a:pPr>
            <a:r>
              <a:rPr lang="en-US" dirty="0"/>
              <a:t>crop the environmental data</a:t>
            </a:r>
          </a:p>
          <a:p>
            <a:pPr marL="342900" lvl="0" indent="-342900">
              <a:buFont typeface="Arial" panose="020B0604020202020204" pitchFamily="34" charset="0"/>
              <a:buChar char="•"/>
            </a:pPr>
            <a:r>
              <a:rPr lang="en-US" dirty="0"/>
              <a:t>check the raster resolution</a:t>
            </a:r>
          </a:p>
          <a:p>
            <a:pPr marL="342900" lvl="0" indent="-342900">
              <a:buFont typeface="Arial" panose="020B0604020202020204" pitchFamily="34" charset="0"/>
              <a:buChar char="•"/>
            </a:pPr>
            <a:r>
              <a:rPr lang="en-US" dirty="0"/>
              <a:t>check that all layers line up</a:t>
            </a:r>
          </a:p>
        </p:txBody>
      </p:sp>
    </p:spTree>
    <p:extLst>
      <p:ext uri="{BB962C8B-B14F-4D97-AF65-F5344CB8AC3E}">
        <p14:creationId xmlns:p14="http://schemas.microsoft.com/office/powerpoint/2010/main" val="36052812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74215-D121-E57F-FAA9-571DA8F9C807}"/>
              </a:ext>
            </a:extLst>
          </p:cNvPr>
          <p:cNvSpPr>
            <a:spLocks noGrp="1"/>
          </p:cNvSpPr>
          <p:nvPr>
            <p:ph type="title"/>
          </p:nvPr>
        </p:nvSpPr>
        <p:spPr/>
        <p:txBody>
          <a:bodyPr/>
          <a:lstStyle/>
          <a:p>
            <a:r>
              <a:rPr lang="en-US" dirty="0"/>
              <a:t>Transform variables</a:t>
            </a:r>
          </a:p>
        </p:txBody>
      </p:sp>
      <p:sp>
        <p:nvSpPr>
          <p:cNvPr id="3" name="Content Placeholder 2">
            <a:extLst>
              <a:ext uri="{FF2B5EF4-FFF2-40B4-BE49-F238E27FC236}">
                <a16:creationId xmlns:a16="http://schemas.microsoft.com/office/drawing/2014/main" id="{7E185854-36DC-4DDF-0436-5BF79C2E1626}"/>
              </a:ext>
            </a:extLst>
          </p:cNvPr>
          <p:cNvSpPr>
            <a:spLocks noGrp="1"/>
          </p:cNvSpPr>
          <p:nvPr>
            <p:ph idx="1"/>
          </p:nvPr>
        </p:nvSpPr>
        <p:spPr/>
        <p:txBody>
          <a:bodyPr/>
          <a:lstStyle/>
          <a:p>
            <a:pPr marL="0" indent="0">
              <a:buNone/>
            </a:pPr>
            <a:r>
              <a:rPr lang="en-US" dirty="0">
                <a:solidFill>
                  <a:schemeClr val="accent1">
                    <a:lumMod val="75000"/>
                  </a:schemeClr>
                </a:solidFill>
              </a:rPr>
              <a:t>precip_log10 &lt;- log10(env[["precipitation"]])</a:t>
            </a:r>
          </a:p>
          <a:p>
            <a:pPr marL="0" indent="0">
              <a:buNone/>
            </a:pPr>
            <a:endParaRPr lang="en-US" dirty="0">
              <a:solidFill>
                <a:schemeClr val="accent1">
                  <a:lumMod val="75000"/>
                </a:schemeClr>
              </a:solidFill>
            </a:endParaRPr>
          </a:p>
          <a:p>
            <a:pPr marL="0" indent="0">
              <a:buNone/>
            </a:pPr>
            <a:r>
              <a:rPr lang="en-US" dirty="0">
                <a:solidFill>
                  <a:schemeClr val="accent1">
                    <a:lumMod val="75000"/>
                  </a:schemeClr>
                </a:solidFill>
              </a:rPr>
              <a:t>names(precip_log10) &lt;- "precip_log10"</a:t>
            </a:r>
          </a:p>
          <a:p>
            <a:pPr marL="0" indent="0">
              <a:buNone/>
            </a:pPr>
            <a:endParaRPr lang="en-US" dirty="0">
              <a:solidFill>
                <a:schemeClr val="accent1">
                  <a:lumMod val="75000"/>
                </a:schemeClr>
              </a:solidFill>
            </a:endParaRPr>
          </a:p>
        </p:txBody>
      </p:sp>
    </p:spTree>
    <p:extLst>
      <p:ext uri="{BB962C8B-B14F-4D97-AF65-F5344CB8AC3E}">
        <p14:creationId xmlns:p14="http://schemas.microsoft.com/office/powerpoint/2010/main" val="34281905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39FF7-701D-5493-C36F-68F8D00091C7}"/>
              </a:ext>
            </a:extLst>
          </p:cNvPr>
          <p:cNvSpPr>
            <a:spLocks noGrp="1"/>
          </p:cNvSpPr>
          <p:nvPr>
            <p:ph type="title"/>
          </p:nvPr>
        </p:nvSpPr>
        <p:spPr/>
        <p:txBody>
          <a:bodyPr/>
          <a:lstStyle/>
          <a:p>
            <a:r>
              <a:rPr lang="en-US" dirty="0"/>
              <a:t>Extract environmental values at occurrences</a:t>
            </a:r>
          </a:p>
        </p:txBody>
      </p:sp>
      <p:sp>
        <p:nvSpPr>
          <p:cNvPr id="3" name="Content Placeholder 2">
            <a:extLst>
              <a:ext uri="{FF2B5EF4-FFF2-40B4-BE49-F238E27FC236}">
                <a16:creationId xmlns:a16="http://schemas.microsoft.com/office/drawing/2014/main" id="{FB4F307B-B2F9-39E4-EC4C-E2BA5B38DB70}"/>
              </a:ext>
            </a:extLst>
          </p:cNvPr>
          <p:cNvSpPr>
            <a:spLocks noGrp="1"/>
          </p:cNvSpPr>
          <p:nvPr>
            <p:ph idx="1"/>
          </p:nvPr>
        </p:nvSpPr>
        <p:spPr/>
        <p:txBody>
          <a:bodyPr/>
          <a:lstStyle/>
          <a:p>
            <a:pPr marL="0" indent="0">
              <a:buNone/>
            </a:pPr>
            <a:r>
              <a:rPr lang="en-US" dirty="0" err="1">
                <a:solidFill>
                  <a:schemeClr val="accent1">
                    <a:lumMod val="75000"/>
                  </a:schemeClr>
                </a:solidFill>
              </a:rPr>
              <a:t>occ_vect</a:t>
            </a:r>
            <a:r>
              <a:rPr lang="en-US" dirty="0">
                <a:solidFill>
                  <a:schemeClr val="accent1">
                    <a:lumMod val="75000"/>
                  </a:schemeClr>
                </a:solidFill>
              </a:rPr>
              <a:t> &lt;- </a:t>
            </a:r>
            <a:r>
              <a:rPr lang="en-US" dirty="0" err="1">
                <a:solidFill>
                  <a:schemeClr val="accent1">
                    <a:lumMod val="75000"/>
                  </a:schemeClr>
                </a:solidFill>
              </a:rPr>
              <a:t>vect</a:t>
            </a:r>
            <a:r>
              <a:rPr lang="en-US" dirty="0">
                <a:solidFill>
                  <a:schemeClr val="accent1">
                    <a:lumMod val="75000"/>
                  </a:schemeClr>
                </a:solidFill>
              </a:rPr>
              <a:t>(</a:t>
            </a:r>
            <a:r>
              <a:rPr lang="en-US" dirty="0" err="1">
                <a:solidFill>
                  <a:schemeClr val="accent1">
                    <a:lumMod val="75000"/>
                  </a:schemeClr>
                </a:solidFill>
              </a:rPr>
              <a:t>occ_sf</a:t>
            </a:r>
            <a:r>
              <a:rPr lang="en-US" dirty="0">
                <a:solidFill>
                  <a:schemeClr val="accent1">
                    <a:lumMod val="75000"/>
                  </a:schemeClr>
                </a:solidFill>
              </a:rPr>
              <a:t>)</a:t>
            </a:r>
          </a:p>
          <a:p>
            <a:endParaRPr lang="en-US" dirty="0">
              <a:solidFill>
                <a:schemeClr val="accent1">
                  <a:lumMod val="75000"/>
                </a:schemeClr>
              </a:solidFill>
            </a:endParaRPr>
          </a:p>
          <a:p>
            <a:pPr marL="0" indent="0">
              <a:buNone/>
            </a:pPr>
            <a:r>
              <a:rPr lang="en-US" dirty="0" err="1">
                <a:solidFill>
                  <a:schemeClr val="accent1">
                    <a:lumMod val="75000"/>
                  </a:schemeClr>
                </a:solidFill>
              </a:rPr>
              <a:t>occ_env</a:t>
            </a:r>
            <a:r>
              <a:rPr lang="en-US" dirty="0">
                <a:solidFill>
                  <a:schemeClr val="accent1">
                    <a:lumMod val="75000"/>
                  </a:schemeClr>
                </a:solidFill>
              </a:rPr>
              <a:t> &lt;- extract(env, </a:t>
            </a:r>
            <a:r>
              <a:rPr lang="en-US" dirty="0" err="1">
                <a:solidFill>
                  <a:schemeClr val="accent1">
                    <a:lumMod val="75000"/>
                  </a:schemeClr>
                </a:solidFill>
              </a:rPr>
              <a:t>occ_vect</a:t>
            </a:r>
            <a:r>
              <a:rPr lang="en-US" dirty="0">
                <a:solidFill>
                  <a:schemeClr val="accent1">
                    <a:lumMod val="75000"/>
                  </a:schemeClr>
                </a:solidFill>
              </a:rPr>
              <a:t>)</a:t>
            </a:r>
          </a:p>
          <a:p>
            <a:endParaRPr lang="en-US" dirty="0"/>
          </a:p>
        </p:txBody>
      </p:sp>
      <p:graphicFrame>
        <p:nvGraphicFramePr>
          <p:cNvPr id="4" name="Table 3">
            <a:extLst>
              <a:ext uri="{FF2B5EF4-FFF2-40B4-BE49-F238E27FC236}">
                <a16:creationId xmlns:a16="http://schemas.microsoft.com/office/drawing/2014/main" id="{0E4B17A6-565A-91AE-C2C5-3B638CEFEF95}"/>
              </a:ext>
            </a:extLst>
          </p:cNvPr>
          <p:cNvGraphicFramePr>
            <a:graphicFrameLocks noGrp="1"/>
          </p:cNvGraphicFramePr>
          <p:nvPr>
            <p:extLst>
              <p:ext uri="{D42A27DB-BD31-4B8C-83A1-F6EECF244321}">
                <p14:modId xmlns:p14="http://schemas.microsoft.com/office/powerpoint/2010/main" val="1897640238"/>
              </p:ext>
            </p:extLst>
          </p:nvPr>
        </p:nvGraphicFramePr>
        <p:xfrm>
          <a:off x="2984360" y="3080554"/>
          <a:ext cx="4396152" cy="1188720"/>
        </p:xfrm>
        <a:graphic>
          <a:graphicData uri="http://schemas.openxmlformats.org/drawingml/2006/table">
            <a:tbl>
              <a:tblPr>
                <a:tableStyleId>{5C22544A-7EE6-4342-B048-85BDC9FD1C3A}</a:tableStyleId>
              </a:tblPr>
              <a:tblGrid>
                <a:gridCol w="1465384">
                  <a:extLst>
                    <a:ext uri="{9D8B030D-6E8A-4147-A177-3AD203B41FA5}">
                      <a16:colId xmlns:a16="http://schemas.microsoft.com/office/drawing/2014/main" val="941271928"/>
                    </a:ext>
                  </a:extLst>
                </a:gridCol>
                <a:gridCol w="1465384">
                  <a:extLst>
                    <a:ext uri="{9D8B030D-6E8A-4147-A177-3AD203B41FA5}">
                      <a16:colId xmlns:a16="http://schemas.microsoft.com/office/drawing/2014/main" val="1001447394"/>
                    </a:ext>
                  </a:extLst>
                </a:gridCol>
                <a:gridCol w="1465384">
                  <a:extLst>
                    <a:ext uri="{9D8B030D-6E8A-4147-A177-3AD203B41FA5}">
                      <a16:colId xmlns:a16="http://schemas.microsoft.com/office/drawing/2014/main" val="4049453194"/>
                    </a:ext>
                  </a:extLst>
                </a:gridCol>
              </a:tblGrid>
              <a:tr h="0">
                <a:tc>
                  <a:txBody>
                    <a:bodyPr/>
                    <a:lstStyle/>
                    <a:p>
                      <a:pPr>
                        <a:buNone/>
                      </a:pPr>
                      <a:r>
                        <a:rPr lang="en-US"/>
                        <a:t>occurrence</a:t>
                      </a:r>
                    </a:p>
                  </a:txBody>
                  <a:tcPr anchor="ctr"/>
                </a:tc>
                <a:tc>
                  <a:txBody>
                    <a:bodyPr/>
                    <a:lstStyle/>
                    <a:p>
                      <a:pPr algn="r">
                        <a:buNone/>
                      </a:pPr>
                      <a:r>
                        <a:rPr lang="en-US"/>
                        <a:t>temperature</a:t>
                      </a:r>
                    </a:p>
                  </a:txBody>
                  <a:tcPr anchor="ctr"/>
                </a:tc>
                <a:tc>
                  <a:txBody>
                    <a:bodyPr/>
                    <a:lstStyle/>
                    <a:p>
                      <a:pPr algn="r">
                        <a:buNone/>
                      </a:pPr>
                      <a:r>
                        <a:rPr lang="en-US"/>
                        <a:t>precipitation</a:t>
                      </a:r>
                    </a:p>
                  </a:txBody>
                  <a:tcPr anchor="ctr"/>
                </a:tc>
                <a:extLst>
                  <a:ext uri="{0D108BD9-81ED-4DB2-BD59-A6C34878D82A}">
                    <a16:rowId xmlns:a16="http://schemas.microsoft.com/office/drawing/2014/main" val="2104391122"/>
                  </a:ext>
                </a:extLst>
              </a:tr>
              <a:tr h="0">
                <a:tc>
                  <a:txBody>
                    <a:bodyPr/>
                    <a:lstStyle/>
                    <a:p>
                      <a:pPr>
                        <a:buNone/>
                      </a:pPr>
                      <a:r>
                        <a:rPr lang="en-US"/>
                        <a:t>1</a:t>
                      </a:r>
                    </a:p>
                  </a:txBody>
                  <a:tcPr anchor="ctr"/>
                </a:tc>
                <a:tc>
                  <a:txBody>
                    <a:bodyPr/>
                    <a:lstStyle/>
                    <a:p>
                      <a:pPr algn="r">
                        <a:buNone/>
                      </a:pPr>
                      <a:r>
                        <a:rPr lang="en-US"/>
                        <a:t>18.2</a:t>
                      </a:r>
                    </a:p>
                  </a:txBody>
                  <a:tcPr anchor="ctr"/>
                </a:tc>
                <a:tc>
                  <a:txBody>
                    <a:bodyPr/>
                    <a:lstStyle/>
                    <a:p>
                      <a:pPr algn="r">
                        <a:buNone/>
                      </a:pPr>
                      <a:r>
                        <a:rPr lang="en-US"/>
                        <a:t>840</a:t>
                      </a:r>
                    </a:p>
                  </a:txBody>
                  <a:tcPr anchor="ctr"/>
                </a:tc>
                <a:extLst>
                  <a:ext uri="{0D108BD9-81ED-4DB2-BD59-A6C34878D82A}">
                    <a16:rowId xmlns:a16="http://schemas.microsoft.com/office/drawing/2014/main" val="1730191701"/>
                  </a:ext>
                </a:extLst>
              </a:tr>
              <a:tr h="0">
                <a:tc>
                  <a:txBody>
                    <a:bodyPr/>
                    <a:lstStyle/>
                    <a:p>
                      <a:pPr>
                        <a:buNone/>
                      </a:pPr>
                      <a:r>
                        <a:rPr lang="en-US"/>
                        <a:t>2</a:t>
                      </a:r>
                    </a:p>
                  </a:txBody>
                  <a:tcPr anchor="ctr"/>
                </a:tc>
                <a:tc>
                  <a:txBody>
                    <a:bodyPr/>
                    <a:lstStyle/>
                    <a:p>
                      <a:pPr algn="r">
                        <a:buNone/>
                      </a:pPr>
                      <a:r>
                        <a:rPr lang="en-US"/>
                        <a:t>21.4</a:t>
                      </a:r>
                    </a:p>
                  </a:txBody>
                  <a:tcPr anchor="ctr"/>
                </a:tc>
                <a:tc>
                  <a:txBody>
                    <a:bodyPr/>
                    <a:lstStyle/>
                    <a:p>
                      <a:pPr algn="r">
                        <a:buNone/>
                      </a:pPr>
                      <a:r>
                        <a:rPr lang="en-US"/>
                        <a:t>690</a:t>
                      </a:r>
                    </a:p>
                  </a:txBody>
                  <a:tcPr anchor="ctr"/>
                </a:tc>
                <a:extLst>
                  <a:ext uri="{0D108BD9-81ED-4DB2-BD59-A6C34878D82A}">
                    <a16:rowId xmlns:a16="http://schemas.microsoft.com/office/drawing/2014/main" val="138524126"/>
                  </a:ext>
                </a:extLst>
              </a:tr>
              <a:tr h="0">
                <a:tc>
                  <a:txBody>
                    <a:bodyPr/>
                    <a:lstStyle/>
                    <a:p>
                      <a:pPr>
                        <a:buNone/>
                      </a:pPr>
                      <a:r>
                        <a:rPr lang="en-US"/>
                        <a:t>3</a:t>
                      </a:r>
                    </a:p>
                  </a:txBody>
                  <a:tcPr anchor="ctr"/>
                </a:tc>
                <a:tc>
                  <a:txBody>
                    <a:bodyPr/>
                    <a:lstStyle/>
                    <a:p>
                      <a:pPr algn="r">
                        <a:buNone/>
                      </a:pPr>
                      <a:r>
                        <a:rPr lang="en-US"/>
                        <a:t>17.8</a:t>
                      </a:r>
                    </a:p>
                  </a:txBody>
                  <a:tcPr anchor="ctr"/>
                </a:tc>
                <a:tc>
                  <a:txBody>
                    <a:bodyPr/>
                    <a:lstStyle/>
                    <a:p>
                      <a:pPr algn="r">
                        <a:buNone/>
                      </a:pPr>
                      <a:r>
                        <a:rPr lang="en-US" dirty="0"/>
                        <a:t>910</a:t>
                      </a:r>
                    </a:p>
                  </a:txBody>
                  <a:tcPr anchor="ctr"/>
                </a:tc>
                <a:extLst>
                  <a:ext uri="{0D108BD9-81ED-4DB2-BD59-A6C34878D82A}">
                    <a16:rowId xmlns:a16="http://schemas.microsoft.com/office/drawing/2014/main" val="3067775332"/>
                  </a:ext>
                </a:extLst>
              </a:tr>
            </a:tbl>
          </a:graphicData>
        </a:graphic>
      </p:graphicFrame>
    </p:spTree>
    <p:extLst>
      <p:ext uri="{BB962C8B-B14F-4D97-AF65-F5344CB8AC3E}">
        <p14:creationId xmlns:p14="http://schemas.microsoft.com/office/powerpoint/2010/main" val="2642557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03AE7-5640-39A2-94F7-CC10F51A3152}"/>
              </a:ext>
            </a:extLst>
          </p:cNvPr>
          <p:cNvSpPr>
            <a:spLocks noGrp="1"/>
          </p:cNvSpPr>
          <p:nvPr>
            <p:ph type="title"/>
          </p:nvPr>
        </p:nvSpPr>
        <p:spPr/>
        <p:txBody>
          <a:bodyPr/>
          <a:lstStyle/>
          <a:p>
            <a:r>
              <a:rPr lang="en-US" dirty="0"/>
              <a:t>Data plan and Lab 04 prep</a:t>
            </a:r>
          </a:p>
        </p:txBody>
      </p:sp>
      <p:sp>
        <p:nvSpPr>
          <p:cNvPr id="3" name="Content Placeholder 2">
            <a:extLst>
              <a:ext uri="{FF2B5EF4-FFF2-40B4-BE49-F238E27FC236}">
                <a16:creationId xmlns:a16="http://schemas.microsoft.com/office/drawing/2014/main" id="{115404B3-D16C-629F-5B77-55DA9F3C22D2}"/>
              </a:ext>
            </a:extLst>
          </p:cNvPr>
          <p:cNvSpPr>
            <a:spLocks noGrp="1"/>
          </p:cNvSpPr>
          <p:nvPr>
            <p:ph idx="1"/>
          </p:nvPr>
        </p:nvSpPr>
        <p:spPr/>
        <p:txBody>
          <a:bodyPr>
            <a:normAutofit fontScale="92500"/>
          </a:bodyPr>
          <a:lstStyle/>
          <a:p>
            <a:pPr lvl="0"/>
            <a:r>
              <a:rPr lang="en-US" dirty="0"/>
              <a:t>Identify at least 3 (no more than 6) environmental predictors relevant to your project question.</a:t>
            </a:r>
          </a:p>
          <a:p>
            <a:pPr lvl="0"/>
            <a:r>
              <a:rPr lang="en-US" dirty="0"/>
              <a:t>Find and download one layer for each predictor.</a:t>
            </a:r>
          </a:p>
          <a:p>
            <a:pPr lvl="0"/>
            <a:r>
              <a:rPr lang="en-US" dirty="0"/>
              <a:t>Choose data at a reasonable spatial resolution and file size for your study area.</a:t>
            </a:r>
          </a:p>
          <a:p>
            <a:pPr lvl="1"/>
            <a:r>
              <a:rPr lang="en-US" dirty="0"/>
              <a:t>If the dataset is very large, use a smaller geographic extent or coarser-resolution version.</a:t>
            </a:r>
          </a:p>
          <a:p>
            <a:pPr lvl="1"/>
            <a:r>
              <a:rPr lang="en-US" dirty="0"/>
              <a:t>File-size guidelines: Keep individual environmental files ≤25 MB and your environmental-data folder ≤100 MB total.</a:t>
            </a:r>
          </a:p>
          <a:p>
            <a:pPr lvl="0"/>
            <a:r>
              <a:rPr lang="en-US" dirty="0"/>
              <a:t>Save the original downloaded files in your project data/ folder.</a:t>
            </a:r>
          </a:p>
          <a:p>
            <a:pPr lvl="0"/>
            <a:r>
              <a:rPr lang="en-US" dirty="0"/>
              <a:t>Commit and push your updated project to GitHub and verify the files are there.</a:t>
            </a:r>
          </a:p>
        </p:txBody>
      </p:sp>
    </p:spTree>
    <p:extLst>
      <p:ext uri="{BB962C8B-B14F-4D97-AF65-F5344CB8AC3E}">
        <p14:creationId xmlns:p14="http://schemas.microsoft.com/office/powerpoint/2010/main" val="8765101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24935</TotalTime>
  <Words>1086</Words>
  <Application>Microsoft Office PowerPoint</Application>
  <PresentationFormat>On-screen Show (16:9)</PresentationFormat>
  <Paragraphs>147</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Courier New</vt:lpstr>
      <vt:lpstr>Helvetica</vt:lpstr>
      <vt:lpstr>Office Theme</vt:lpstr>
      <vt:lpstr>Week 6. Environments</vt:lpstr>
      <vt:lpstr>Welcome, hello, any announcements?</vt:lpstr>
      <vt:lpstr>Project Milestones</vt:lpstr>
      <vt:lpstr>Class Plan</vt:lpstr>
      <vt:lpstr>Species–environment relationships</vt:lpstr>
      <vt:lpstr>Direct v indirect effects</vt:lpstr>
      <vt:lpstr>PowerPoint Presentation</vt:lpstr>
      <vt:lpstr>PowerPoint Presentation</vt:lpstr>
      <vt:lpstr>Austin et al. (2006)</vt:lpstr>
      <vt:lpstr>Temporal resolution</vt:lpstr>
      <vt:lpstr>Temporal resolution</vt:lpstr>
      <vt:lpstr>USGS Landsat San Antonio, TX 1974</vt:lpstr>
      <vt:lpstr>USGS Landsat San Antonio, TX 2022</vt:lpstr>
      <vt:lpstr>Climate Change Through Geological Time</vt:lpstr>
      <vt:lpstr>PowerPoint Presentation</vt:lpstr>
      <vt:lpstr>PowerPoint Presentation</vt:lpstr>
      <vt:lpstr>PowerPoint Presentation</vt:lpstr>
      <vt:lpstr>Environmental data sources and types</vt:lpstr>
      <vt:lpstr>Modern extension: projection risks</vt:lpstr>
      <vt:lpstr>Ancillary data</vt:lpstr>
      <vt:lpstr>Environmental-data audit</vt:lpstr>
      <vt:lpstr>Environmental data practicalities</vt:lpstr>
      <vt:lpstr>Environmental data file types</vt:lpstr>
      <vt:lpstr>Working with multiple environmental variables</vt:lpstr>
      <vt:lpstr>Occurrence points and rasters need to align</vt:lpstr>
      <vt:lpstr>Transform variables</vt:lpstr>
      <vt:lpstr>Extract environmental values at occurrences</vt:lpstr>
      <vt:lpstr>Data plan and Lab 04 prep</vt:lpstr>
    </vt:vector>
  </TitlesOfParts>
  <Company>TAMU - Spatial Sciences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Map Projections</dc:title>
  <dc:creator>Michelle Lawing</dc:creator>
  <cp:lastModifiedBy>Michelle Lawing</cp:lastModifiedBy>
  <cp:revision>1006</cp:revision>
  <dcterms:created xsi:type="dcterms:W3CDTF">2014-08-30T17:37:24Z</dcterms:created>
  <dcterms:modified xsi:type="dcterms:W3CDTF">2026-09-29T21:31:04Z</dcterms:modified>
</cp:coreProperties>
</file>