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handoutMasterIdLst>
    <p:handoutMasterId r:id="rId39"/>
  </p:handoutMasterIdLst>
  <p:sldIdLst>
    <p:sldId id="256" r:id="rId2"/>
    <p:sldId id="515" r:id="rId3"/>
    <p:sldId id="540" r:id="rId4"/>
    <p:sldId id="514" r:id="rId5"/>
    <p:sldId id="565" r:id="rId6"/>
    <p:sldId id="560" r:id="rId7"/>
    <p:sldId id="257" r:id="rId8"/>
    <p:sldId id="543" r:id="rId9"/>
    <p:sldId id="544" r:id="rId10"/>
    <p:sldId id="545" r:id="rId11"/>
    <p:sldId id="552" r:id="rId12"/>
    <p:sldId id="553" r:id="rId13"/>
    <p:sldId id="554" r:id="rId14"/>
    <p:sldId id="555" r:id="rId15"/>
    <p:sldId id="556" r:id="rId16"/>
    <p:sldId id="557" r:id="rId17"/>
    <p:sldId id="562" r:id="rId18"/>
    <p:sldId id="563" r:id="rId19"/>
    <p:sldId id="564" r:id="rId20"/>
    <p:sldId id="561" r:id="rId21"/>
    <p:sldId id="265" r:id="rId22"/>
    <p:sldId id="266" r:id="rId23"/>
    <p:sldId id="267" r:id="rId24"/>
    <p:sldId id="268" r:id="rId25"/>
    <p:sldId id="566" r:id="rId26"/>
    <p:sldId id="264" r:id="rId27"/>
    <p:sldId id="259" r:id="rId28"/>
    <p:sldId id="261" r:id="rId29"/>
    <p:sldId id="269" r:id="rId30"/>
    <p:sldId id="263" r:id="rId31"/>
    <p:sldId id="260" r:id="rId32"/>
    <p:sldId id="262" r:id="rId33"/>
    <p:sldId id="541" r:id="rId34"/>
    <p:sldId id="559" r:id="rId35"/>
    <p:sldId id="538" r:id="rId36"/>
    <p:sldId id="518" r:id="rId3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6E93F3-11AD-C848-9581-61FF99ABE858}">
          <p14:sldIdLst>
            <p14:sldId id="256"/>
            <p14:sldId id="515"/>
            <p14:sldId id="540"/>
            <p14:sldId id="514"/>
            <p14:sldId id="565"/>
            <p14:sldId id="560"/>
            <p14:sldId id="257"/>
            <p14:sldId id="543"/>
            <p14:sldId id="544"/>
            <p14:sldId id="545"/>
            <p14:sldId id="552"/>
            <p14:sldId id="553"/>
            <p14:sldId id="554"/>
            <p14:sldId id="555"/>
            <p14:sldId id="556"/>
            <p14:sldId id="557"/>
            <p14:sldId id="562"/>
            <p14:sldId id="563"/>
            <p14:sldId id="564"/>
            <p14:sldId id="561"/>
            <p14:sldId id="265"/>
            <p14:sldId id="266"/>
            <p14:sldId id="267"/>
            <p14:sldId id="268"/>
            <p14:sldId id="566"/>
            <p14:sldId id="264"/>
            <p14:sldId id="259"/>
            <p14:sldId id="261"/>
            <p14:sldId id="269"/>
            <p14:sldId id="263"/>
            <p14:sldId id="260"/>
            <p14:sldId id="262"/>
            <p14:sldId id="541"/>
            <p14:sldId id="559"/>
            <p14:sldId id="538"/>
            <p14:sldId id="518"/>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na Law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216"/>
    <p:restoredTop sz="94622"/>
  </p:normalViewPr>
  <p:slideViewPr>
    <p:cSldViewPr snapToGrid="0" snapToObjects="1">
      <p:cViewPr>
        <p:scale>
          <a:sx n="91" d="100"/>
          <a:sy n="91" d="100"/>
        </p:scale>
        <p:origin x="504" y="784"/>
      </p:cViewPr>
      <p:guideLst>
        <p:guide orient="horz" pos="1620"/>
        <p:guide pos="2880"/>
      </p:guideLst>
    </p:cSldViewPr>
  </p:slideViewPr>
  <p:notesTextViewPr>
    <p:cViewPr>
      <p:scale>
        <a:sx n="100" d="100"/>
        <a:sy n="100" d="100"/>
      </p:scale>
      <p:origin x="0" y="0"/>
    </p:cViewPr>
  </p:notesTextViewPr>
  <p:notesViewPr>
    <p:cSldViewPr snapToGrid="0" snapToObjects="1">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2D4AE1-BD9C-1741-B132-ACC4FD870A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C52F900-87CF-6E4F-9FCE-F0A8E37B2F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8404FB-D815-9B49-9DBC-B684E3C0E790}" type="datetimeFigureOut">
              <a:rPr lang="en-US" smtClean="0"/>
              <a:t>9/15/26</a:t>
            </a:fld>
            <a:endParaRPr lang="en-US"/>
          </a:p>
        </p:txBody>
      </p:sp>
      <p:sp>
        <p:nvSpPr>
          <p:cNvPr id="4" name="Footer Placeholder 3">
            <a:extLst>
              <a:ext uri="{FF2B5EF4-FFF2-40B4-BE49-F238E27FC236}">
                <a16:creationId xmlns:a16="http://schemas.microsoft.com/office/drawing/2014/main" id="{749167D0-463A-4043-821F-310E6E0480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1556C2-9555-094A-9761-17FDE74E66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95A322-2EE7-5046-A0D8-D3FF3645CA32}" type="slidenum">
              <a:rPr lang="en-US" smtClean="0"/>
              <a:t>‹#›</a:t>
            </a:fld>
            <a:endParaRPr lang="en-US"/>
          </a:p>
        </p:txBody>
      </p:sp>
    </p:spTree>
    <p:extLst>
      <p:ext uri="{BB962C8B-B14F-4D97-AF65-F5344CB8AC3E}">
        <p14:creationId xmlns:p14="http://schemas.microsoft.com/office/powerpoint/2010/main" val="36596563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AC5A93-540D-2443-A380-5679C155FF14}" type="datetimeFigureOut">
              <a:rPr lang="en-US" smtClean="0"/>
              <a:t>9/15/26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0A90D5-3B1D-1149-800E-15EBB2932B0B}" type="slidenum">
              <a:rPr lang="en-US" smtClean="0"/>
              <a:t>‹#›</a:t>
            </a:fld>
            <a:endParaRPr lang="en-US"/>
          </a:p>
        </p:txBody>
      </p:sp>
    </p:spTree>
    <p:extLst>
      <p:ext uri="{BB962C8B-B14F-4D97-AF65-F5344CB8AC3E}">
        <p14:creationId xmlns:p14="http://schemas.microsoft.com/office/powerpoint/2010/main" val="17853657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44079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06069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4120590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499436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8" name="Footer Placeholder 7"/>
          <p:cNvSpPr>
            <a:spLocks noGrp="1"/>
          </p:cNvSpPr>
          <p:nvPr>
            <p:ph type="ftr" sz="quarter" idx="11"/>
          </p:nvPr>
        </p:nvSpPr>
        <p:spPr>
          <a:xfrm>
            <a:off x="87432" y="69057"/>
            <a:ext cx="3417621"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39190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4" name="Footer Placeholder 3"/>
          <p:cNvSpPr>
            <a:spLocks noGrp="1"/>
          </p:cNvSpPr>
          <p:nvPr>
            <p:ph type="ftr" sz="quarter" idx="11"/>
          </p:nvPr>
        </p:nvSpPr>
        <p:spPr>
          <a:xfrm>
            <a:off x="87432" y="69057"/>
            <a:ext cx="3417621"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339236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3" name="Footer Placeholder 2"/>
          <p:cNvSpPr>
            <a:spLocks noGrp="1"/>
          </p:cNvSpPr>
          <p:nvPr>
            <p:ph type="ftr" sz="quarter" idx="11"/>
          </p:nvPr>
        </p:nvSpPr>
        <p:spPr>
          <a:xfrm>
            <a:off x="87432" y="69057"/>
            <a:ext cx="3417621" cy="273844"/>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2294834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139741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251650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4159324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9/15/26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528596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72041"/>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29292"/>
            <a:ext cx="8229600" cy="326533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EE7B1D5-5050-0D43-BD0C-41769CA1EAB2}" type="slidenum">
              <a:rPr lang="en-US" smtClean="0"/>
              <a:t>‹#›</a:t>
            </a:fld>
            <a:endParaRPr lang="en-US"/>
          </a:p>
        </p:txBody>
      </p:sp>
      <p:sp>
        <p:nvSpPr>
          <p:cNvPr id="7" name="Footer Placeholder 4"/>
          <p:cNvSpPr txBox="1">
            <a:spLocks/>
          </p:cNvSpPr>
          <p:nvPr userDrawn="1"/>
        </p:nvSpPr>
        <p:spPr>
          <a:xfrm>
            <a:off x="6768856" y="69057"/>
            <a:ext cx="2368925" cy="273844"/>
          </a:xfrm>
          <a:prstGeom prst="rect">
            <a:avLst/>
          </a:prstGeom>
        </p:spPr>
        <p:txBody>
          <a:bodyPr vert="horz" lIns="68580" tIns="34290" rIns="68580" bIns="34290" rtlCol="0" anchor="ctr"/>
          <a:lstStyle>
            <a:defPPr>
              <a:defRPr lang="en-US"/>
            </a:defPPr>
            <a:lvl1pPr marL="0" algn="l" defTabSz="457200" rtl="0" eaLnBrk="1" latinLnBrk="0" hangingPunct="1">
              <a:defRPr sz="1000" kern="1200">
                <a:solidFill>
                  <a:schemeClr val="tx1">
                    <a:tint val="75000"/>
                  </a:schemeClr>
                </a:solidFill>
                <a:latin typeface="Calibri"/>
                <a:ea typeface="+mn-ea"/>
                <a:cs typeface="Calibri"/>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lumMod val="50000"/>
                  </a:schemeClr>
                </a:solidFill>
              </a:rPr>
              <a:t>ECCB</a:t>
            </a:r>
            <a:r>
              <a:rPr lang="en-US" sz="1100" baseline="0" dirty="0">
                <a:solidFill>
                  <a:schemeClr val="bg1">
                    <a:lumMod val="50000"/>
                  </a:schemeClr>
                </a:solidFill>
              </a:rPr>
              <a:t> 689 Modeling Ecological Niches</a:t>
            </a:r>
          </a:p>
          <a:p>
            <a:r>
              <a:rPr lang="en-US" sz="1100" baseline="0" dirty="0">
                <a:solidFill>
                  <a:schemeClr val="bg1">
                    <a:lumMod val="50000"/>
                  </a:schemeClr>
                </a:solidFill>
              </a:rPr>
              <a:t>and Species’ Geographic Distributions</a:t>
            </a:r>
            <a:endParaRPr lang="en-US" sz="1100" dirty="0">
              <a:solidFill>
                <a:schemeClr val="bg1">
                  <a:lumMod val="50000"/>
                </a:schemeClr>
              </a:solidFill>
            </a:endParaRPr>
          </a:p>
        </p:txBody>
      </p:sp>
      <p:sp>
        <p:nvSpPr>
          <p:cNvPr id="9" name="Footer Placeholder 4"/>
          <p:cNvSpPr txBox="1">
            <a:spLocks/>
          </p:cNvSpPr>
          <p:nvPr userDrawn="1"/>
        </p:nvSpPr>
        <p:spPr>
          <a:xfrm>
            <a:off x="94237" y="69057"/>
            <a:ext cx="3735891" cy="273844"/>
          </a:xfrm>
          <a:prstGeom prst="rect">
            <a:avLst/>
          </a:prstGeom>
        </p:spPr>
        <p:txBody>
          <a:bodyPr vert="horz" lIns="68580" tIns="34290" rIns="68580" bIns="34290" rtlCol="0" anchor="ctr"/>
          <a:lstStyle>
            <a:defPPr>
              <a:defRPr lang="en-US"/>
            </a:defPPr>
            <a:lvl1pPr marL="0" algn="l" defTabSz="457200" rtl="0" eaLnBrk="1" latinLnBrk="0" hangingPunct="1">
              <a:defRPr sz="1000" kern="1200">
                <a:solidFill>
                  <a:schemeClr val="tx1">
                    <a:tint val="75000"/>
                  </a:schemeClr>
                </a:solidFill>
                <a:latin typeface="Calibri"/>
                <a:ea typeface="+mn-ea"/>
                <a:cs typeface="Calibri"/>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lumMod val="50000"/>
                  </a:schemeClr>
                </a:solidFill>
              </a:rPr>
              <a:t>Ecology and Conservation Biology | </a:t>
            </a:r>
            <a:r>
              <a:rPr lang="en-US" sz="1100" dirty="0">
                <a:solidFill>
                  <a:srgbClr val="800000"/>
                </a:solidFill>
              </a:rPr>
              <a:t>Texas A&amp;M University</a:t>
            </a:r>
          </a:p>
        </p:txBody>
      </p:sp>
    </p:spTree>
    <p:extLst>
      <p:ext uri="{BB962C8B-B14F-4D97-AF65-F5344CB8AC3E}">
        <p14:creationId xmlns:p14="http://schemas.microsoft.com/office/powerpoint/2010/main" val="1907738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2700" kern="1200">
          <a:solidFill>
            <a:srgbClr val="800000"/>
          </a:solidFill>
          <a:latin typeface="+mj-lt"/>
          <a:ea typeface="+mj-ea"/>
          <a:cs typeface="+mj-cs"/>
        </a:defRPr>
      </a:lvl1pPr>
    </p:titleStyle>
    <p:bodyStyle>
      <a:lvl1pPr marL="257175" indent="-257175" algn="l" defTabSz="342900" rtl="0" eaLnBrk="1" latinLnBrk="0" hangingPunct="1">
        <a:spcBef>
          <a:spcPct val="20000"/>
        </a:spcBef>
        <a:buFont typeface="Arial"/>
        <a:buChar char="•"/>
        <a:defRPr sz="21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18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5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35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35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2844" y="1469231"/>
            <a:ext cx="4618311" cy="1102519"/>
          </a:xfrm>
        </p:spPr>
        <p:txBody>
          <a:bodyPr>
            <a:normAutofit/>
          </a:bodyPr>
          <a:lstStyle/>
          <a:p>
            <a:r>
              <a:rPr lang="en-US" sz="2800" dirty="0"/>
              <a:t>Week 4. Modeling In Practice</a:t>
            </a:r>
          </a:p>
        </p:txBody>
      </p:sp>
      <p:sp>
        <p:nvSpPr>
          <p:cNvPr id="3" name="Subtitle 2"/>
          <p:cNvSpPr>
            <a:spLocks noGrp="1"/>
          </p:cNvSpPr>
          <p:nvPr>
            <p:ph type="subTitle" idx="1"/>
          </p:nvPr>
        </p:nvSpPr>
        <p:spPr>
          <a:xfrm>
            <a:off x="3408812" y="2826129"/>
            <a:ext cx="2326373" cy="1001825"/>
          </a:xfrm>
        </p:spPr>
        <p:txBody>
          <a:bodyPr>
            <a:normAutofit fontScale="85000" lnSpcReduction="10000"/>
          </a:bodyPr>
          <a:lstStyle/>
          <a:p>
            <a:r>
              <a:rPr lang="en-US" sz="1600" dirty="0">
                <a:solidFill>
                  <a:srgbClr val="800000"/>
                </a:solidFill>
              </a:rPr>
              <a:t>A. Michelle Lawing, PhD</a:t>
            </a:r>
          </a:p>
          <a:p>
            <a:pPr>
              <a:spcBef>
                <a:spcPts val="0"/>
              </a:spcBef>
            </a:pPr>
            <a:r>
              <a:rPr lang="en-US" sz="1200" dirty="0">
                <a:solidFill>
                  <a:schemeClr val="tx1"/>
                </a:solidFill>
              </a:rPr>
              <a:t>Associate Professor</a:t>
            </a:r>
          </a:p>
          <a:p>
            <a:pPr>
              <a:spcBef>
                <a:spcPts val="0"/>
              </a:spcBef>
            </a:pPr>
            <a:r>
              <a:rPr lang="en-US" sz="1200" dirty="0">
                <a:solidFill>
                  <a:schemeClr val="tx1"/>
                </a:solidFill>
              </a:rPr>
              <a:t>Paleobiology, Evolution, and Climate Lab</a:t>
            </a:r>
          </a:p>
          <a:p>
            <a:pPr>
              <a:spcBef>
                <a:spcPts val="0"/>
              </a:spcBef>
            </a:pPr>
            <a:r>
              <a:rPr lang="en-US" sz="1200" dirty="0">
                <a:solidFill>
                  <a:schemeClr val="tx1"/>
                </a:solidFill>
              </a:rPr>
              <a:t>Ecology and Conservation Biology</a:t>
            </a:r>
          </a:p>
          <a:p>
            <a:pPr>
              <a:spcBef>
                <a:spcPts val="0"/>
              </a:spcBef>
            </a:pPr>
            <a:r>
              <a:rPr lang="en-US" sz="1200" dirty="0">
                <a:solidFill>
                  <a:schemeClr val="tx1"/>
                </a:solidFill>
              </a:rPr>
              <a:t>Texas A&amp;M University</a:t>
            </a:r>
          </a:p>
          <a:p>
            <a:pPr>
              <a:spcBef>
                <a:spcPts val="0"/>
              </a:spcBef>
            </a:pPr>
            <a:r>
              <a:rPr lang="en-US" sz="1200" dirty="0" err="1">
                <a:solidFill>
                  <a:schemeClr val="tx1"/>
                </a:solidFill>
              </a:rPr>
              <a:t>alawing@tamu.edu</a:t>
            </a:r>
            <a:endParaRPr lang="en-US" sz="1200" dirty="0">
              <a:solidFill>
                <a:schemeClr val="tx1"/>
              </a:solidFill>
            </a:endParaRPr>
          </a:p>
          <a:p>
            <a:endParaRPr lang="en-US" sz="1200" dirty="0"/>
          </a:p>
        </p:txBody>
      </p:sp>
    </p:spTree>
    <p:extLst>
      <p:ext uri="{BB962C8B-B14F-4D97-AF65-F5344CB8AC3E}">
        <p14:creationId xmlns:p14="http://schemas.microsoft.com/office/powerpoint/2010/main" val="310477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0A04-CC46-81EB-10DB-8BF42B54283C}"/>
              </a:ext>
            </a:extLst>
          </p:cNvPr>
          <p:cNvSpPr>
            <a:spLocks noGrp="1"/>
          </p:cNvSpPr>
          <p:nvPr>
            <p:ph type="title"/>
          </p:nvPr>
        </p:nvSpPr>
        <p:spPr>
          <a:xfrm>
            <a:off x="1824487" y="1979975"/>
            <a:ext cx="5495026" cy="857250"/>
          </a:xfrm>
        </p:spPr>
        <p:txBody>
          <a:bodyPr>
            <a:normAutofit/>
          </a:bodyPr>
          <a:lstStyle/>
          <a:p>
            <a:r>
              <a:rPr lang="en-US" dirty="0"/>
              <a:t>Welcome, hello, any announcements?</a:t>
            </a:r>
          </a:p>
        </p:txBody>
      </p:sp>
    </p:spTree>
    <p:extLst>
      <p:ext uri="{BB962C8B-B14F-4D97-AF65-F5344CB8AC3E}">
        <p14:creationId xmlns:p14="http://schemas.microsoft.com/office/powerpoint/2010/main" val="1826526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529E7-D049-043B-4B15-5DABF32E1E99}"/>
              </a:ext>
            </a:extLst>
          </p:cNvPr>
          <p:cNvSpPr>
            <a:spLocks noGrp="1"/>
          </p:cNvSpPr>
          <p:nvPr>
            <p:ph type="title"/>
          </p:nvPr>
        </p:nvSpPr>
        <p:spPr>
          <a:xfrm>
            <a:off x="212757" y="272864"/>
            <a:ext cx="8229600" cy="857250"/>
          </a:xfrm>
        </p:spPr>
        <p:txBody>
          <a:bodyPr/>
          <a:lstStyle/>
          <a:p>
            <a:r>
              <a:rPr lang="en-US" dirty="0"/>
              <a:t>Project Milestones</a:t>
            </a:r>
          </a:p>
        </p:txBody>
      </p:sp>
      <p:graphicFrame>
        <p:nvGraphicFramePr>
          <p:cNvPr id="6" name="Content Placeholder 5">
            <a:extLst>
              <a:ext uri="{FF2B5EF4-FFF2-40B4-BE49-F238E27FC236}">
                <a16:creationId xmlns:a16="http://schemas.microsoft.com/office/drawing/2014/main" id="{ECC3541F-8F94-C67C-3731-7CA5648C4ECE}"/>
              </a:ext>
            </a:extLst>
          </p:cNvPr>
          <p:cNvGraphicFramePr>
            <a:graphicFrameLocks noGrp="1"/>
          </p:cNvGraphicFramePr>
          <p:nvPr>
            <p:ph idx="1"/>
            <p:extLst>
              <p:ext uri="{D42A27DB-BD31-4B8C-83A1-F6EECF244321}">
                <p14:modId xmlns:p14="http://schemas.microsoft.com/office/powerpoint/2010/main" val="3275758146"/>
              </p:ext>
            </p:extLst>
          </p:nvPr>
        </p:nvGraphicFramePr>
        <p:xfrm>
          <a:off x="1454356" y="1062036"/>
          <a:ext cx="5944607" cy="3808600"/>
        </p:xfrm>
        <a:graphic>
          <a:graphicData uri="http://schemas.openxmlformats.org/drawingml/2006/table">
            <a:tbl>
              <a:tblPr>
                <a:tableStyleId>{5C22544A-7EE6-4342-B048-85BDC9FD1C3A}</a:tableStyleId>
              </a:tblPr>
              <a:tblGrid>
                <a:gridCol w="3054173">
                  <a:extLst>
                    <a:ext uri="{9D8B030D-6E8A-4147-A177-3AD203B41FA5}">
                      <a16:colId xmlns:a16="http://schemas.microsoft.com/office/drawing/2014/main" val="4005966982"/>
                    </a:ext>
                  </a:extLst>
                </a:gridCol>
                <a:gridCol w="2890434">
                  <a:extLst>
                    <a:ext uri="{9D8B030D-6E8A-4147-A177-3AD203B41FA5}">
                      <a16:colId xmlns:a16="http://schemas.microsoft.com/office/drawing/2014/main" val="262250381"/>
                    </a:ext>
                  </a:extLst>
                </a:gridCol>
              </a:tblGrid>
              <a:tr h="394594">
                <a:tc>
                  <a:txBody>
                    <a:bodyPr/>
                    <a:lstStyle/>
                    <a:p>
                      <a:pPr>
                        <a:buNone/>
                      </a:pPr>
                      <a:r>
                        <a:rPr lang="en-US" sz="2000" b="1" dirty="0"/>
                        <a:t>Date</a:t>
                      </a:r>
                    </a:p>
                  </a:txBody>
                  <a:tcPr anchor="ctr"/>
                </a:tc>
                <a:tc>
                  <a:txBody>
                    <a:bodyPr/>
                    <a:lstStyle/>
                    <a:p>
                      <a:pPr>
                        <a:buNone/>
                      </a:pPr>
                      <a:r>
                        <a:rPr lang="en-US" sz="2000" b="1" dirty="0"/>
                        <a:t>Milestone</a:t>
                      </a:r>
                    </a:p>
                  </a:txBody>
                  <a:tcPr anchor="ctr"/>
                </a:tc>
                <a:extLst>
                  <a:ext uri="{0D108BD9-81ED-4DB2-BD59-A6C34878D82A}">
                    <a16:rowId xmlns:a16="http://schemas.microsoft.com/office/drawing/2014/main" val="3994071243"/>
                  </a:ext>
                </a:extLst>
              </a:tr>
              <a:tr h="563180">
                <a:tc>
                  <a:txBody>
                    <a:bodyPr/>
                    <a:lstStyle/>
                    <a:p>
                      <a:pPr>
                        <a:buNone/>
                      </a:pPr>
                      <a:r>
                        <a:rPr lang="en-US" sz="2000"/>
                        <a:t>Sept. 11</a:t>
                      </a:r>
                    </a:p>
                  </a:txBody>
                  <a:tcPr anchor="ctr"/>
                </a:tc>
                <a:tc>
                  <a:txBody>
                    <a:bodyPr/>
                    <a:lstStyle/>
                    <a:p>
                      <a:pPr>
                        <a:buNone/>
                      </a:pPr>
                      <a:r>
                        <a:rPr lang="en-US" sz="2000" dirty="0"/>
                        <a:t>Project topic</a:t>
                      </a:r>
                    </a:p>
                  </a:txBody>
                  <a:tcPr anchor="ctr"/>
                </a:tc>
                <a:extLst>
                  <a:ext uri="{0D108BD9-81ED-4DB2-BD59-A6C34878D82A}">
                    <a16:rowId xmlns:a16="http://schemas.microsoft.com/office/drawing/2014/main" val="4026119000"/>
                  </a:ext>
                </a:extLst>
              </a:tr>
              <a:tr h="332788">
                <a:tc>
                  <a:txBody>
                    <a:bodyPr/>
                    <a:lstStyle/>
                    <a:p>
                      <a:pPr>
                        <a:buNone/>
                      </a:pPr>
                      <a:r>
                        <a:rPr lang="en-US" sz="2000"/>
                        <a:t>Oct. 2</a:t>
                      </a:r>
                    </a:p>
                  </a:txBody>
                  <a:tcPr anchor="ctr"/>
                </a:tc>
                <a:tc>
                  <a:txBody>
                    <a:bodyPr/>
                    <a:lstStyle/>
                    <a:p>
                      <a:pPr>
                        <a:buNone/>
                      </a:pPr>
                      <a:r>
                        <a:rPr lang="en-US" sz="2000" dirty="0"/>
                        <a:t>Data plan</a:t>
                      </a:r>
                    </a:p>
                  </a:txBody>
                  <a:tcPr anchor="ctr"/>
                </a:tc>
                <a:extLst>
                  <a:ext uri="{0D108BD9-81ED-4DB2-BD59-A6C34878D82A}">
                    <a16:rowId xmlns:a16="http://schemas.microsoft.com/office/drawing/2014/main" val="3059392885"/>
                  </a:ext>
                </a:extLst>
              </a:tr>
              <a:tr h="332788">
                <a:tc>
                  <a:txBody>
                    <a:bodyPr/>
                    <a:lstStyle/>
                    <a:p>
                      <a:pPr>
                        <a:buNone/>
                      </a:pPr>
                      <a:r>
                        <a:rPr lang="en-US" sz="2000" dirty="0"/>
                        <a:t>Oct. 23</a:t>
                      </a:r>
                    </a:p>
                  </a:txBody>
                  <a:tcPr anchor="ctr"/>
                </a:tc>
                <a:tc>
                  <a:txBody>
                    <a:bodyPr/>
                    <a:lstStyle/>
                    <a:p>
                      <a:pPr>
                        <a:buNone/>
                      </a:pPr>
                      <a:r>
                        <a:rPr lang="en-US" sz="2000"/>
                        <a:t>Modeling plan</a:t>
                      </a:r>
                    </a:p>
                  </a:txBody>
                  <a:tcPr anchor="ctr"/>
                </a:tc>
                <a:extLst>
                  <a:ext uri="{0D108BD9-81ED-4DB2-BD59-A6C34878D82A}">
                    <a16:rowId xmlns:a16="http://schemas.microsoft.com/office/drawing/2014/main" val="2365707035"/>
                  </a:ext>
                </a:extLst>
              </a:tr>
              <a:tr h="332788">
                <a:tc>
                  <a:txBody>
                    <a:bodyPr/>
                    <a:lstStyle/>
                    <a:p>
                      <a:pPr>
                        <a:buNone/>
                      </a:pPr>
                      <a:r>
                        <a:rPr lang="en-US" sz="2000" dirty="0"/>
                        <a:t>Nov. 6</a:t>
                      </a:r>
                    </a:p>
                  </a:txBody>
                  <a:tcPr anchor="ctr"/>
                </a:tc>
                <a:tc>
                  <a:txBody>
                    <a:bodyPr/>
                    <a:lstStyle/>
                    <a:p>
                      <a:pPr>
                        <a:buNone/>
                      </a:pPr>
                      <a:r>
                        <a:rPr lang="en-US" sz="2000" dirty="0"/>
                        <a:t>Preliminary results</a:t>
                      </a:r>
                    </a:p>
                  </a:txBody>
                  <a:tcPr anchor="ctr"/>
                </a:tc>
                <a:extLst>
                  <a:ext uri="{0D108BD9-81ED-4DB2-BD59-A6C34878D82A}">
                    <a16:rowId xmlns:a16="http://schemas.microsoft.com/office/drawing/2014/main" val="2603199924"/>
                  </a:ext>
                </a:extLst>
              </a:tr>
              <a:tr h="332788">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2000" dirty="0">
                          <a:solidFill>
                            <a:schemeClr val="accent2">
                              <a:lumMod val="75000"/>
                            </a:schemeClr>
                          </a:solidFill>
                        </a:rPr>
                        <a:t>Dec. 1 (optional)</a:t>
                      </a:r>
                    </a:p>
                  </a:txBody>
                  <a:tcPr anchor="ctr"/>
                </a:tc>
                <a:tc>
                  <a:txBody>
                    <a:bodyPr/>
                    <a:lstStyle/>
                    <a:p>
                      <a:pPr>
                        <a:buNone/>
                      </a:pPr>
                      <a:r>
                        <a:rPr lang="en-US" sz="2000" dirty="0">
                          <a:solidFill>
                            <a:schemeClr val="accent2">
                              <a:lumMod val="75000"/>
                            </a:schemeClr>
                          </a:solidFill>
                        </a:rPr>
                        <a:t>Full final draft due</a:t>
                      </a:r>
                    </a:p>
                  </a:txBody>
                  <a:tcPr anchor="ctr"/>
                </a:tc>
                <a:extLst>
                  <a:ext uri="{0D108BD9-81ED-4DB2-BD59-A6C34878D82A}">
                    <a16:rowId xmlns:a16="http://schemas.microsoft.com/office/drawing/2014/main" val="1177244458"/>
                  </a:ext>
                </a:extLst>
              </a:tr>
              <a:tr h="332788">
                <a:tc>
                  <a:txBody>
                    <a:bodyPr/>
                    <a:lstStyle/>
                    <a:p>
                      <a:pPr>
                        <a:buNone/>
                      </a:pPr>
                      <a:r>
                        <a:rPr lang="en-US" sz="2000" strike="sngStrike" dirty="0"/>
                        <a:t>Dec. 1</a:t>
                      </a:r>
                      <a:r>
                        <a:rPr lang="en-US" sz="2000" strike="noStrike" dirty="0"/>
                        <a:t> (redefined day)</a:t>
                      </a:r>
                    </a:p>
                    <a:p>
                      <a:pPr>
                        <a:buNone/>
                      </a:pPr>
                      <a:r>
                        <a:rPr lang="en-US" sz="2000" strike="noStrike" dirty="0"/>
                        <a:t>Dec. 10 1-3 pm (finals slot)</a:t>
                      </a:r>
                      <a:endParaRPr lang="en-US" sz="2000" strike="sngStrike" dirty="0"/>
                    </a:p>
                  </a:txBody>
                  <a:tcPr anchor="ctr"/>
                </a:tc>
                <a:tc>
                  <a:txBody>
                    <a:bodyPr/>
                    <a:lstStyle/>
                    <a:p>
                      <a:pPr>
                        <a:buNone/>
                      </a:pPr>
                      <a:r>
                        <a:rPr lang="en-US" sz="2000" dirty="0"/>
                        <a:t>Presentation</a:t>
                      </a:r>
                    </a:p>
                  </a:txBody>
                  <a:tcPr anchor="ctr"/>
                </a:tc>
                <a:extLst>
                  <a:ext uri="{0D108BD9-81ED-4DB2-BD59-A6C34878D82A}">
                    <a16:rowId xmlns:a16="http://schemas.microsoft.com/office/drawing/2014/main" val="2890838770"/>
                  </a:ext>
                </a:extLst>
              </a:tr>
              <a:tr h="563180">
                <a:tc>
                  <a:txBody>
                    <a:bodyPr/>
                    <a:lstStyle/>
                    <a:p>
                      <a:pPr>
                        <a:buNone/>
                      </a:pPr>
                      <a:r>
                        <a:rPr lang="en-US" sz="2000"/>
                        <a:t>Dec. 11</a:t>
                      </a:r>
                    </a:p>
                  </a:txBody>
                  <a:tcPr anchor="ctr"/>
                </a:tc>
                <a:tc>
                  <a:txBody>
                    <a:bodyPr/>
                    <a:lstStyle/>
                    <a:p>
                      <a:pPr>
                        <a:buNone/>
                      </a:pPr>
                      <a:r>
                        <a:rPr lang="en-US" sz="2000" dirty="0"/>
                        <a:t>Final paper</a:t>
                      </a:r>
                    </a:p>
                  </a:txBody>
                  <a:tcPr anchor="ctr"/>
                </a:tc>
                <a:extLst>
                  <a:ext uri="{0D108BD9-81ED-4DB2-BD59-A6C34878D82A}">
                    <a16:rowId xmlns:a16="http://schemas.microsoft.com/office/drawing/2014/main" val="1254816444"/>
                  </a:ext>
                </a:extLst>
              </a:tr>
            </a:tbl>
          </a:graphicData>
        </a:graphic>
      </p:graphicFrame>
    </p:spTree>
    <p:extLst>
      <p:ext uri="{BB962C8B-B14F-4D97-AF65-F5344CB8AC3E}">
        <p14:creationId xmlns:p14="http://schemas.microsoft.com/office/powerpoint/2010/main" val="800322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3A30-1780-5937-E856-89F2E8552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A0307-79AE-61F3-A7AF-66C33C0C23A3}"/>
              </a:ext>
            </a:extLst>
          </p:cNvPr>
          <p:cNvSpPr>
            <a:spLocks noGrp="1"/>
          </p:cNvSpPr>
          <p:nvPr>
            <p:ph type="title"/>
          </p:nvPr>
        </p:nvSpPr>
        <p:spPr/>
        <p:txBody>
          <a:bodyPr/>
          <a:lstStyle/>
          <a:p>
            <a:r>
              <a:rPr lang="en-US" dirty="0"/>
              <a:t>Class Plan</a:t>
            </a:r>
          </a:p>
        </p:txBody>
      </p:sp>
      <p:sp>
        <p:nvSpPr>
          <p:cNvPr id="3" name="Content Placeholder 2">
            <a:extLst>
              <a:ext uri="{FF2B5EF4-FFF2-40B4-BE49-F238E27FC236}">
                <a16:creationId xmlns:a16="http://schemas.microsoft.com/office/drawing/2014/main" id="{D737468E-DFB5-9223-01DC-321D344FD275}"/>
              </a:ext>
            </a:extLst>
          </p:cNvPr>
          <p:cNvSpPr>
            <a:spLocks noGrp="1"/>
          </p:cNvSpPr>
          <p:nvPr>
            <p:ph idx="1"/>
          </p:nvPr>
        </p:nvSpPr>
        <p:spPr/>
        <p:txBody>
          <a:bodyPr/>
          <a:lstStyle/>
          <a:p>
            <a:r>
              <a:rPr lang="en-US" dirty="0"/>
              <a:t>Today: Writing, discussion, lecture on Modeling In Practice (Peterson 4 and 5)</a:t>
            </a:r>
          </a:p>
          <a:p>
            <a:r>
              <a:rPr lang="en-US" dirty="0"/>
              <a:t>Thursday: Lab 03 due this Friday before midnight</a:t>
            </a:r>
          </a:p>
          <a:p>
            <a:pPr marL="0" indent="0">
              <a:buNone/>
            </a:pPr>
            <a:endParaRPr lang="en-US" dirty="0"/>
          </a:p>
        </p:txBody>
      </p:sp>
    </p:spTree>
    <p:extLst>
      <p:ext uri="{BB962C8B-B14F-4D97-AF65-F5344CB8AC3E}">
        <p14:creationId xmlns:p14="http://schemas.microsoft.com/office/powerpoint/2010/main" val="135870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5CBE1-49A3-A2D9-5F2B-1FDDB654AAE4}"/>
              </a:ext>
            </a:extLst>
          </p:cNvPr>
          <p:cNvSpPr>
            <a:spLocks noGrp="1"/>
          </p:cNvSpPr>
          <p:nvPr>
            <p:ph type="title"/>
          </p:nvPr>
        </p:nvSpPr>
        <p:spPr/>
        <p:txBody>
          <a:bodyPr/>
          <a:lstStyle/>
          <a:p>
            <a:r>
              <a:rPr lang="en-US" dirty="0"/>
              <a:t>Write to yourself (2-minute paper)</a:t>
            </a:r>
          </a:p>
        </p:txBody>
      </p:sp>
      <p:sp>
        <p:nvSpPr>
          <p:cNvPr id="3" name="Content Placeholder 2">
            <a:extLst>
              <a:ext uri="{FF2B5EF4-FFF2-40B4-BE49-F238E27FC236}">
                <a16:creationId xmlns:a16="http://schemas.microsoft.com/office/drawing/2014/main" id="{4F6FDF23-BD27-EE31-9933-4AE5E480CCB3}"/>
              </a:ext>
            </a:extLst>
          </p:cNvPr>
          <p:cNvSpPr>
            <a:spLocks noGrp="1"/>
          </p:cNvSpPr>
          <p:nvPr>
            <p:ph idx="1"/>
          </p:nvPr>
        </p:nvSpPr>
        <p:spPr/>
        <p:txBody>
          <a:bodyPr/>
          <a:lstStyle/>
          <a:p>
            <a:r>
              <a:rPr lang="en-US" dirty="0"/>
              <a:t>What is a species geographic distribution?</a:t>
            </a:r>
          </a:p>
          <a:p>
            <a:r>
              <a:rPr lang="en-US" dirty="0"/>
              <a:t>What is an ecological niche?</a:t>
            </a:r>
          </a:p>
          <a:p>
            <a:r>
              <a:rPr lang="en-US" dirty="0"/>
              <a:t>What is the difference between species distribution modeling and ecological niche modeling?</a:t>
            </a:r>
          </a:p>
          <a:p>
            <a:endParaRPr lang="en-US" dirty="0"/>
          </a:p>
          <a:p>
            <a:endParaRPr lang="en-US" dirty="0"/>
          </a:p>
        </p:txBody>
      </p:sp>
    </p:spTree>
    <p:extLst>
      <p:ext uri="{BB962C8B-B14F-4D97-AF65-F5344CB8AC3E}">
        <p14:creationId xmlns:p14="http://schemas.microsoft.com/office/powerpoint/2010/main" val="3940620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2A91-501D-BCEF-0988-3CCBA7D40AA3}"/>
              </a:ext>
            </a:extLst>
          </p:cNvPr>
          <p:cNvSpPr>
            <a:spLocks noGrp="1"/>
          </p:cNvSpPr>
          <p:nvPr>
            <p:ph type="title"/>
          </p:nvPr>
        </p:nvSpPr>
        <p:spPr/>
        <p:txBody>
          <a:bodyPr/>
          <a:lstStyle/>
          <a:p>
            <a:r>
              <a:rPr lang="en-US" dirty="0"/>
              <a:t>Purpose of modeling - “fit for purpose” </a:t>
            </a:r>
          </a:p>
        </p:txBody>
      </p:sp>
      <p:sp>
        <p:nvSpPr>
          <p:cNvPr id="3" name="Content Placeholder 2">
            <a:extLst>
              <a:ext uri="{FF2B5EF4-FFF2-40B4-BE49-F238E27FC236}">
                <a16:creationId xmlns:a16="http://schemas.microsoft.com/office/drawing/2014/main" id="{6F6D338E-FF67-1E06-5BCF-139275C0E963}"/>
              </a:ext>
            </a:extLst>
          </p:cNvPr>
          <p:cNvSpPr>
            <a:spLocks noGrp="1"/>
          </p:cNvSpPr>
          <p:nvPr>
            <p:ph idx="1"/>
          </p:nvPr>
        </p:nvSpPr>
        <p:spPr/>
        <p:txBody>
          <a:bodyPr>
            <a:normAutofit/>
          </a:bodyPr>
          <a:lstStyle/>
          <a:p>
            <a:pPr marL="0" indent="0">
              <a:buNone/>
            </a:pPr>
            <a:r>
              <a:rPr lang="en-US" dirty="0"/>
              <a:t>Why do you want to build a model in the first place?</a:t>
            </a:r>
          </a:p>
          <a:p>
            <a:r>
              <a:rPr lang="en-US" dirty="0"/>
              <a:t>Do you want an explanation about why a species is living where it currently lives?</a:t>
            </a:r>
          </a:p>
          <a:p>
            <a:r>
              <a:rPr lang="en-US" dirty="0"/>
              <a:t>Do you want a current distribution map of the species? </a:t>
            </a:r>
          </a:p>
          <a:p>
            <a:r>
              <a:rPr lang="en-US" dirty="0"/>
              <a:t>Do you want to know where the species might find suitable conditions in another place or time?</a:t>
            </a:r>
          </a:p>
        </p:txBody>
      </p:sp>
    </p:spTree>
    <p:extLst>
      <p:ext uri="{BB962C8B-B14F-4D97-AF65-F5344CB8AC3E}">
        <p14:creationId xmlns:p14="http://schemas.microsoft.com/office/powerpoint/2010/main" val="3052754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 schematic&#10;&#10;Description automatically generated">
            <a:extLst>
              <a:ext uri="{FF2B5EF4-FFF2-40B4-BE49-F238E27FC236}">
                <a16:creationId xmlns:a16="http://schemas.microsoft.com/office/drawing/2014/main" id="{2525D329-4716-4145-A607-EF9398288A13}"/>
              </a:ext>
            </a:extLst>
          </p:cNvPr>
          <p:cNvPicPr>
            <a:picLocks noGrp="1" noChangeAspect="1"/>
          </p:cNvPicPr>
          <p:nvPr>
            <p:ph idx="4294967295"/>
          </p:nvPr>
        </p:nvPicPr>
        <p:blipFill>
          <a:blip r:embed="rId2"/>
          <a:stretch>
            <a:fillRect/>
          </a:stretch>
        </p:blipFill>
        <p:spPr>
          <a:xfrm rot="5400000">
            <a:off x="1622513" y="-438082"/>
            <a:ext cx="4498335" cy="6664831"/>
          </a:xfrm>
        </p:spPr>
      </p:pic>
      <p:sp>
        <p:nvSpPr>
          <p:cNvPr id="7" name="TextBox 6">
            <a:extLst>
              <a:ext uri="{FF2B5EF4-FFF2-40B4-BE49-F238E27FC236}">
                <a16:creationId xmlns:a16="http://schemas.microsoft.com/office/drawing/2014/main" id="{70D7E959-A917-9449-904E-3EFEC9213773}"/>
              </a:ext>
            </a:extLst>
          </p:cNvPr>
          <p:cNvSpPr txBox="1"/>
          <p:nvPr/>
        </p:nvSpPr>
        <p:spPr>
          <a:xfrm>
            <a:off x="650374" y="2029266"/>
            <a:ext cx="1181687" cy="415498"/>
          </a:xfrm>
          <a:prstGeom prst="rect">
            <a:avLst/>
          </a:prstGeom>
          <a:noFill/>
        </p:spPr>
        <p:txBody>
          <a:bodyPr wrap="square" rtlCol="0">
            <a:spAutoFit/>
          </a:bodyPr>
          <a:lstStyle/>
          <a:p>
            <a:r>
              <a:rPr lang="en-US" sz="1050" b="1" dirty="0">
                <a:solidFill>
                  <a:schemeClr val="accent2">
                    <a:lumMod val="75000"/>
                  </a:schemeClr>
                </a:solidFill>
              </a:rPr>
              <a:t>Step 1: Data preparation</a:t>
            </a:r>
          </a:p>
        </p:txBody>
      </p:sp>
      <p:sp>
        <p:nvSpPr>
          <p:cNvPr id="9" name="TextBox 8">
            <a:extLst>
              <a:ext uri="{FF2B5EF4-FFF2-40B4-BE49-F238E27FC236}">
                <a16:creationId xmlns:a16="http://schemas.microsoft.com/office/drawing/2014/main" id="{7F88886D-7951-E246-A6E5-F6E589EBC413}"/>
              </a:ext>
            </a:extLst>
          </p:cNvPr>
          <p:cNvSpPr txBox="1"/>
          <p:nvPr/>
        </p:nvSpPr>
        <p:spPr>
          <a:xfrm>
            <a:off x="3871680" y="1404632"/>
            <a:ext cx="1473480" cy="253916"/>
          </a:xfrm>
          <a:prstGeom prst="rect">
            <a:avLst/>
          </a:prstGeom>
          <a:noFill/>
        </p:spPr>
        <p:txBody>
          <a:bodyPr wrap="none" rtlCol="0">
            <a:spAutoFit/>
          </a:bodyPr>
          <a:lstStyle/>
          <a:p>
            <a:r>
              <a:rPr lang="en-US" sz="1050" b="1" dirty="0">
                <a:solidFill>
                  <a:schemeClr val="accent2">
                    <a:lumMod val="75000"/>
                  </a:schemeClr>
                </a:solidFill>
              </a:rPr>
              <a:t>Step 2: Niche modeling</a:t>
            </a:r>
          </a:p>
        </p:txBody>
      </p:sp>
      <p:sp>
        <p:nvSpPr>
          <p:cNvPr id="10" name="TextBox 9">
            <a:extLst>
              <a:ext uri="{FF2B5EF4-FFF2-40B4-BE49-F238E27FC236}">
                <a16:creationId xmlns:a16="http://schemas.microsoft.com/office/drawing/2014/main" id="{F8D9125B-8D05-D44A-8457-0016CF1E3CDE}"/>
              </a:ext>
            </a:extLst>
          </p:cNvPr>
          <p:cNvSpPr txBox="1"/>
          <p:nvPr/>
        </p:nvSpPr>
        <p:spPr>
          <a:xfrm>
            <a:off x="7194652" y="1370007"/>
            <a:ext cx="1304583" cy="577081"/>
          </a:xfrm>
          <a:prstGeom prst="rect">
            <a:avLst/>
          </a:prstGeom>
          <a:noFill/>
        </p:spPr>
        <p:txBody>
          <a:bodyPr wrap="square" rtlCol="0">
            <a:spAutoFit/>
          </a:bodyPr>
          <a:lstStyle/>
          <a:p>
            <a:r>
              <a:rPr lang="en-US" sz="1050" b="1" dirty="0">
                <a:solidFill>
                  <a:schemeClr val="accent2">
                    <a:lumMod val="75000"/>
                  </a:schemeClr>
                </a:solidFill>
              </a:rPr>
              <a:t>Step 3: Model projection and evaluation</a:t>
            </a:r>
          </a:p>
        </p:txBody>
      </p:sp>
      <p:sp>
        <p:nvSpPr>
          <p:cNvPr id="11" name="TextBox 10">
            <a:extLst>
              <a:ext uri="{FF2B5EF4-FFF2-40B4-BE49-F238E27FC236}">
                <a16:creationId xmlns:a16="http://schemas.microsoft.com/office/drawing/2014/main" id="{FE43A7A6-2D35-594D-A54D-7006BE771CDD}"/>
              </a:ext>
            </a:extLst>
          </p:cNvPr>
          <p:cNvSpPr txBox="1"/>
          <p:nvPr/>
        </p:nvSpPr>
        <p:spPr>
          <a:xfrm>
            <a:off x="7194652" y="3337545"/>
            <a:ext cx="1162348" cy="415498"/>
          </a:xfrm>
          <a:prstGeom prst="rect">
            <a:avLst/>
          </a:prstGeom>
          <a:noFill/>
        </p:spPr>
        <p:txBody>
          <a:bodyPr wrap="square" rtlCol="0">
            <a:spAutoFit/>
          </a:bodyPr>
          <a:lstStyle/>
          <a:p>
            <a:r>
              <a:rPr lang="en-US" sz="1050" b="1" dirty="0">
                <a:solidFill>
                  <a:schemeClr val="accent2">
                    <a:lumMod val="75000"/>
                  </a:schemeClr>
                </a:solidFill>
              </a:rPr>
              <a:t>Step 4: Model transferability</a:t>
            </a:r>
          </a:p>
        </p:txBody>
      </p:sp>
    </p:spTree>
    <p:extLst>
      <p:ext uri="{BB962C8B-B14F-4D97-AF65-F5344CB8AC3E}">
        <p14:creationId xmlns:p14="http://schemas.microsoft.com/office/powerpoint/2010/main" val="3755286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1C5F8-5AC6-7B03-97B6-57289CB06424}"/>
            </a:ext>
          </a:extLst>
        </p:cNvPr>
        <p:cNvGrpSpPr/>
        <p:nvPr/>
      </p:nvGrpSpPr>
      <p:grpSpPr>
        <a:xfrm>
          <a:off x="0" y="0"/>
          <a:ext cx="0" cy="0"/>
          <a:chOff x="0" y="0"/>
          <a:chExt cx="0" cy="0"/>
        </a:xfrm>
      </p:grpSpPr>
      <p:pic>
        <p:nvPicPr>
          <p:cNvPr id="5" name="Content Placeholder 4" descr="Diagram, schematic&#10;&#10;Description automatically generated">
            <a:extLst>
              <a:ext uri="{FF2B5EF4-FFF2-40B4-BE49-F238E27FC236}">
                <a16:creationId xmlns:a16="http://schemas.microsoft.com/office/drawing/2014/main" id="{C9CFC392-2C29-5609-BAFB-21B3BA5DBC98}"/>
              </a:ext>
            </a:extLst>
          </p:cNvPr>
          <p:cNvPicPr>
            <a:picLocks noGrp="1" noChangeAspect="1"/>
          </p:cNvPicPr>
          <p:nvPr>
            <p:ph idx="4294967295"/>
          </p:nvPr>
        </p:nvPicPr>
        <p:blipFill>
          <a:blip r:embed="rId2"/>
          <a:srcRect l="15174" t="52272" r="41880"/>
          <a:stretch>
            <a:fillRect/>
          </a:stretch>
        </p:blipFill>
        <p:spPr>
          <a:xfrm rot="5400000">
            <a:off x="2428995" y="211381"/>
            <a:ext cx="3727128" cy="6137113"/>
          </a:xfrm>
        </p:spPr>
      </p:pic>
      <p:sp>
        <p:nvSpPr>
          <p:cNvPr id="3" name="TextBox 2">
            <a:extLst>
              <a:ext uri="{FF2B5EF4-FFF2-40B4-BE49-F238E27FC236}">
                <a16:creationId xmlns:a16="http://schemas.microsoft.com/office/drawing/2014/main" id="{2A0ED9CA-E8E2-3076-5514-9EA31C985AAE}"/>
              </a:ext>
            </a:extLst>
          </p:cNvPr>
          <p:cNvSpPr txBox="1"/>
          <p:nvPr/>
        </p:nvSpPr>
        <p:spPr>
          <a:xfrm>
            <a:off x="1715086" y="2571750"/>
            <a:ext cx="2243138" cy="707886"/>
          </a:xfrm>
          <a:prstGeom prst="rect">
            <a:avLst/>
          </a:prstGeom>
          <a:noFill/>
        </p:spPr>
        <p:txBody>
          <a:bodyPr wrap="square" rtlCol="0">
            <a:spAutoFit/>
          </a:bodyPr>
          <a:lstStyle/>
          <a:p>
            <a:r>
              <a:rPr lang="en-US" sz="2000" b="1" dirty="0">
                <a:solidFill>
                  <a:schemeClr val="accent2">
                    <a:lumMod val="75000"/>
                  </a:schemeClr>
                </a:solidFill>
              </a:rPr>
              <a:t>Step 1: Data preparation</a:t>
            </a:r>
          </a:p>
        </p:txBody>
      </p:sp>
      <p:sp>
        <p:nvSpPr>
          <p:cNvPr id="4" name="TextBox 3">
            <a:extLst>
              <a:ext uri="{FF2B5EF4-FFF2-40B4-BE49-F238E27FC236}">
                <a16:creationId xmlns:a16="http://schemas.microsoft.com/office/drawing/2014/main" id="{C3495D92-4049-E55E-C0DB-6C55D3C69166}"/>
              </a:ext>
            </a:extLst>
          </p:cNvPr>
          <p:cNvSpPr txBox="1"/>
          <p:nvPr/>
        </p:nvSpPr>
        <p:spPr>
          <a:xfrm>
            <a:off x="4546948" y="550372"/>
            <a:ext cx="2789116" cy="1015663"/>
          </a:xfrm>
          <a:prstGeom prst="rect">
            <a:avLst/>
          </a:prstGeom>
          <a:noFill/>
        </p:spPr>
        <p:txBody>
          <a:bodyPr wrap="square" rtlCol="0">
            <a:spAutoFit/>
          </a:bodyPr>
          <a:lstStyle/>
          <a:p>
            <a:r>
              <a:rPr lang="en-US" sz="2000" b="1" dirty="0">
                <a:solidFill>
                  <a:schemeClr val="accent2">
                    <a:lumMod val="75000"/>
                  </a:schemeClr>
                </a:solidFill>
              </a:rPr>
              <a:t>Step 1.5: Identify bias, resampling, training and evaluation datasets</a:t>
            </a:r>
          </a:p>
        </p:txBody>
      </p:sp>
    </p:spTree>
    <p:extLst>
      <p:ext uri="{BB962C8B-B14F-4D97-AF65-F5344CB8AC3E}">
        <p14:creationId xmlns:p14="http://schemas.microsoft.com/office/powerpoint/2010/main" val="727392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30B18-C9E6-7069-FE84-B294B7F54BE5}"/>
            </a:ext>
          </a:extLst>
        </p:cNvPr>
        <p:cNvGrpSpPr/>
        <p:nvPr/>
      </p:nvGrpSpPr>
      <p:grpSpPr>
        <a:xfrm>
          <a:off x="0" y="0"/>
          <a:ext cx="0" cy="0"/>
          <a:chOff x="0" y="0"/>
          <a:chExt cx="0" cy="0"/>
        </a:xfrm>
      </p:grpSpPr>
      <p:pic>
        <p:nvPicPr>
          <p:cNvPr id="5" name="Content Placeholder 4" descr="Diagram, schematic&#10;&#10;Description automatically generated">
            <a:extLst>
              <a:ext uri="{FF2B5EF4-FFF2-40B4-BE49-F238E27FC236}">
                <a16:creationId xmlns:a16="http://schemas.microsoft.com/office/drawing/2014/main" id="{D41CFD30-C684-E248-C54A-34FC67A1B7D9}"/>
              </a:ext>
            </a:extLst>
          </p:cNvPr>
          <p:cNvPicPr>
            <a:picLocks noGrp="1" noChangeAspect="1"/>
          </p:cNvPicPr>
          <p:nvPr>
            <p:ph idx="4294967295"/>
          </p:nvPr>
        </p:nvPicPr>
        <p:blipFill>
          <a:blip r:embed="rId2"/>
          <a:srcRect l="20465" t="25021" r="27742" b="49043"/>
          <a:stretch>
            <a:fillRect/>
          </a:stretch>
        </p:blipFill>
        <p:spPr>
          <a:xfrm rot="5400000">
            <a:off x="2210634" y="1446962"/>
            <a:ext cx="3933177" cy="2918157"/>
          </a:xfrm>
        </p:spPr>
      </p:pic>
      <p:sp>
        <p:nvSpPr>
          <p:cNvPr id="3" name="TextBox 2">
            <a:extLst>
              <a:ext uri="{FF2B5EF4-FFF2-40B4-BE49-F238E27FC236}">
                <a16:creationId xmlns:a16="http://schemas.microsoft.com/office/drawing/2014/main" id="{48F815BB-BB7E-6D91-0D67-99C5D7D8114A}"/>
              </a:ext>
            </a:extLst>
          </p:cNvPr>
          <p:cNvSpPr txBox="1"/>
          <p:nvPr/>
        </p:nvSpPr>
        <p:spPr>
          <a:xfrm>
            <a:off x="2808455" y="601611"/>
            <a:ext cx="2637325" cy="400110"/>
          </a:xfrm>
          <a:prstGeom prst="rect">
            <a:avLst/>
          </a:prstGeom>
          <a:noFill/>
        </p:spPr>
        <p:txBody>
          <a:bodyPr wrap="none" rtlCol="0">
            <a:spAutoFit/>
          </a:bodyPr>
          <a:lstStyle/>
          <a:p>
            <a:r>
              <a:rPr lang="en-US" sz="2000" b="1" dirty="0">
                <a:solidFill>
                  <a:schemeClr val="accent2">
                    <a:lumMod val="75000"/>
                  </a:schemeClr>
                </a:solidFill>
              </a:rPr>
              <a:t>Step 2: Niche modeling</a:t>
            </a:r>
          </a:p>
        </p:txBody>
      </p:sp>
      <p:sp>
        <p:nvSpPr>
          <p:cNvPr id="4" name="TextBox 3">
            <a:extLst>
              <a:ext uri="{FF2B5EF4-FFF2-40B4-BE49-F238E27FC236}">
                <a16:creationId xmlns:a16="http://schemas.microsoft.com/office/drawing/2014/main" id="{1CCDADB5-D120-9073-A63A-46C5C1C449EA}"/>
              </a:ext>
            </a:extLst>
          </p:cNvPr>
          <p:cNvSpPr txBox="1"/>
          <p:nvPr/>
        </p:nvSpPr>
        <p:spPr>
          <a:xfrm>
            <a:off x="5636301" y="3803938"/>
            <a:ext cx="2652265" cy="400110"/>
          </a:xfrm>
          <a:prstGeom prst="rect">
            <a:avLst/>
          </a:prstGeom>
          <a:noFill/>
        </p:spPr>
        <p:txBody>
          <a:bodyPr wrap="none" rtlCol="0">
            <a:spAutoFit/>
          </a:bodyPr>
          <a:lstStyle/>
          <a:p>
            <a:r>
              <a:rPr lang="en-US" sz="2000" b="1" dirty="0">
                <a:solidFill>
                  <a:schemeClr val="accent2">
                    <a:lumMod val="75000"/>
                  </a:schemeClr>
                </a:solidFill>
              </a:rPr>
              <a:t>&lt;-  Lots of Assumptions</a:t>
            </a:r>
          </a:p>
        </p:txBody>
      </p:sp>
    </p:spTree>
    <p:extLst>
      <p:ext uri="{BB962C8B-B14F-4D97-AF65-F5344CB8AC3E}">
        <p14:creationId xmlns:p14="http://schemas.microsoft.com/office/powerpoint/2010/main" val="4232225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99C71-3EFE-D668-E28B-3EC01D0BEE2C}"/>
            </a:ext>
          </a:extLst>
        </p:cNvPr>
        <p:cNvGrpSpPr/>
        <p:nvPr/>
      </p:nvGrpSpPr>
      <p:grpSpPr>
        <a:xfrm>
          <a:off x="0" y="0"/>
          <a:ext cx="0" cy="0"/>
          <a:chOff x="0" y="0"/>
          <a:chExt cx="0" cy="0"/>
        </a:xfrm>
      </p:grpSpPr>
      <p:pic>
        <p:nvPicPr>
          <p:cNvPr id="5" name="Content Placeholder 4" descr="Diagram, schematic&#10;&#10;Description automatically generated">
            <a:extLst>
              <a:ext uri="{FF2B5EF4-FFF2-40B4-BE49-F238E27FC236}">
                <a16:creationId xmlns:a16="http://schemas.microsoft.com/office/drawing/2014/main" id="{DE7E3587-2CD5-63AA-9416-FBB3E39ADACF}"/>
              </a:ext>
            </a:extLst>
          </p:cNvPr>
          <p:cNvPicPr>
            <a:picLocks noGrp="1" noChangeAspect="1"/>
          </p:cNvPicPr>
          <p:nvPr>
            <p:ph idx="4294967295"/>
          </p:nvPr>
        </p:nvPicPr>
        <p:blipFill>
          <a:blip r:embed="rId2"/>
          <a:srcRect r="57171" b="74865"/>
          <a:stretch>
            <a:fillRect/>
          </a:stretch>
        </p:blipFill>
        <p:spPr>
          <a:xfrm rot="5400000">
            <a:off x="1157516" y="1515989"/>
            <a:ext cx="3747438" cy="3258396"/>
          </a:xfrm>
        </p:spPr>
      </p:pic>
      <p:pic>
        <p:nvPicPr>
          <p:cNvPr id="2" name="Content Placeholder 4" descr="Diagram, schematic&#10;&#10;Description automatically generated">
            <a:extLst>
              <a:ext uri="{FF2B5EF4-FFF2-40B4-BE49-F238E27FC236}">
                <a16:creationId xmlns:a16="http://schemas.microsoft.com/office/drawing/2014/main" id="{334F71E7-FC3B-19EC-8F07-BF6130C88C2B}"/>
              </a:ext>
            </a:extLst>
          </p:cNvPr>
          <p:cNvPicPr>
            <a:picLocks noChangeAspect="1"/>
          </p:cNvPicPr>
          <p:nvPr/>
        </p:nvPicPr>
        <p:blipFill>
          <a:blip r:embed="rId2"/>
          <a:srcRect l="42417" r="9075" b="74865"/>
          <a:stretch>
            <a:fillRect/>
          </a:stretch>
        </p:blipFill>
        <p:spPr>
          <a:xfrm rot="5400000">
            <a:off x="4731878" y="1824093"/>
            <a:ext cx="3638515" cy="2793304"/>
          </a:xfrm>
          <a:prstGeom prst="rect">
            <a:avLst/>
          </a:prstGeom>
        </p:spPr>
      </p:pic>
      <p:sp>
        <p:nvSpPr>
          <p:cNvPr id="3" name="TextBox 2">
            <a:extLst>
              <a:ext uri="{FF2B5EF4-FFF2-40B4-BE49-F238E27FC236}">
                <a16:creationId xmlns:a16="http://schemas.microsoft.com/office/drawing/2014/main" id="{49BB7FE7-8D12-924C-4A24-A9DF609FDC03}"/>
              </a:ext>
            </a:extLst>
          </p:cNvPr>
          <p:cNvSpPr txBox="1"/>
          <p:nvPr/>
        </p:nvSpPr>
        <p:spPr>
          <a:xfrm>
            <a:off x="1289303" y="693601"/>
            <a:ext cx="3145662" cy="707886"/>
          </a:xfrm>
          <a:prstGeom prst="rect">
            <a:avLst/>
          </a:prstGeom>
          <a:noFill/>
        </p:spPr>
        <p:txBody>
          <a:bodyPr wrap="square" rtlCol="0">
            <a:spAutoFit/>
          </a:bodyPr>
          <a:lstStyle/>
          <a:p>
            <a:pPr algn="ctr"/>
            <a:r>
              <a:rPr lang="en-US" sz="2000" b="1" dirty="0">
                <a:solidFill>
                  <a:schemeClr val="accent2">
                    <a:lumMod val="75000"/>
                  </a:schemeClr>
                </a:solidFill>
              </a:rPr>
              <a:t>Step 3: Model projection and evaluation</a:t>
            </a:r>
          </a:p>
        </p:txBody>
      </p:sp>
      <p:sp>
        <p:nvSpPr>
          <p:cNvPr id="4" name="TextBox 3">
            <a:extLst>
              <a:ext uri="{FF2B5EF4-FFF2-40B4-BE49-F238E27FC236}">
                <a16:creationId xmlns:a16="http://schemas.microsoft.com/office/drawing/2014/main" id="{AC701D17-DC39-A242-EC13-7EDFBE5A0216}"/>
              </a:ext>
            </a:extLst>
          </p:cNvPr>
          <p:cNvSpPr txBox="1"/>
          <p:nvPr/>
        </p:nvSpPr>
        <p:spPr>
          <a:xfrm>
            <a:off x="5501304" y="693601"/>
            <a:ext cx="2037030" cy="707886"/>
          </a:xfrm>
          <a:prstGeom prst="rect">
            <a:avLst/>
          </a:prstGeom>
          <a:noFill/>
        </p:spPr>
        <p:txBody>
          <a:bodyPr wrap="square" rtlCol="0">
            <a:spAutoFit/>
          </a:bodyPr>
          <a:lstStyle/>
          <a:p>
            <a:pPr algn="ctr"/>
            <a:r>
              <a:rPr lang="en-US" sz="2000" b="1" dirty="0">
                <a:solidFill>
                  <a:schemeClr val="accent2">
                    <a:lumMod val="75000"/>
                  </a:schemeClr>
                </a:solidFill>
              </a:rPr>
              <a:t>Step 4: Model transferability</a:t>
            </a:r>
          </a:p>
        </p:txBody>
      </p:sp>
    </p:spTree>
    <p:extLst>
      <p:ext uri="{BB962C8B-B14F-4D97-AF65-F5344CB8AC3E}">
        <p14:creationId xmlns:p14="http://schemas.microsoft.com/office/powerpoint/2010/main" val="4101198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C36CA-8DF9-B60B-1555-6CD07052C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F445D-6103-7634-7BCB-FC8A8475A5C9}"/>
              </a:ext>
            </a:extLst>
          </p:cNvPr>
          <p:cNvSpPr>
            <a:spLocks noGrp="1"/>
          </p:cNvSpPr>
          <p:nvPr>
            <p:ph type="title"/>
          </p:nvPr>
        </p:nvSpPr>
        <p:spPr/>
        <p:txBody>
          <a:bodyPr/>
          <a:lstStyle/>
          <a:p>
            <a:r>
              <a:rPr lang="en-US" dirty="0"/>
              <a:t>What do these models estimate?</a:t>
            </a:r>
          </a:p>
        </p:txBody>
      </p:sp>
      <p:sp>
        <p:nvSpPr>
          <p:cNvPr id="3" name="Content Placeholder 2">
            <a:extLst>
              <a:ext uri="{FF2B5EF4-FFF2-40B4-BE49-F238E27FC236}">
                <a16:creationId xmlns:a16="http://schemas.microsoft.com/office/drawing/2014/main" id="{DFAB8FC5-A50A-8B29-62EA-A47571049185}"/>
              </a:ext>
            </a:extLst>
          </p:cNvPr>
          <p:cNvSpPr>
            <a:spLocks noGrp="1"/>
          </p:cNvSpPr>
          <p:nvPr>
            <p:ph idx="1"/>
          </p:nvPr>
        </p:nvSpPr>
        <p:spPr>
          <a:xfrm>
            <a:off x="745588" y="1329292"/>
            <a:ext cx="7941212" cy="3265331"/>
          </a:xfrm>
        </p:spPr>
        <p:txBody>
          <a:bodyPr/>
          <a:lstStyle/>
          <a:p>
            <a:pPr lvl="0"/>
            <a:r>
              <a:rPr lang="en-US" dirty="0"/>
              <a:t>Suitability: relative compatibility with modeled conditions</a:t>
            </a:r>
          </a:p>
          <a:p>
            <a:pPr lvl="0"/>
            <a:r>
              <a:rPr lang="en-US" dirty="0"/>
              <a:t>Relative intensity: expected density of records relative to other locations</a:t>
            </a:r>
          </a:p>
          <a:p>
            <a:pPr lvl="0"/>
            <a:r>
              <a:rPr lang="en-US" dirty="0"/>
              <a:t>Occupancy probability: probability that the species occupies a site</a:t>
            </a:r>
          </a:p>
          <a:p>
            <a:pPr lvl="0"/>
            <a:r>
              <a:rPr lang="en-US" dirty="0"/>
              <a:t>Observation probability: probability of recording the species</a:t>
            </a:r>
          </a:p>
          <a:p>
            <a:pPr lvl="0"/>
            <a:r>
              <a:rPr lang="en-US" dirty="0"/>
              <a:t>Potential distribution: geographic projection of suitable conditions</a:t>
            </a:r>
          </a:p>
        </p:txBody>
      </p:sp>
    </p:spTree>
    <p:extLst>
      <p:ext uri="{BB962C8B-B14F-4D97-AF65-F5344CB8AC3E}">
        <p14:creationId xmlns:p14="http://schemas.microsoft.com/office/powerpoint/2010/main" val="1265886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EF450-2722-16B4-7055-1EF675A67B19}"/>
              </a:ext>
            </a:extLst>
          </p:cNvPr>
          <p:cNvSpPr>
            <a:spLocks noGrp="1"/>
          </p:cNvSpPr>
          <p:nvPr>
            <p:ph type="title"/>
          </p:nvPr>
        </p:nvSpPr>
        <p:spPr/>
        <p:txBody>
          <a:bodyPr/>
          <a:lstStyle/>
          <a:p>
            <a:r>
              <a:rPr lang="en-US" dirty="0"/>
              <a:t>Model evaluation terms</a:t>
            </a:r>
          </a:p>
        </p:txBody>
      </p:sp>
      <p:sp>
        <p:nvSpPr>
          <p:cNvPr id="3" name="Content Placeholder 2">
            <a:extLst>
              <a:ext uri="{FF2B5EF4-FFF2-40B4-BE49-F238E27FC236}">
                <a16:creationId xmlns:a16="http://schemas.microsoft.com/office/drawing/2014/main" id="{1A0304EA-D133-07D2-D270-D65C73AA825F}"/>
              </a:ext>
            </a:extLst>
          </p:cNvPr>
          <p:cNvSpPr>
            <a:spLocks noGrp="1"/>
          </p:cNvSpPr>
          <p:nvPr>
            <p:ph idx="1"/>
          </p:nvPr>
        </p:nvSpPr>
        <p:spPr/>
        <p:txBody>
          <a:bodyPr/>
          <a:lstStyle/>
          <a:p>
            <a:r>
              <a:rPr lang="en-US" dirty="0"/>
              <a:t>Evaluation: general term covering all forms of model assessment</a:t>
            </a:r>
          </a:p>
          <a:p>
            <a:pPr lvl="0"/>
            <a:r>
              <a:rPr lang="en-US" dirty="0"/>
              <a:t>Calibration: estimate the model using training data</a:t>
            </a:r>
          </a:p>
          <a:p>
            <a:pPr lvl="0"/>
            <a:r>
              <a:rPr lang="en-US" dirty="0"/>
              <a:t>Verification: assess fit to the calibration data</a:t>
            </a:r>
          </a:p>
          <a:p>
            <a:pPr lvl="0"/>
            <a:r>
              <a:rPr lang="en-US" dirty="0"/>
              <a:t>Validation: test predictions with independent data</a:t>
            </a:r>
          </a:p>
          <a:p>
            <a:pPr lvl="0"/>
            <a:r>
              <a:rPr lang="en-US" dirty="0"/>
              <a:t>Cross-validation: test predictions with partial independence, depending on how folds are constructed</a:t>
            </a:r>
          </a:p>
        </p:txBody>
      </p:sp>
    </p:spTree>
    <p:extLst>
      <p:ext uri="{BB962C8B-B14F-4D97-AF65-F5344CB8AC3E}">
        <p14:creationId xmlns:p14="http://schemas.microsoft.com/office/powerpoint/2010/main" val="803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4C04-8D69-AF97-95C5-8E4E895701BE}"/>
              </a:ext>
            </a:extLst>
          </p:cNvPr>
          <p:cNvSpPr>
            <a:spLocks noGrp="1"/>
          </p:cNvSpPr>
          <p:nvPr>
            <p:ph type="title"/>
          </p:nvPr>
        </p:nvSpPr>
        <p:spPr/>
        <p:txBody>
          <a:bodyPr/>
          <a:lstStyle/>
          <a:p>
            <a:r>
              <a:rPr lang="en-US" dirty="0"/>
              <a:t>Loss functions</a:t>
            </a:r>
          </a:p>
        </p:txBody>
      </p:sp>
      <p:sp>
        <p:nvSpPr>
          <p:cNvPr id="3" name="Content Placeholder 2">
            <a:extLst>
              <a:ext uri="{FF2B5EF4-FFF2-40B4-BE49-F238E27FC236}">
                <a16:creationId xmlns:a16="http://schemas.microsoft.com/office/drawing/2014/main" id="{0422B320-C329-B74D-23AC-AB8641F6BD1F}"/>
              </a:ext>
            </a:extLst>
          </p:cNvPr>
          <p:cNvSpPr>
            <a:spLocks noGrp="1"/>
          </p:cNvSpPr>
          <p:nvPr>
            <p:ph idx="1"/>
          </p:nvPr>
        </p:nvSpPr>
        <p:spPr/>
        <p:txBody>
          <a:bodyPr/>
          <a:lstStyle/>
          <a:p>
            <a:pPr lvl="0"/>
            <a:r>
              <a:rPr lang="en-US" dirty="0"/>
              <a:t>A loss function defines the cost of prediction errors</a:t>
            </a:r>
          </a:p>
          <a:p>
            <a:pPr lvl="0"/>
            <a:r>
              <a:rPr lang="en-US" dirty="0"/>
              <a:t>Omission error predicts absence where the species occurs</a:t>
            </a:r>
          </a:p>
          <a:p>
            <a:pPr lvl="0"/>
            <a:r>
              <a:rPr lang="en-US" dirty="0"/>
              <a:t>Commission error predicts presence where the species does not occur</a:t>
            </a:r>
          </a:p>
          <a:p>
            <a:pPr lvl="0"/>
            <a:r>
              <a:rPr lang="en-US" dirty="0"/>
              <a:t>The appropriate balance of these depends on the biological or management objective</a:t>
            </a:r>
          </a:p>
        </p:txBody>
      </p:sp>
    </p:spTree>
    <p:extLst>
      <p:ext uri="{BB962C8B-B14F-4D97-AF65-F5344CB8AC3E}">
        <p14:creationId xmlns:p14="http://schemas.microsoft.com/office/powerpoint/2010/main" val="3713666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D24B-2ED0-7722-A223-F912F7998F31}"/>
              </a:ext>
            </a:extLst>
          </p:cNvPr>
          <p:cNvSpPr>
            <a:spLocks noGrp="1"/>
          </p:cNvSpPr>
          <p:nvPr>
            <p:ph type="title"/>
          </p:nvPr>
        </p:nvSpPr>
        <p:spPr/>
        <p:txBody>
          <a:bodyPr/>
          <a:lstStyle/>
          <a:p>
            <a:r>
              <a:rPr lang="en-US" dirty="0"/>
              <a:t>Geographic and environmental representation</a:t>
            </a:r>
          </a:p>
        </p:txBody>
      </p:sp>
      <p:sp>
        <p:nvSpPr>
          <p:cNvPr id="3" name="Content Placeholder 2">
            <a:extLst>
              <a:ext uri="{FF2B5EF4-FFF2-40B4-BE49-F238E27FC236}">
                <a16:creationId xmlns:a16="http://schemas.microsoft.com/office/drawing/2014/main" id="{E7E6A7D7-9078-7119-9484-B72C53036AC1}"/>
              </a:ext>
            </a:extLst>
          </p:cNvPr>
          <p:cNvSpPr>
            <a:spLocks noGrp="1"/>
          </p:cNvSpPr>
          <p:nvPr>
            <p:ph idx="1"/>
          </p:nvPr>
        </p:nvSpPr>
        <p:spPr/>
        <p:txBody>
          <a:bodyPr/>
          <a:lstStyle/>
          <a:p>
            <a:pPr lvl="0"/>
            <a:r>
              <a:rPr lang="en-US" dirty="0"/>
              <a:t>G-space bias: observations cluster in particular locations</a:t>
            </a:r>
          </a:p>
          <a:p>
            <a:pPr lvl="0"/>
            <a:r>
              <a:rPr lang="en-US" dirty="0"/>
              <a:t>E-space bias: observations fail to represent available environmental conditions</a:t>
            </a:r>
          </a:p>
          <a:p>
            <a:pPr lvl="0"/>
            <a:r>
              <a:rPr lang="en-US" dirty="0"/>
              <a:t>Geographic clustering does not necessarily produce environmental bias</a:t>
            </a:r>
          </a:p>
          <a:p>
            <a:pPr lvl="0"/>
            <a:r>
              <a:rPr lang="en-US" dirty="0"/>
              <a:t>Both forms of bias should be evaluated</a:t>
            </a:r>
          </a:p>
        </p:txBody>
      </p:sp>
    </p:spTree>
    <p:extLst>
      <p:ext uri="{BB962C8B-B14F-4D97-AF65-F5344CB8AC3E}">
        <p14:creationId xmlns:p14="http://schemas.microsoft.com/office/powerpoint/2010/main" val="543868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6B9F8-1753-29D3-291F-74CD10AC4588}"/>
              </a:ext>
            </a:extLst>
          </p:cNvPr>
          <p:cNvSpPr>
            <a:spLocks noGrp="1"/>
          </p:cNvSpPr>
          <p:nvPr>
            <p:ph type="title"/>
          </p:nvPr>
        </p:nvSpPr>
        <p:spPr/>
        <p:txBody>
          <a:bodyPr/>
          <a:lstStyle/>
          <a:p>
            <a:r>
              <a:rPr lang="en-US" dirty="0"/>
              <a:t>Transferability</a:t>
            </a:r>
          </a:p>
        </p:txBody>
      </p:sp>
      <p:sp>
        <p:nvSpPr>
          <p:cNvPr id="3" name="Content Placeholder 2">
            <a:extLst>
              <a:ext uri="{FF2B5EF4-FFF2-40B4-BE49-F238E27FC236}">
                <a16:creationId xmlns:a16="http://schemas.microsoft.com/office/drawing/2014/main" id="{A799DB8E-6B55-08DF-F9BF-C990BBB13715}"/>
              </a:ext>
            </a:extLst>
          </p:cNvPr>
          <p:cNvSpPr>
            <a:spLocks noGrp="1"/>
          </p:cNvSpPr>
          <p:nvPr>
            <p:ph idx="1"/>
          </p:nvPr>
        </p:nvSpPr>
        <p:spPr/>
        <p:txBody>
          <a:bodyPr/>
          <a:lstStyle/>
          <a:p>
            <a:pPr lvl="0"/>
            <a:r>
              <a:rPr lang="en-US" dirty="0"/>
              <a:t>Geographic transfer applies a model to another place</a:t>
            </a:r>
          </a:p>
          <a:p>
            <a:pPr lvl="0"/>
            <a:r>
              <a:rPr lang="en-US" dirty="0"/>
              <a:t>Environmental extrapolation provides predictions under conditions that are outside the calibration data</a:t>
            </a:r>
          </a:p>
          <a:p>
            <a:pPr lvl="0"/>
            <a:r>
              <a:rPr lang="en-US" dirty="0"/>
              <a:t>Map environmental novelty and the model’s area of applicability</a:t>
            </a:r>
          </a:p>
          <a:p>
            <a:pPr lvl="0"/>
            <a:r>
              <a:rPr lang="en-US" dirty="0"/>
              <a:t>Treat predictions outside that area as weakly supported</a:t>
            </a:r>
          </a:p>
        </p:txBody>
      </p:sp>
    </p:spTree>
    <p:extLst>
      <p:ext uri="{BB962C8B-B14F-4D97-AF65-F5344CB8AC3E}">
        <p14:creationId xmlns:p14="http://schemas.microsoft.com/office/powerpoint/2010/main" val="1024276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F878-004D-26EA-FCE9-CC8A2DE0AD83}"/>
              </a:ext>
            </a:extLst>
          </p:cNvPr>
          <p:cNvSpPr>
            <a:spLocks noGrp="1"/>
          </p:cNvSpPr>
          <p:nvPr>
            <p:ph type="title"/>
          </p:nvPr>
        </p:nvSpPr>
        <p:spPr/>
        <p:txBody>
          <a:bodyPr/>
          <a:lstStyle/>
          <a:p>
            <a:r>
              <a:rPr lang="en-US" dirty="0"/>
              <a:t>Step 5: Ecological interpretation</a:t>
            </a:r>
          </a:p>
        </p:txBody>
      </p:sp>
      <p:sp>
        <p:nvSpPr>
          <p:cNvPr id="3" name="Content Placeholder 2">
            <a:extLst>
              <a:ext uri="{FF2B5EF4-FFF2-40B4-BE49-F238E27FC236}">
                <a16:creationId xmlns:a16="http://schemas.microsoft.com/office/drawing/2014/main" id="{ECADFB80-9575-A3C6-18D2-2A41DFC16605}"/>
              </a:ext>
            </a:extLst>
          </p:cNvPr>
          <p:cNvSpPr>
            <a:spLocks noGrp="1"/>
          </p:cNvSpPr>
          <p:nvPr>
            <p:ph idx="1"/>
          </p:nvPr>
        </p:nvSpPr>
        <p:spPr/>
        <p:txBody>
          <a:bodyPr/>
          <a:lstStyle/>
          <a:p>
            <a:pPr lvl="0"/>
            <a:r>
              <a:rPr lang="en-US" dirty="0"/>
              <a:t>Translate model output into a biological claim</a:t>
            </a:r>
          </a:p>
          <a:p>
            <a:pPr lvl="0"/>
            <a:r>
              <a:rPr lang="en-US" dirty="0"/>
              <a:t>Distinguish conclusions supported directly by the data from conclusions that depend on assumptions</a:t>
            </a:r>
          </a:p>
          <a:p>
            <a:pPr lvl="0"/>
            <a:r>
              <a:rPr lang="en-US" dirty="0"/>
              <a:t>State whether the model supports interpretations such as explanation, mapping, or transfer</a:t>
            </a:r>
          </a:p>
          <a:p>
            <a:pPr lvl="0"/>
            <a:r>
              <a:rPr lang="en-US" dirty="0"/>
              <a:t>Consider accessibility, detection, equilibrium, scale, and missing variables</a:t>
            </a:r>
          </a:p>
        </p:txBody>
      </p:sp>
    </p:spTree>
    <p:extLst>
      <p:ext uri="{BB962C8B-B14F-4D97-AF65-F5344CB8AC3E}">
        <p14:creationId xmlns:p14="http://schemas.microsoft.com/office/powerpoint/2010/main" val="1210235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7392E-D3A8-F004-DABC-A036C1259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E5C3C-D08A-7AAD-F4CE-324112FBA3D7}"/>
              </a:ext>
            </a:extLst>
          </p:cNvPr>
          <p:cNvSpPr>
            <a:spLocks noGrp="1"/>
          </p:cNvSpPr>
          <p:nvPr>
            <p:ph type="title"/>
          </p:nvPr>
        </p:nvSpPr>
        <p:spPr/>
        <p:txBody>
          <a:bodyPr>
            <a:normAutofit fontScale="90000"/>
          </a:bodyPr>
          <a:lstStyle/>
          <a:p>
            <a:r>
              <a:rPr lang="en-US" dirty="0"/>
              <a:t>Step 6: Simulation-based robustness of ecological interpretations</a:t>
            </a:r>
          </a:p>
        </p:txBody>
      </p:sp>
      <p:sp>
        <p:nvSpPr>
          <p:cNvPr id="3" name="Content Placeholder 2">
            <a:extLst>
              <a:ext uri="{FF2B5EF4-FFF2-40B4-BE49-F238E27FC236}">
                <a16:creationId xmlns:a16="http://schemas.microsoft.com/office/drawing/2014/main" id="{8693B3D4-C039-84D0-A008-F3E119A212C0}"/>
              </a:ext>
            </a:extLst>
          </p:cNvPr>
          <p:cNvSpPr>
            <a:spLocks noGrp="1"/>
          </p:cNvSpPr>
          <p:nvPr>
            <p:ph idx="1"/>
          </p:nvPr>
        </p:nvSpPr>
        <p:spPr>
          <a:xfrm>
            <a:off x="457200" y="1329292"/>
            <a:ext cx="8229600" cy="3524062"/>
          </a:xfrm>
        </p:spPr>
        <p:txBody>
          <a:bodyPr>
            <a:normAutofit/>
          </a:bodyPr>
          <a:lstStyle/>
          <a:p>
            <a:pPr marL="0" indent="0">
              <a:buNone/>
            </a:pPr>
            <a:r>
              <a:rPr lang="en-US" dirty="0"/>
              <a:t>Simulate plausible ecological and observation processes and any other plausible assumptions made during the modeling process, rerun the complete modeling workflow, and determine which biological conclusions remain stable.</a:t>
            </a:r>
          </a:p>
          <a:p>
            <a:pPr marL="0" indent="0">
              <a:buNone/>
            </a:pPr>
            <a:endParaRPr lang="en-US" dirty="0"/>
          </a:p>
          <a:p>
            <a:pPr lvl="0"/>
            <a:r>
              <a:rPr lang="en-US" dirty="0"/>
              <a:t>Ecological: niche shape, accessibility, dispersal</a:t>
            </a:r>
          </a:p>
          <a:p>
            <a:pPr lvl="0"/>
            <a:r>
              <a:rPr lang="en-US" dirty="0"/>
              <a:t>Observation: sampling effort, detection, location error</a:t>
            </a:r>
          </a:p>
          <a:p>
            <a:pPr lvl="0"/>
            <a:r>
              <a:rPr lang="en-US" dirty="0"/>
              <a:t>Analytical: spatial grain, background selection, model complexity</a:t>
            </a:r>
          </a:p>
          <a:p>
            <a:pPr lvl="0"/>
            <a:r>
              <a:rPr lang="en-US" dirty="0"/>
              <a:t>Transfer: novel environments and future scenarios</a:t>
            </a:r>
          </a:p>
          <a:p>
            <a:endParaRPr lang="en-US" dirty="0"/>
          </a:p>
          <a:p>
            <a:endParaRPr lang="en-US" dirty="0"/>
          </a:p>
        </p:txBody>
      </p:sp>
    </p:spTree>
    <p:extLst>
      <p:ext uri="{BB962C8B-B14F-4D97-AF65-F5344CB8AC3E}">
        <p14:creationId xmlns:p14="http://schemas.microsoft.com/office/powerpoint/2010/main" val="624854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42A18-E27D-EB04-9790-222A98A80EBA}"/>
              </a:ext>
            </a:extLst>
          </p:cNvPr>
          <p:cNvSpPr>
            <a:spLocks noGrp="1"/>
          </p:cNvSpPr>
          <p:nvPr>
            <p:ph type="title"/>
          </p:nvPr>
        </p:nvSpPr>
        <p:spPr/>
        <p:txBody>
          <a:bodyPr>
            <a:normAutofit fontScale="90000"/>
          </a:bodyPr>
          <a:lstStyle/>
          <a:p>
            <a:r>
              <a:rPr lang="en-US" dirty="0"/>
              <a:t>Step 6: Simulation-based robustness of ecological interpretations</a:t>
            </a:r>
          </a:p>
        </p:txBody>
      </p:sp>
      <p:sp>
        <p:nvSpPr>
          <p:cNvPr id="3" name="Content Placeholder 2">
            <a:extLst>
              <a:ext uri="{FF2B5EF4-FFF2-40B4-BE49-F238E27FC236}">
                <a16:creationId xmlns:a16="http://schemas.microsoft.com/office/drawing/2014/main" id="{7166894F-EE00-19DA-A9EC-AB1044316FC3}"/>
              </a:ext>
            </a:extLst>
          </p:cNvPr>
          <p:cNvSpPr>
            <a:spLocks noGrp="1"/>
          </p:cNvSpPr>
          <p:nvPr>
            <p:ph idx="1"/>
          </p:nvPr>
        </p:nvSpPr>
        <p:spPr/>
        <p:txBody>
          <a:bodyPr>
            <a:normAutofit lnSpcReduction="10000"/>
          </a:bodyPr>
          <a:lstStyle/>
          <a:p>
            <a:pPr lvl="0"/>
            <a:r>
              <a:rPr lang="en-US" b="1" dirty="0"/>
              <a:t>Vary assumptions:</a:t>
            </a:r>
            <a:r>
              <a:rPr lang="en-US" dirty="0"/>
              <a:t> accessible area and dispersal, niche shape, sampling effort, detection, locational error, spatial grain, background selection, model complexity, and novel environments</a:t>
            </a:r>
          </a:p>
          <a:p>
            <a:pPr lvl="0"/>
            <a:endParaRPr lang="en-US" dirty="0"/>
          </a:p>
          <a:p>
            <a:pPr lvl="0"/>
            <a:r>
              <a:rPr lang="en-US" b="1" dirty="0"/>
              <a:t>Run the same workflow:</a:t>
            </a:r>
            <a:r>
              <a:rPr lang="en-US" dirty="0"/>
              <a:t> use the same predictor-selection rules, model settings, validation design, and interpretation procedure</a:t>
            </a:r>
          </a:p>
          <a:p>
            <a:pPr lvl="0"/>
            <a:endParaRPr lang="en-US" dirty="0"/>
          </a:p>
          <a:p>
            <a:pPr lvl="0"/>
            <a:r>
              <a:rPr lang="en-US" b="1" dirty="0"/>
              <a:t>Compare interpretations:</a:t>
            </a:r>
            <a:r>
              <a:rPr lang="en-US" dirty="0"/>
              <a:t> response-curve shape, direction of effects, variable ranking, predicted range area, priority locations, and any biological interpretation coming from the output</a:t>
            </a:r>
          </a:p>
        </p:txBody>
      </p:sp>
    </p:spTree>
    <p:extLst>
      <p:ext uri="{BB962C8B-B14F-4D97-AF65-F5344CB8AC3E}">
        <p14:creationId xmlns:p14="http://schemas.microsoft.com/office/powerpoint/2010/main" val="463902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31151-8019-9C3C-F5E5-D0C78DA1E36E}"/>
              </a:ext>
            </a:extLst>
          </p:cNvPr>
          <p:cNvSpPr>
            <a:spLocks noGrp="1"/>
          </p:cNvSpPr>
          <p:nvPr>
            <p:ph type="title"/>
          </p:nvPr>
        </p:nvSpPr>
        <p:spPr/>
        <p:txBody>
          <a:bodyPr/>
          <a:lstStyle/>
          <a:p>
            <a:r>
              <a:rPr lang="en-US" dirty="0"/>
              <a:t>Robustness of interpretations</a:t>
            </a:r>
          </a:p>
        </p:txBody>
      </p:sp>
      <p:sp>
        <p:nvSpPr>
          <p:cNvPr id="3" name="Content Placeholder 2">
            <a:extLst>
              <a:ext uri="{FF2B5EF4-FFF2-40B4-BE49-F238E27FC236}">
                <a16:creationId xmlns:a16="http://schemas.microsoft.com/office/drawing/2014/main" id="{9ADCFF1D-E1C4-0414-E7A1-66C21C659E07}"/>
              </a:ext>
            </a:extLst>
          </p:cNvPr>
          <p:cNvSpPr>
            <a:spLocks noGrp="1"/>
          </p:cNvSpPr>
          <p:nvPr>
            <p:ph idx="1"/>
          </p:nvPr>
        </p:nvSpPr>
        <p:spPr/>
        <p:txBody>
          <a:bodyPr/>
          <a:lstStyle/>
          <a:p>
            <a:pPr lvl="0"/>
            <a:r>
              <a:rPr lang="en-US" b="1" dirty="0"/>
              <a:t>Stable:</a:t>
            </a:r>
            <a:r>
              <a:rPr lang="en-US" dirty="0"/>
              <a:t> substantively unchanged across plausible scenarios</a:t>
            </a:r>
          </a:p>
          <a:p>
            <a:pPr lvl="0"/>
            <a:endParaRPr lang="en-US" dirty="0"/>
          </a:p>
          <a:p>
            <a:pPr lvl="0"/>
            <a:r>
              <a:rPr lang="en-US" b="1" dirty="0"/>
              <a:t>Conditional:</a:t>
            </a:r>
            <a:r>
              <a:rPr lang="en-US" dirty="0"/>
              <a:t> valid only under specified assumptions</a:t>
            </a:r>
          </a:p>
          <a:p>
            <a:pPr lvl="0"/>
            <a:endParaRPr lang="en-US" b="1" dirty="0"/>
          </a:p>
          <a:p>
            <a:pPr lvl="0"/>
            <a:r>
              <a:rPr lang="en-US" b="1" dirty="0"/>
              <a:t>Not robust:</a:t>
            </a:r>
            <a:r>
              <a:rPr lang="en-US" dirty="0"/>
              <a:t> disappears or reverses under plausible alternatives</a:t>
            </a:r>
          </a:p>
        </p:txBody>
      </p:sp>
    </p:spTree>
    <p:extLst>
      <p:ext uri="{BB962C8B-B14F-4D97-AF65-F5344CB8AC3E}">
        <p14:creationId xmlns:p14="http://schemas.microsoft.com/office/powerpoint/2010/main" val="3401899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074E0-0DC0-5DE9-6C41-CBE23B05F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B7F9E-FF8B-5382-F35F-B630E55DE62D}"/>
              </a:ext>
            </a:extLst>
          </p:cNvPr>
          <p:cNvSpPr>
            <a:spLocks noGrp="1"/>
          </p:cNvSpPr>
          <p:nvPr>
            <p:ph type="title"/>
          </p:nvPr>
        </p:nvSpPr>
        <p:spPr/>
        <p:txBody>
          <a:bodyPr/>
          <a:lstStyle/>
          <a:p>
            <a:r>
              <a:rPr lang="en-US" dirty="0"/>
              <a:t>Peterson’s occurrence probability tree</a:t>
            </a:r>
          </a:p>
        </p:txBody>
      </p:sp>
      <p:sp>
        <p:nvSpPr>
          <p:cNvPr id="3" name="Content Placeholder 2">
            <a:extLst>
              <a:ext uri="{FF2B5EF4-FFF2-40B4-BE49-F238E27FC236}">
                <a16:creationId xmlns:a16="http://schemas.microsoft.com/office/drawing/2014/main" id="{F078B858-C08F-5159-F744-C48B77FDBB66}"/>
              </a:ext>
            </a:extLst>
          </p:cNvPr>
          <p:cNvSpPr>
            <a:spLocks noGrp="1"/>
          </p:cNvSpPr>
          <p:nvPr>
            <p:ph idx="1"/>
          </p:nvPr>
        </p:nvSpPr>
        <p:spPr/>
        <p:txBody>
          <a:bodyPr/>
          <a:lstStyle/>
          <a:p>
            <a:pPr lvl="0"/>
            <a:r>
              <a:rPr lang="en-US" dirty="0"/>
              <a:t>Ecological state: suitability, occupancy, abundance, dispersal</a:t>
            </a:r>
          </a:p>
          <a:p>
            <a:pPr lvl="0"/>
            <a:r>
              <a:rPr lang="en-US" dirty="0"/>
              <a:t>Observation process: where people sampled, sampling effort, detection, identification, and reporting</a:t>
            </a:r>
          </a:p>
          <a:p>
            <a:endParaRPr lang="en-US" dirty="0"/>
          </a:p>
        </p:txBody>
      </p:sp>
      <p:pic>
        <p:nvPicPr>
          <p:cNvPr id="4" name="Picture 3" descr="Diagram&#10;&#10;Description automatically generated">
            <a:extLst>
              <a:ext uri="{FF2B5EF4-FFF2-40B4-BE49-F238E27FC236}">
                <a16:creationId xmlns:a16="http://schemas.microsoft.com/office/drawing/2014/main" id="{3F71FF69-C952-BCFA-9140-44954BC211F1}"/>
              </a:ext>
            </a:extLst>
          </p:cNvPr>
          <p:cNvPicPr>
            <a:picLocks noChangeAspect="1"/>
          </p:cNvPicPr>
          <p:nvPr/>
        </p:nvPicPr>
        <p:blipFill>
          <a:blip r:embed="rId2"/>
          <a:stretch>
            <a:fillRect/>
          </a:stretch>
        </p:blipFill>
        <p:spPr>
          <a:xfrm>
            <a:off x="5820222" y="2661781"/>
            <a:ext cx="2736150" cy="2009678"/>
          </a:xfrm>
          <a:prstGeom prst="rect">
            <a:avLst/>
          </a:prstGeom>
        </p:spPr>
      </p:pic>
    </p:spTree>
    <p:extLst>
      <p:ext uri="{BB962C8B-B14F-4D97-AF65-F5344CB8AC3E}">
        <p14:creationId xmlns:p14="http://schemas.microsoft.com/office/powerpoint/2010/main" val="226475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B6C4B508-BE71-BC40-818D-2E2D3C32D2C7}"/>
              </a:ext>
            </a:extLst>
          </p:cNvPr>
          <p:cNvPicPr>
            <a:picLocks noChangeAspect="1"/>
          </p:cNvPicPr>
          <p:nvPr/>
        </p:nvPicPr>
        <p:blipFill>
          <a:blip r:embed="rId2"/>
          <a:stretch>
            <a:fillRect/>
          </a:stretch>
        </p:blipFill>
        <p:spPr>
          <a:xfrm>
            <a:off x="1742925" y="772155"/>
            <a:ext cx="5658150" cy="4155862"/>
          </a:xfrm>
          <a:prstGeom prst="rect">
            <a:avLst/>
          </a:prstGeom>
        </p:spPr>
      </p:pic>
    </p:spTree>
    <p:extLst>
      <p:ext uri="{BB962C8B-B14F-4D97-AF65-F5344CB8AC3E}">
        <p14:creationId xmlns:p14="http://schemas.microsoft.com/office/powerpoint/2010/main" val="384210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0985D8-8B39-1342-898A-9DDA0EE53C28}"/>
              </a:ext>
            </a:extLst>
          </p:cNvPr>
          <p:cNvSpPr txBox="1"/>
          <p:nvPr/>
        </p:nvSpPr>
        <p:spPr>
          <a:xfrm>
            <a:off x="191196" y="1755720"/>
            <a:ext cx="1034450" cy="415498"/>
          </a:xfrm>
          <a:prstGeom prst="rect">
            <a:avLst/>
          </a:prstGeom>
          <a:noFill/>
        </p:spPr>
        <p:txBody>
          <a:bodyPr wrap="none" rtlCol="0">
            <a:spAutoFit/>
          </a:bodyPr>
          <a:lstStyle/>
          <a:p>
            <a:r>
              <a:rPr lang="en-US" sz="2100" b="1" dirty="0">
                <a:solidFill>
                  <a:schemeClr val="accent2">
                    <a:lumMod val="75000"/>
                  </a:schemeClr>
                </a:solidFill>
              </a:rPr>
              <a:t>Ecology</a:t>
            </a:r>
            <a:endParaRPr lang="en-US" sz="1350" b="1" dirty="0">
              <a:solidFill>
                <a:schemeClr val="accent2">
                  <a:lumMod val="75000"/>
                </a:schemeClr>
              </a:solidFill>
            </a:endParaRPr>
          </a:p>
        </p:txBody>
      </p:sp>
      <p:pic>
        <p:nvPicPr>
          <p:cNvPr id="2" name="Picture 1" descr="Diagram&#10;&#10;Description automatically generated">
            <a:extLst>
              <a:ext uri="{FF2B5EF4-FFF2-40B4-BE49-F238E27FC236}">
                <a16:creationId xmlns:a16="http://schemas.microsoft.com/office/drawing/2014/main" id="{6A746A89-27FF-C4AB-0E9D-6EB08CF31EBB}"/>
              </a:ext>
            </a:extLst>
          </p:cNvPr>
          <p:cNvPicPr>
            <a:picLocks noChangeAspect="1"/>
          </p:cNvPicPr>
          <p:nvPr/>
        </p:nvPicPr>
        <p:blipFill>
          <a:blip r:embed="rId2"/>
          <a:stretch>
            <a:fillRect/>
          </a:stretch>
        </p:blipFill>
        <p:spPr>
          <a:xfrm>
            <a:off x="1742925" y="772155"/>
            <a:ext cx="5658150" cy="4155862"/>
          </a:xfrm>
          <a:prstGeom prst="rect">
            <a:avLst/>
          </a:prstGeom>
        </p:spPr>
      </p:pic>
      <p:sp>
        <p:nvSpPr>
          <p:cNvPr id="4" name="Rectangle 3">
            <a:extLst>
              <a:ext uri="{FF2B5EF4-FFF2-40B4-BE49-F238E27FC236}">
                <a16:creationId xmlns:a16="http://schemas.microsoft.com/office/drawing/2014/main" id="{DD9EBCF6-24B9-6548-B694-443EAA0EE0C5}"/>
              </a:ext>
            </a:extLst>
          </p:cNvPr>
          <p:cNvSpPr/>
          <p:nvPr/>
        </p:nvSpPr>
        <p:spPr>
          <a:xfrm>
            <a:off x="1680376" y="656491"/>
            <a:ext cx="3126086" cy="4322117"/>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accent2">
                  <a:lumMod val="75000"/>
                </a:schemeClr>
              </a:solidFill>
            </a:endParaRPr>
          </a:p>
        </p:txBody>
      </p:sp>
    </p:spTree>
    <p:extLst>
      <p:ext uri="{BB962C8B-B14F-4D97-AF65-F5344CB8AC3E}">
        <p14:creationId xmlns:p14="http://schemas.microsoft.com/office/powerpoint/2010/main" val="3870535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78BFC0-FAF2-3446-B385-20400F972EC9}"/>
              </a:ext>
            </a:extLst>
          </p:cNvPr>
          <p:cNvSpPr txBox="1"/>
          <p:nvPr/>
        </p:nvSpPr>
        <p:spPr>
          <a:xfrm>
            <a:off x="73716" y="2176858"/>
            <a:ext cx="1454501" cy="415498"/>
          </a:xfrm>
          <a:prstGeom prst="rect">
            <a:avLst/>
          </a:prstGeom>
          <a:noFill/>
        </p:spPr>
        <p:txBody>
          <a:bodyPr wrap="none" rtlCol="0">
            <a:spAutoFit/>
          </a:bodyPr>
          <a:lstStyle/>
          <a:p>
            <a:r>
              <a:rPr lang="en-US" sz="2100" b="1" dirty="0">
                <a:solidFill>
                  <a:schemeClr val="accent2">
                    <a:lumMod val="75000"/>
                  </a:schemeClr>
                </a:solidFill>
              </a:rPr>
              <a:t>Observable</a:t>
            </a:r>
            <a:endParaRPr lang="en-US" sz="1350" b="1" dirty="0">
              <a:solidFill>
                <a:schemeClr val="accent2">
                  <a:lumMod val="75000"/>
                </a:schemeClr>
              </a:solidFill>
            </a:endParaRPr>
          </a:p>
        </p:txBody>
      </p:sp>
      <p:pic>
        <p:nvPicPr>
          <p:cNvPr id="5" name="Picture 4" descr="Diagram&#10;&#10;Description automatically generated">
            <a:extLst>
              <a:ext uri="{FF2B5EF4-FFF2-40B4-BE49-F238E27FC236}">
                <a16:creationId xmlns:a16="http://schemas.microsoft.com/office/drawing/2014/main" id="{2FAD7A4B-D03C-7466-47CD-97A8DD77B4AD}"/>
              </a:ext>
            </a:extLst>
          </p:cNvPr>
          <p:cNvPicPr>
            <a:picLocks noChangeAspect="1"/>
          </p:cNvPicPr>
          <p:nvPr/>
        </p:nvPicPr>
        <p:blipFill>
          <a:blip r:embed="rId2"/>
          <a:stretch>
            <a:fillRect/>
          </a:stretch>
        </p:blipFill>
        <p:spPr>
          <a:xfrm>
            <a:off x="1742925" y="772155"/>
            <a:ext cx="5658150" cy="4155862"/>
          </a:xfrm>
          <a:prstGeom prst="rect">
            <a:avLst/>
          </a:prstGeom>
        </p:spPr>
      </p:pic>
      <p:sp>
        <p:nvSpPr>
          <p:cNvPr id="2" name="Rectangle 1">
            <a:extLst>
              <a:ext uri="{FF2B5EF4-FFF2-40B4-BE49-F238E27FC236}">
                <a16:creationId xmlns:a16="http://schemas.microsoft.com/office/drawing/2014/main" id="{B7FFF96D-8BF1-714B-B282-0D5D99CD9A88}"/>
              </a:ext>
            </a:extLst>
          </p:cNvPr>
          <p:cNvSpPr/>
          <p:nvPr/>
        </p:nvSpPr>
        <p:spPr>
          <a:xfrm>
            <a:off x="4709328" y="679938"/>
            <a:ext cx="759278" cy="429923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accent2">
                  <a:lumMod val="75000"/>
                </a:schemeClr>
              </a:solidFill>
            </a:endParaRPr>
          </a:p>
        </p:txBody>
      </p:sp>
    </p:spTree>
    <p:extLst>
      <p:ext uri="{BB962C8B-B14F-4D97-AF65-F5344CB8AC3E}">
        <p14:creationId xmlns:p14="http://schemas.microsoft.com/office/powerpoint/2010/main" val="3253538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E6A523-7D0B-B34F-8653-9F4D488ECF59}"/>
              </a:ext>
            </a:extLst>
          </p:cNvPr>
          <p:cNvSpPr txBox="1"/>
          <p:nvPr/>
        </p:nvSpPr>
        <p:spPr>
          <a:xfrm>
            <a:off x="73716" y="2176858"/>
            <a:ext cx="1396793" cy="415498"/>
          </a:xfrm>
          <a:prstGeom prst="rect">
            <a:avLst/>
          </a:prstGeom>
          <a:noFill/>
        </p:spPr>
        <p:txBody>
          <a:bodyPr wrap="none" rtlCol="0">
            <a:spAutoFit/>
          </a:bodyPr>
          <a:lstStyle/>
          <a:p>
            <a:r>
              <a:rPr lang="en-US" sz="2100" b="1" dirty="0">
                <a:solidFill>
                  <a:schemeClr val="accent2">
                    <a:lumMod val="75000"/>
                  </a:schemeClr>
                </a:solidFill>
              </a:rPr>
              <a:t>Detectable</a:t>
            </a:r>
            <a:endParaRPr lang="en-US" sz="1350" b="1" dirty="0">
              <a:solidFill>
                <a:schemeClr val="accent2">
                  <a:lumMod val="75000"/>
                </a:schemeClr>
              </a:solidFill>
            </a:endParaRPr>
          </a:p>
        </p:txBody>
      </p:sp>
      <p:pic>
        <p:nvPicPr>
          <p:cNvPr id="5" name="Picture 4" descr="Diagram&#10;&#10;Description automatically generated">
            <a:extLst>
              <a:ext uri="{FF2B5EF4-FFF2-40B4-BE49-F238E27FC236}">
                <a16:creationId xmlns:a16="http://schemas.microsoft.com/office/drawing/2014/main" id="{F56E3B72-CB61-220B-BCD3-E085A9440910}"/>
              </a:ext>
            </a:extLst>
          </p:cNvPr>
          <p:cNvPicPr>
            <a:picLocks noChangeAspect="1"/>
          </p:cNvPicPr>
          <p:nvPr/>
        </p:nvPicPr>
        <p:blipFill>
          <a:blip r:embed="rId2"/>
          <a:stretch>
            <a:fillRect/>
          </a:stretch>
        </p:blipFill>
        <p:spPr>
          <a:xfrm>
            <a:off x="1742925" y="772155"/>
            <a:ext cx="5658150" cy="4155862"/>
          </a:xfrm>
          <a:prstGeom prst="rect">
            <a:avLst/>
          </a:prstGeom>
        </p:spPr>
      </p:pic>
      <p:sp>
        <p:nvSpPr>
          <p:cNvPr id="2" name="Rectangle 1">
            <a:extLst>
              <a:ext uri="{FF2B5EF4-FFF2-40B4-BE49-F238E27FC236}">
                <a16:creationId xmlns:a16="http://schemas.microsoft.com/office/drawing/2014/main" id="{83E12447-2465-F841-B72D-296D7E5F93F3}"/>
              </a:ext>
            </a:extLst>
          </p:cNvPr>
          <p:cNvSpPr/>
          <p:nvPr/>
        </p:nvSpPr>
        <p:spPr>
          <a:xfrm>
            <a:off x="5447255" y="633046"/>
            <a:ext cx="987878" cy="429497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accent2">
                  <a:lumMod val="75000"/>
                </a:schemeClr>
              </a:solidFill>
            </a:endParaRPr>
          </a:p>
        </p:txBody>
      </p:sp>
    </p:spTree>
    <p:extLst>
      <p:ext uri="{BB962C8B-B14F-4D97-AF65-F5344CB8AC3E}">
        <p14:creationId xmlns:p14="http://schemas.microsoft.com/office/powerpoint/2010/main" val="83851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6C88A-89EB-28F0-41A5-C265052B91ED}"/>
            </a:ext>
          </a:extLst>
        </p:cNvPr>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4F3BD2D8-C1CF-D782-60FB-E5D46386CA53}"/>
              </a:ext>
            </a:extLst>
          </p:cNvPr>
          <p:cNvPicPr>
            <a:picLocks noChangeAspect="1"/>
          </p:cNvPicPr>
          <p:nvPr/>
        </p:nvPicPr>
        <p:blipFill>
          <a:blip r:embed="rId2"/>
          <a:stretch>
            <a:fillRect/>
          </a:stretch>
        </p:blipFill>
        <p:spPr>
          <a:xfrm>
            <a:off x="1742925" y="772155"/>
            <a:ext cx="5658150" cy="4155862"/>
          </a:xfrm>
          <a:prstGeom prst="rect">
            <a:avLst/>
          </a:prstGeom>
        </p:spPr>
      </p:pic>
    </p:spTree>
    <p:extLst>
      <p:ext uri="{BB962C8B-B14F-4D97-AF65-F5344CB8AC3E}">
        <p14:creationId xmlns:p14="http://schemas.microsoft.com/office/powerpoint/2010/main" val="3916912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6758-4349-3C44-A3EC-0B31D29C5452}"/>
              </a:ext>
            </a:extLst>
          </p:cNvPr>
          <p:cNvSpPr>
            <a:spLocks noGrp="1"/>
          </p:cNvSpPr>
          <p:nvPr>
            <p:ph type="title"/>
          </p:nvPr>
        </p:nvSpPr>
        <p:spPr>
          <a:xfrm>
            <a:off x="4572000" y="648983"/>
            <a:ext cx="3943350" cy="994172"/>
          </a:xfrm>
        </p:spPr>
        <p:txBody>
          <a:bodyPr>
            <a:normAutofit/>
          </a:bodyPr>
          <a:lstStyle/>
          <a:p>
            <a:r>
              <a:rPr lang="en-US" dirty="0"/>
              <a:t>Primary and secondary </a:t>
            </a:r>
            <a:r>
              <a:rPr lang="en-US" dirty="0">
                <a:solidFill>
                  <a:schemeClr val="accent2">
                    <a:lumMod val="75000"/>
                  </a:schemeClr>
                </a:solidFill>
              </a:rPr>
              <a:t>occurrence</a:t>
            </a:r>
            <a:r>
              <a:rPr lang="en-US" dirty="0"/>
              <a:t> data</a:t>
            </a:r>
          </a:p>
        </p:txBody>
      </p:sp>
      <p:sp>
        <p:nvSpPr>
          <p:cNvPr id="7" name="Content Placeholder 6">
            <a:extLst>
              <a:ext uri="{FF2B5EF4-FFF2-40B4-BE49-F238E27FC236}">
                <a16:creationId xmlns:a16="http://schemas.microsoft.com/office/drawing/2014/main" id="{32EA1BE3-C1C6-B748-AC14-2FF2F5865D4E}"/>
              </a:ext>
            </a:extLst>
          </p:cNvPr>
          <p:cNvSpPr>
            <a:spLocks noGrp="1"/>
          </p:cNvSpPr>
          <p:nvPr>
            <p:ph idx="1"/>
          </p:nvPr>
        </p:nvSpPr>
        <p:spPr>
          <a:xfrm>
            <a:off x="4572000" y="1735015"/>
            <a:ext cx="3943350" cy="2897708"/>
          </a:xfrm>
        </p:spPr>
        <p:txBody>
          <a:bodyPr>
            <a:normAutofit fontScale="92500" lnSpcReduction="20000"/>
          </a:bodyPr>
          <a:lstStyle/>
          <a:p>
            <a:r>
              <a:rPr lang="en-US" dirty="0"/>
              <a:t>Primary: places species at specific location and time</a:t>
            </a:r>
          </a:p>
          <a:p>
            <a:pPr lvl="1"/>
            <a:r>
              <a:rPr lang="en-US" dirty="0"/>
              <a:t>Vouchers: occurrence points that can be verified or revisited</a:t>
            </a:r>
          </a:p>
          <a:p>
            <a:pPr lvl="2"/>
            <a:r>
              <a:rPr lang="en-US" dirty="0"/>
              <a:t>specimens, photographs, audio recordings</a:t>
            </a:r>
          </a:p>
          <a:p>
            <a:r>
              <a:rPr lang="en-US" dirty="0"/>
              <a:t>Secondary: range maps</a:t>
            </a:r>
          </a:p>
          <a:p>
            <a:pPr lvl="1"/>
            <a:r>
              <a:rPr lang="en-US" dirty="0"/>
              <a:t>involves some interpretation by creator</a:t>
            </a:r>
          </a:p>
          <a:p>
            <a:pPr lvl="1"/>
            <a:r>
              <a:rPr lang="en-US" dirty="0"/>
              <a:t>may not represent full extent of primary occurrence points</a:t>
            </a:r>
          </a:p>
        </p:txBody>
      </p:sp>
      <p:pic>
        <p:nvPicPr>
          <p:cNvPr id="8" name="Content Placeholder 4" descr="Diagram&#10;&#10;Description automatically generated">
            <a:extLst>
              <a:ext uri="{FF2B5EF4-FFF2-40B4-BE49-F238E27FC236}">
                <a16:creationId xmlns:a16="http://schemas.microsoft.com/office/drawing/2014/main" id="{BCA8B660-828E-CF4C-AF2E-C7FA53BD539E}"/>
              </a:ext>
            </a:extLst>
          </p:cNvPr>
          <p:cNvPicPr>
            <a:picLocks noChangeAspect="1"/>
          </p:cNvPicPr>
          <p:nvPr/>
        </p:nvPicPr>
        <p:blipFill>
          <a:blip r:embed="rId2"/>
          <a:stretch>
            <a:fillRect/>
          </a:stretch>
        </p:blipFill>
        <p:spPr>
          <a:xfrm>
            <a:off x="318875" y="770930"/>
            <a:ext cx="3960048" cy="3615502"/>
          </a:xfrm>
          <a:prstGeom prst="rect">
            <a:avLst/>
          </a:prstGeom>
        </p:spPr>
      </p:pic>
    </p:spTree>
    <p:extLst>
      <p:ext uri="{BB962C8B-B14F-4D97-AF65-F5344CB8AC3E}">
        <p14:creationId xmlns:p14="http://schemas.microsoft.com/office/powerpoint/2010/main" val="28970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 map&#10;&#10;Description automatically generated">
            <a:extLst>
              <a:ext uri="{FF2B5EF4-FFF2-40B4-BE49-F238E27FC236}">
                <a16:creationId xmlns:a16="http://schemas.microsoft.com/office/drawing/2014/main" id="{CA9204F7-382F-A548-8A74-4C642395085D}"/>
              </a:ext>
            </a:extLst>
          </p:cNvPr>
          <p:cNvPicPr>
            <a:picLocks noChangeAspect="1"/>
          </p:cNvPicPr>
          <p:nvPr/>
        </p:nvPicPr>
        <p:blipFill>
          <a:blip r:embed="rId2"/>
          <a:stretch>
            <a:fillRect/>
          </a:stretch>
        </p:blipFill>
        <p:spPr>
          <a:xfrm>
            <a:off x="5200650" y="703385"/>
            <a:ext cx="3540043" cy="4182208"/>
          </a:xfrm>
          <a:prstGeom prst="rect">
            <a:avLst/>
          </a:prstGeom>
        </p:spPr>
      </p:pic>
      <p:sp>
        <p:nvSpPr>
          <p:cNvPr id="4" name="Title 3">
            <a:extLst>
              <a:ext uri="{FF2B5EF4-FFF2-40B4-BE49-F238E27FC236}">
                <a16:creationId xmlns:a16="http://schemas.microsoft.com/office/drawing/2014/main" id="{F9700F8C-8B80-724F-A3A8-C1C3C8089CFD}"/>
              </a:ext>
            </a:extLst>
          </p:cNvPr>
          <p:cNvSpPr>
            <a:spLocks noGrp="1"/>
          </p:cNvSpPr>
          <p:nvPr>
            <p:ph type="title"/>
          </p:nvPr>
        </p:nvSpPr>
        <p:spPr>
          <a:xfrm>
            <a:off x="403307" y="411245"/>
            <a:ext cx="3943350" cy="994172"/>
          </a:xfrm>
        </p:spPr>
        <p:txBody>
          <a:bodyPr/>
          <a:lstStyle/>
          <a:p>
            <a:r>
              <a:rPr lang="en-US" dirty="0"/>
              <a:t>Ranges and rarity</a:t>
            </a:r>
          </a:p>
        </p:txBody>
      </p:sp>
      <p:sp>
        <p:nvSpPr>
          <p:cNvPr id="5" name="Content Placeholder 4">
            <a:extLst>
              <a:ext uri="{FF2B5EF4-FFF2-40B4-BE49-F238E27FC236}">
                <a16:creationId xmlns:a16="http://schemas.microsoft.com/office/drawing/2014/main" id="{520C8048-C58D-8A4D-BA0E-58EA982C570E}"/>
              </a:ext>
            </a:extLst>
          </p:cNvPr>
          <p:cNvSpPr>
            <a:spLocks noGrp="1"/>
          </p:cNvSpPr>
          <p:nvPr>
            <p:ph idx="1"/>
          </p:nvPr>
        </p:nvSpPr>
        <p:spPr>
          <a:xfrm>
            <a:off x="497195" y="1156143"/>
            <a:ext cx="3755573" cy="2836068"/>
          </a:xfrm>
        </p:spPr>
        <p:txBody>
          <a:bodyPr/>
          <a:lstStyle/>
          <a:p>
            <a:r>
              <a:rPr lang="en-US" dirty="0"/>
              <a:t>Rabinowitz et al. (1986)</a:t>
            </a:r>
          </a:p>
          <a:p>
            <a:pPr lvl="1"/>
            <a:r>
              <a:rPr lang="en-US" dirty="0"/>
              <a:t>3 axes of rarity</a:t>
            </a:r>
          </a:p>
          <a:p>
            <a:pPr lvl="2"/>
            <a:r>
              <a:rPr lang="en-US" dirty="0"/>
              <a:t>population size</a:t>
            </a:r>
          </a:p>
          <a:p>
            <a:pPr lvl="2"/>
            <a:r>
              <a:rPr lang="en-US" dirty="0"/>
              <a:t>occupied distribution area</a:t>
            </a:r>
          </a:p>
          <a:p>
            <a:pPr lvl="2"/>
            <a:r>
              <a:rPr lang="en-US" dirty="0"/>
              <a:t>habitat specificity</a:t>
            </a:r>
          </a:p>
          <a:p>
            <a:r>
              <a:rPr lang="en-US" dirty="0"/>
              <a:t>Different causes of rarity will influence occurrence data</a:t>
            </a:r>
          </a:p>
        </p:txBody>
      </p:sp>
      <p:pic>
        <p:nvPicPr>
          <p:cNvPr id="7" name="Picture 6" descr="Text&#10;&#10;Description automatically generated">
            <a:extLst>
              <a:ext uri="{FF2B5EF4-FFF2-40B4-BE49-F238E27FC236}">
                <a16:creationId xmlns:a16="http://schemas.microsoft.com/office/drawing/2014/main" id="{2774BAB6-9C9B-184A-AEE9-E5AB43D95281}"/>
              </a:ext>
            </a:extLst>
          </p:cNvPr>
          <p:cNvPicPr>
            <a:picLocks noChangeAspect="1"/>
          </p:cNvPicPr>
          <p:nvPr/>
        </p:nvPicPr>
        <p:blipFill>
          <a:blip r:embed="rId3"/>
          <a:stretch>
            <a:fillRect/>
          </a:stretch>
        </p:blipFill>
        <p:spPr>
          <a:xfrm>
            <a:off x="1260335" y="3742937"/>
            <a:ext cx="3639911" cy="1142656"/>
          </a:xfrm>
          <a:prstGeom prst="rect">
            <a:avLst/>
          </a:prstGeom>
        </p:spPr>
      </p:pic>
    </p:spTree>
    <p:extLst>
      <p:ext uri="{BB962C8B-B14F-4D97-AF65-F5344CB8AC3E}">
        <p14:creationId xmlns:p14="http://schemas.microsoft.com/office/powerpoint/2010/main" val="480904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0C46C-C062-A044-8F4F-5CD9AB079426}"/>
              </a:ext>
            </a:extLst>
          </p:cNvPr>
          <p:cNvSpPr>
            <a:spLocks noGrp="1"/>
          </p:cNvSpPr>
          <p:nvPr>
            <p:ph type="title"/>
          </p:nvPr>
        </p:nvSpPr>
        <p:spPr>
          <a:xfrm>
            <a:off x="4988378" y="383261"/>
            <a:ext cx="3943350" cy="994172"/>
          </a:xfrm>
        </p:spPr>
        <p:txBody>
          <a:bodyPr>
            <a:normAutofit/>
          </a:bodyPr>
          <a:lstStyle/>
          <a:p>
            <a:r>
              <a:rPr lang="en-US" dirty="0"/>
              <a:t>Sampling bias</a:t>
            </a:r>
          </a:p>
        </p:txBody>
      </p:sp>
      <p:sp>
        <p:nvSpPr>
          <p:cNvPr id="3" name="Content Placeholder 2">
            <a:extLst>
              <a:ext uri="{FF2B5EF4-FFF2-40B4-BE49-F238E27FC236}">
                <a16:creationId xmlns:a16="http://schemas.microsoft.com/office/drawing/2014/main" id="{38BB16D7-C965-7441-95E7-1C89390C5CA6}"/>
              </a:ext>
            </a:extLst>
          </p:cNvPr>
          <p:cNvSpPr>
            <a:spLocks noGrp="1"/>
          </p:cNvSpPr>
          <p:nvPr>
            <p:ph idx="1"/>
          </p:nvPr>
        </p:nvSpPr>
        <p:spPr>
          <a:xfrm>
            <a:off x="4988378" y="1377433"/>
            <a:ext cx="3943351" cy="3263504"/>
          </a:xfrm>
        </p:spPr>
        <p:txBody>
          <a:bodyPr/>
          <a:lstStyle/>
          <a:p>
            <a:r>
              <a:rPr lang="en-US" dirty="0"/>
              <a:t>sampling subset of environmental space</a:t>
            </a:r>
          </a:p>
          <a:p>
            <a:r>
              <a:rPr lang="en-US" dirty="0"/>
              <a:t>access</a:t>
            </a:r>
          </a:p>
          <a:p>
            <a:pPr lvl="1"/>
            <a:r>
              <a:rPr lang="en-US" dirty="0"/>
              <a:t>road bias</a:t>
            </a:r>
          </a:p>
          <a:p>
            <a:r>
              <a:rPr lang="en-US" dirty="0"/>
              <a:t>sampling effort</a:t>
            </a:r>
          </a:p>
          <a:p>
            <a:pPr lvl="1"/>
            <a:r>
              <a:rPr lang="en-US" dirty="0"/>
              <a:t>urban centers</a:t>
            </a:r>
          </a:p>
          <a:p>
            <a:pPr lvl="1"/>
            <a:r>
              <a:rPr lang="en-US" dirty="0"/>
              <a:t>citizen science</a:t>
            </a:r>
          </a:p>
          <a:p>
            <a:r>
              <a:rPr lang="en-US" dirty="0"/>
              <a:t>different sources of data</a:t>
            </a:r>
          </a:p>
        </p:txBody>
      </p:sp>
      <p:pic>
        <p:nvPicPr>
          <p:cNvPr id="6" name="Picture 5" descr="Map&#10;&#10;Description automatically generated">
            <a:extLst>
              <a:ext uri="{FF2B5EF4-FFF2-40B4-BE49-F238E27FC236}">
                <a16:creationId xmlns:a16="http://schemas.microsoft.com/office/drawing/2014/main" id="{3B8CBD4D-7BE0-2D44-93C7-F34F0DD633A6}"/>
              </a:ext>
            </a:extLst>
          </p:cNvPr>
          <p:cNvPicPr>
            <a:picLocks noChangeAspect="1"/>
          </p:cNvPicPr>
          <p:nvPr/>
        </p:nvPicPr>
        <p:blipFill>
          <a:blip r:embed="rId2"/>
          <a:stretch>
            <a:fillRect/>
          </a:stretch>
        </p:blipFill>
        <p:spPr>
          <a:xfrm>
            <a:off x="307741" y="723835"/>
            <a:ext cx="4006352" cy="3695830"/>
          </a:xfrm>
          <a:prstGeom prst="rect">
            <a:avLst/>
          </a:prstGeom>
        </p:spPr>
      </p:pic>
    </p:spTree>
    <p:extLst>
      <p:ext uri="{BB962C8B-B14F-4D97-AF65-F5344CB8AC3E}">
        <p14:creationId xmlns:p14="http://schemas.microsoft.com/office/powerpoint/2010/main" val="1843251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0C46C-C062-A044-8F4F-5CD9AB079426}"/>
              </a:ext>
            </a:extLst>
          </p:cNvPr>
          <p:cNvSpPr>
            <a:spLocks noGrp="1"/>
          </p:cNvSpPr>
          <p:nvPr>
            <p:ph type="title"/>
          </p:nvPr>
        </p:nvSpPr>
        <p:spPr>
          <a:xfrm>
            <a:off x="4988378" y="383261"/>
            <a:ext cx="3943350" cy="994172"/>
          </a:xfrm>
        </p:spPr>
        <p:txBody>
          <a:bodyPr>
            <a:normAutofit/>
          </a:bodyPr>
          <a:lstStyle/>
          <a:p>
            <a:r>
              <a:rPr lang="en-US" dirty="0"/>
              <a:t>Sampling bias</a:t>
            </a:r>
          </a:p>
        </p:txBody>
      </p:sp>
      <p:sp>
        <p:nvSpPr>
          <p:cNvPr id="3" name="Content Placeholder 2">
            <a:extLst>
              <a:ext uri="{FF2B5EF4-FFF2-40B4-BE49-F238E27FC236}">
                <a16:creationId xmlns:a16="http://schemas.microsoft.com/office/drawing/2014/main" id="{38BB16D7-C965-7441-95E7-1C89390C5CA6}"/>
              </a:ext>
            </a:extLst>
          </p:cNvPr>
          <p:cNvSpPr>
            <a:spLocks noGrp="1"/>
          </p:cNvSpPr>
          <p:nvPr>
            <p:ph idx="1"/>
          </p:nvPr>
        </p:nvSpPr>
        <p:spPr>
          <a:xfrm>
            <a:off x="4988378" y="1377433"/>
            <a:ext cx="3943351" cy="3263504"/>
          </a:xfrm>
        </p:spPr>
        <p:txBody>
          <a:bodyPr/>
          <a:lstStyle/>
          <a:p>
            <a:r>
              <a:rPr lang="en-US" dirty="0"/>
              <a:t>sampling subset of environmental space</a:t>
            </a:r>
          </a:p>
          <a:p>
            <a:r>
              <a:rPr lang="en-US" dirty="0"/>
              <a:t>access</a:t>
            </a:r>
          </a:p>
          <a:p>
            <a:pPr lvl="1"/>
            <a:r>
              <a:rPr lang="en-US" dirty="0"/>
              <a:t>road bias</a:t>
            </a:r>
          </a:p>
          <a:p>
            <a:r>
              <a:rPr lang="en-US" dirty="0"/>
              <a:t>sampling effort</a:t>
            </a:r>
          </a:p>
          <a:p>
            <a:pPr lvl="1"/>
            <a:r>
              <a:rPr lang="en-US" dirty="0"/>
              <a:t>urban centers</a:t>
            </a:r>
          </a:p>
          <a:p>
            <a:pPr lvl="1"/>
            <a:r>
              <a:rPr lang="en-US" dirty="0"/>
              <a:t>citizen science</a:t>
            </a:r>
          </a:p>
          <a:p>
            <a:r>
              <a:rPr lang="en-US" dirty="0"/>
              <a:t>different sources of data</a:t>
            </a:r>
          </a:p>
        </p:txBody>
      </p:sp>
      <p:pic>
        <p:nvPicPr>
          <p:cNvPr id="4" name="Content Placeholder 4" descr="Map&#10;&#10;Description automatically generated">
            <a:extLst>
              <a:ext uri="{FF2B5EF4-FFF2-40B4-BE49-F238E27FC236}">
                <a16:creationId xmlns:a16="http://schemas.microsoft.com/office/drawing/2014/main" id="{0D47DD32-B708-5146-A49D-73B5F16ED617}"/>
              </a:ext>
            </a:extLst>
          </p:cNvPr>
          <p:cNvPicPr>
            <a:picLocks noChangeAspect="1"/>
          </p:cNvPicPr>
          <p:nvPr/>
        </p:nvPicPr>
        <p:blipFill>
          <a:blip r:embed="rId2"/>
          <a:stretch>
            <a:fillRect/>
          </a:stretch>
        </p:blipFill>
        <p:spPr>
          <a:xfrm>
            <a:off x="288629" y="668214"/>
            <a:ext cx="4283370" cy="4082139"/>
          </a:xfrm>
          <a:prstGeom prst="rect">
            <a:avLst/>
          </a:prstGeom>
        </p:spPr>
      </p:pic>
    </p:spTree>
    <p:extLst>
      <p:ext uri="{BB962C8B-B14F-4D97-AF65-F5344CB8AC3E}">
        <p14:creationId xmlns:p14="http://schemas.microsoft.com/office/powerpoint/2010/main" val="3257170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4C83-ACA6-7643-B86B-84F2307B646E}"/>
              </a:ext>
            </a:extLst>
          </p:cNvPr>
          <p:cNvSpPr>
            <a:spLocks noGrp="1"/>
          </p:cNvSpPr>
          <p:nvPr>
            <p:ph type="title"/>
          </p:nvPr>
        </p:nvSpPr>
        <p:spPr/>
        <p:txBody>
          <a:bodyPr/>
          <a:lstStyle/>
          <a:p>
            <a:r>
              <a:rPr lang="en-US" dirty="0"/>
              <a:t>“Real” absence data</a:t>
            </a:r>
          </a:p>
        </p:txBody>
      </p:sp>
      <p:sp>
        <p:nvSpPr>
          <p:cNvPr id="3" name="Content Placeholder 2">
            <a:extLst>
              <a:ext uri="{FF2B5EF4-FFF2-40B4-BE49-F238E27FC236}">
                <a16:creationId xmlns:a16="http://schemas.microsoft.com/office/drawing/2014/main" id="{006DD81B-28F3-9C48-9573-987DFABE162C}"/>
              </a:ext>
            </a:extLst>
          </p:cNvPr>
          <p:cNvSpPr>
            <a:spLocks noGrp="1"/>
          </p:cNvSpPr>
          <p:nvPr>
            <p:ph idx="1"/>
          </p:nvPr>
        </p:nvSpPr>
        <p:spPr>
          <a:xfrm>
            <a:off x="628650" y="1369219"/>
            <a:ext cx="7886700" cy="1798524"/>
          </a:xfrm>
        </p:spPr>
        <p:txBody>
          <a:bodyPr>
            <a:normAutofit lnSpcReduction="10000"/>
          </a:bodyPr>
          <a:lstStyle/>
          <a:p>
            <a:r>
              <a:rPr lang="en-US" dirty="0"/>
              <a:t>Certain modeling methods require true absence data</a:t>
            </a:r>
          </a:p>
          <a:p>
            <a:r>
              <a:rPr lang="en-US" dirty="0"/>
              <a:t>Others generate pseudoabsence points</a:t>
            </a:r>
          </a:p>
          <a:p>
            <a:r>
              <a:rPr lang="en-US" dirty="0"/>
              <a:t>Absence data may be sampled from suitable habitat that species is unable to disperse to</a:t>
            </a:r>
          </a:p>
          <a:p>
            <a:r>
              <a:rPr lang="en-US" dirty="0"/>
              <a:t>Species may be present but undetected</a:t>
            </a:r>
          </a:p>
          <a:p>
            <a:pPr marL="0" indent="0">
              <a:buNone/>
            </a:pPr>
            <a:endParaRPr lang="en-US" dirty="0"/>
          </a:p>
        </p:txBody>
      </p:sp>
      <p:sp>
        <p:nvSpPr>
          <p:cNvPr id="4" name="TextBox 3">
            <a:extLst>
              <a:ext uri="{FF2B5EF4-FFF2-40B4-BE49-F238E27FC236}">
                <a16:creationId xmlns:a16="http://schemas.microsoft.com/office/drawing/2014/main" id="{D5DD29ED-DD2E-BF47-A980-BDD5A33950F9}"/>
              </a:ext>
            </a:extLst>
          </p:cNvPr>
          <p:cNvSpPr txBox="1"/>
          <p:nvPr/>
        </p:nvSpPr>
        <p:spPr>
          <a:xfrm>
            <a:off x="1230923" y="3350589"/>
            <a:ext cx="6090189" cy="1477328"/>
          </a:xfrm>
          <a:prstGeom prst="rect">
            <a:avLst/>
          </a:prstGeom>
          <a:noFill/>
        </p:spPr>
        <p:txBody>
          <a:bodyPr wrap="square" rtlCol="0">
            <a:spAutoFit/>
          </a:bodyPr>
          <a:lstStyle/>
          <a:p>
            <a:pPr algn="ctr"/>
            <a:r>
              <a:rPr lang="en-US" sz="1500" i="1" dirty="0"/>
              <a:t>“one is never sure that those sites are genuinely not habitable by the species, or rather may not hold the species simply because they lie outside of the species’ dispersal range, or the species was not present at the time of sampling owing to temporal differences in occupancy, or it was present in other unsampled parts of the cell” </a:t>
            </a:r>
            <a:r>
              <a:rPr lang="en-US" sz="1500" dirty="0"/>
              <a:t>(p. 76)</a:t>
            </a:r>
          </a:p>
          <a:p>
            <a:pPr algn="ctr"/>
            <a:endParaRPr lang="en-US" sz="1500" i="1" dirty="0"/>
          </a:p>
        </p:txBody>
      </p:sp>
    </p:spTree>
    <p:extLst>
      <p:ext uri="{BB962C8B-B14F-4D97-AF65-F5344CB8AC3E}">
        <p14:creationId xmlns:p14="http://schemas.microsoft.com/office/powerpoint/2010/main" val="745624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601A3C8-15E9-2449-A639-DA3BAEAEB560}"/>
              </a:ext>
            </a:extLst>
          </p:cNvPr>
          <p:cNvSpPr>
            <a:spLocks noGrp="1"/>
          </p:cNvSpPr>
          <p:nvPr>
            <p:ph type="title"/>
          </p:nvPr>
        </p:nvSpPr>
        <p:spPr/>
        <p:txBody>
          <a:bodyPr/>
          <a:lstStyle/>
          <a:p>
            <a:r>
              <a:rPr lang="en-US" dirty="0"/>
              <a:t>Analog data in the digital age</a:t>
            </a:r>
          </a:p>
        </p:txBody>
      </p:sp>
      <p:sp>
        <p:nvSpPr>
          <p:cNvPr id="8" name="Content Placeholder 7">
            <a:extLst>
              <a:ext uri="{FF2B5EF4-FFF2-40B4-BE49-F238E27FC236}">
                <a16:creationId xmlns:a16="http://schemas.microsoft.com/office/drawing/2014/main" id="{0B6CA62C-1E5E-BA40-923D-DFD0456D5521}"/>
              </a:ext>
            </a:extLst>
          </p:cNvPr>
          <p:cNvSpPr>
            <a:spLocks noGrp="1"/>
          </p:cNvSpPr>
          <p:nvPr>
            <p:ph idx="1"/>
          </p:nvPr>
        </p:nvSpPr>
        <p:spPr>
          <a:xfrm>
            <a:off x="628650" y="1369219"/>
            <a:ext cx="3943350" cy="3263504"/>
          </a:xfrm>
        </p:spPr>
        <p:txBody>
          <a:bodyPr/>
          <a:lstStyle/>
          <a:p>
            <a:r>
              <a:rPr lang="en-US" dirty="0"/>
              <a:t>Older specimens have vague locality data</a:t>
            </a:r>
          </a:p>
          <a:p>
            <a:r>
              <a:rPr lang="en-US" dirty="0"/>
              <a:t>Expand metadata</a:t>
            </a:r>
          </a:p>
          <a:p>
            <a:pPr lvl="1"/>
            <a:r>
              <a:rPr lang="en-US" dirty="0"/>
              <a:t>specimen location, collector/</a:t>
            </a:r>
            <a:r>
              <a:rPr lang="en-US" dirty="0" err="1"/>
              <a:t>IDer</a:t>
            </a:r>
            <a:r>
              <a:rPr lang="en-US" dirty="0"/>
              <a:t>, spatial precision, species concept</a:t>
            </a:r>
          </a:p>
          <a:p>
            <a:r>
              <a:rPr lang="en-US" dirty="0"/>
              <a:t>Location uncertainty needs to be quantified or considered for data to be useful in modeling</a:t>
            </a:r>
          </a:p>
        </p:txBody>
      </p:sp>
      <p:pic>
        <p:nvPicPr>
          <p:cNvPr id="10" name="Picture 9" descr="A picture containing text, screenshot&#10;&#10;Description automatically generated">
            <a:extLst>
              <a:ext uri="{FF2B5EF4-FFF2-40B4-BE49-F238E27FC236}">
                <a16:creationId xmlns:a16="http://schemas.microsoft.com/office/drawing/2014/main" id="{0930084E-9611-554D-B446-563471851FAD}"/>
              </a:ext>
            </a:extLst>
          </p:cNvPr>
          <p:cNvPicPr>
            <a:picLocks noChangeAspect="1"/>
          </p:cNvPicPr>
          <p:nvPr/>
        </p:nvPicPr>
        <p:blipFill>
          <a:blip r:embed="rId2"/>
          <a:stretch>
            <a:fillRect/>
          </a:stretch>
        </p:blipFill>
        <p:spPr>
          <a:xfrm>
            <a:off x="6067235" y="658981"/>
            <a:ext cx="2698487" cy="4047729"/>
          </a:xfrm>
          <a:prstGeom prst="rect">
            <a:avLst/>
          </a:prstGeom>
        </p:spPr>
      </p:pic>
      <p:sp>
        <p:nvSpPr>
          <p:cNvPr id="11" name="TextBox 10">
            <a:extLst>
              <a:ext uri="{FF2B5EF4-FFF2-40B4-BE49-F238E27FC236}">
                <a16:creationId xmlns:a16="http://schemas.microsoft.com/office/drawing/2014/main" id="{75052256-7199-7741-94F6-E7DD28331845}"/>
              </a:ext>
            </a:extLst>
          </p:cNvPr>
          <p:cNvSpPr txBox="1"/>
          <p:nvPr/>
        </p:nvSpPr>
        <p:spPr>
          <a:xfrm>
            <a:off x="4020200" y="4238807"/>
            <a:ext cx="2047035" cy="507831"/>
          </a:xfrm>
          <a:prstGeom prst="rect">
            <a:avLst/>
          </a:prstGeom>
          <a:noFill/>
        </p:spPr>
        <p:txBody>
          <a:bodyPr wrap="none" rtlCol="0">
            <a:spAutoFit/>
          </a:bodyPr>
          <a:lstStyle/>
          <a:p>
            <a:r>
              <a:rPr lang="en-US" sz="1350" dirty="0"/>
              <a:t>A digitized specimen from </a:t>
            </a:r>
          </a:p>
          <a:p>
            <a:r>
              <a:rPr lang="en-US" sz="1350" dirty="0"/>
              <a:t>the S.M. Tracy Herbarium</a:t>
            </a:r>
          </a:p>
        </p:txBody>
      </p:sp>
    </p:spTree>
    <p:extLst>
      <p:ext uri="{BB962C8B-B14F-4D97-AF65-F5344CB8AC3E}">
        <p14:creationId xmlns:p14="http://schemas.microsoft.com/office/powerpoint/2010/main" val="1386979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748441E7-A5CD-9D47-B073-BF6BC952FB52}"/>
              </a:ext>
            </a:extLst>
          </p:cNvPr>
          <p:cNvPicPr>
            <a:picLocks noChangeAspect="1"/>
          </p:cNvPicPr>
          <p:nvPr/>
        </p:nvPicPr>
        <p:blipFill>
          <a:blip r:embed="rId2"/>
          <a:stretch>
            <a:fillRect/>
          </a:stretch>
        </p:blipFill>
        <p:spPr>
          <a:xfrm>
            <a:off x="1155837" y="1288312"/>
            <a:ext cx="3120809" cy="3663404"/>
          </a:xfrm>
          <a:prstGeom prst="rect">
            <a:avLst/>
          </a:prstGeom>
        </p:spPr>
      </p:pic>
      <p:pic>
        <p:nvPicPr>
          <p:cNvPr id="7" name="Picture 6" descr="Chart, histogram&#10;&#10;Description automatically generated">
            <a:extLst>
              <a:ext uri="{FF2B5EF4-FFF2-40B4-BE49-F238E27FC236}">
                <a16:creationId xmlns:a16="http://schemas.microsoft.com/office/drawing/2014/main" id="{7E4A6BC6-AE13-AC4E-B098-FE146BC0FE87}"/>
              </a:ext>
            </a:extLst>
          </p:cNvPr>
          <p:cNvPicPr>
            <a:picLocks noChangeAspect="1"/>
          </p:cNvPicPr>
          <p:nvPr/>
        </p:nvPicPr>
        <p:blipFill>
          <a:blip r:embed="rId3"/>
          <a:stretch>
            <a:fillRect/>
          </a:stretch>
        </p:blipFill>
        <p:spPr>
          <a:xfrm>
            <a:off x="4782821" y="1703325"/>
            <a:ext cx="3552286" cy="3248391"/>
          </a:xfrm>
          <a:prstGeom prst="rect">
            <a:avLst/>
          </a:prstGeom>
        </p:spPr>
      </p:pic>
      <p:sp>
        <p:nvSpPr>
          <p:cNvPr id="8" name="Title 7">
            <a:extLst>
              <a:ext uri="{FF2B5EF4-FFF2-40B4-BE49-F238E27FC236}">
                <a16:creationId xmlns:a16="http://schemas.microsoft.com/office/drawing/2014/main" id="{9D91D76B-D7DC-C44C-80A5-A5239751B1C1}"/>
              </a:ext>
            </a:extLst>
          </p:cNvPr>
          <p:cNvSpPr>
            <a:spLocks noGrp="1"/>
          </p:cNvSpPr>
          <p:nvPr>
            <p:ph type="title"/>
          </p:nvPr>
        </p:nvSpPr>
        <p:spPr>
          <a:xfrm>
            <a:off x="530468" y="398586"/>
            <a:ext cx="7886700" cy="994172"/>
          </a:xfrm>
        </p:spPr>
        <p:txBody>
          <a:bodyPr>
            <a:normAutofit/>
          </a:bodyPr>
          <a:lstStyle/>
          <a:p>
            <a:pPr algn="ctr"/>
            <a:r>
              <a:rPr lang="en-US" sz="2100" dirty="0"/>
              <a:t>Availability of occurrence data has greatly increased over the last century, but not all species are represented evenly.</a:t>
            </a:r>
          </a:p>
        </p:txBody>
      </p:sp>
    </p:spTree>
    <p:extLst>
      <p:ext uri="{BB962C8B-B14F-4D97-AF65-F5344CB8AC3E}">
        <p14:creationId xmlns:p14="http://schemas.microsoft.com/office/powerpoint/2010/main" val="857094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FF524-8829-7A40-FFDA-0C0AFB1095F6}"/>
              </a:ext>
            </a:extLst>
          </p:cNvPr>
          <p:cNvSpPr>
            <a:spLocks noGrp="1"/>
          </p:cNvSpPr>
          <p:nvPr>
            <p:ph type="title"/>
          </p:nvPr>
        </p:nvSpPr>
        <p:spPr/>
        <p:txBody>
          <a:bodyPr/>
          <a:lstStyle/>
          <a:p>
            <a:r>
              <a:rPr lang="en-US" dirty="0"/>
              <a:t>Observation data types</a:t>
            </a:r>
          </a:p>
        </p:txBody>
      </p:sp>
      <p:sp>
        <p:nvSpPr>
          <p:cNvPr id="3" name="Content Placeholder 2">
            <a:extLst>
              <a:ext uri="{FF2B5EF4-FFF2-40B4-BE49-F238E27FC236}">
                <a16:creationId xmlns:a16="http://schemas.microsoft.com/office/drawing/2014/main" id="{EF98A3F8-5533-6AA1-221F-6EFA3F9501A9}"/>
              </a:ext>
            </a:extLst>
          </p:cNvPr>
          <p:cNvSpPr>
            <a:spLocks noGrp="1"/>
          </p:cNvSpPr>
          <p:nvPr>
            <p:ph idx="1"/>
          </p:nvPr>
        </p:nvSpPr>
        <p:spPr/>
        <p:txBody>
          <a:bodyPr/>
          <a:lstStyle/>
          <a:p>
            <a:pPr lvl="0"/>
            <a:r>
              <a:rPr lang="en-US" dirty="0"/>
              <a:t>Presence-only: locations where the species was recorded</a:t>
            </a:r>
          </a:p>
          <a:p>
            <a:pPr lvl="0"/>
            <a:r>
              <a:rPr lang="en-US" dirty="0"/>
              <a:t>Background: environmental conditions available in the calibration region; not absences</a:t>
            </a:r>
          </a:p>
          <a:p>
            <a:pPr lvl="0"/>
            <a:r>
              <a:rPr lang="en-US" dirty="0"/>
              <a:t>Pseudoabsence: selected locations treated as absences during model fitting</a:t>
            </a:r>
          </a:p>
          <a:p>
            <a:pPr lvl="0"/>
            <a:r>
              <a:rPr lang="en-US" dirty="0" err="1"/>
              <a:t>Nondetection</a:t>
            </a:r>
            <a:r>
              <a:rPr lang="en-US" dirty="0"/>
              <a:t>: a surveyed location where the species was not recorded</a:t>
            </a:r>
          </a:p>
          <a:p>
            <a:pPr lvl="0"/>
            <a:r>
              <a:rPr lang="en-US" dirty="0"/>
              <a:t>Repeated surveys can help separate occupancy from detection</a:t>
            </a:r>
          </a:p>
        </p:txBody>
      </p:sp>
    </p:spTree>
    <p:extLst>
      <p:ext uri="{BB962C8B-B14F-4D97-AF65-F5344CB8AC3E}">
        <p14:creationId xmlns:p14="http://schemas.microsoft.com/office/powerpoint/2010/main" val="2291475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8B5B-9BDF-9F5B-59FB-3A894BCDA052}"/>
              </a:ext>
            </a:extLst>
          </p:cNvPr>
          <p:cNvSpPr>
            <a:spLocks noGrp="1"/>
          </p:cNvSpPr>
          <p:nvPr>
            <p:ph type="title"/>
          </p:nvPr>
        </p:nvSpPr>
        <p:spPr/>
        <p:txBody>
          <a:bodyPr/>
          <a:lstStyle/>
          <a:p>
            <a:r>
              <a:rPr lang="en-US" dirty="0"/>
              <a:t>Bias correction</a:t>
            </a:r>
          </a:p>
        </p:txBody>
      </p:sp>
      <p:sp>
        <p:nvSpPr>
          <p:cNvPr id="3" name="Content Placeholder 2">
            <a:extLst>
              <a:ext uri="{FF2B5EF4-FFF2-40B4-BE49-F238E27FC236}">
                <a16:creationId xmlns:a16="http://schemas.microsoft.com/office/drawing/2014/main" id="{3520448F-0BAC-686A-26AF-8E1EAE9CC5A9}"/>
              </a:ext>
            </a:extLst>
          </p:cNvPr>
          <p:cNvSpPr>
            <a:spLocks noGrp="1"/>
          </p:cNvSpPr>
          <p:nvPr>
            <p:ph idx="1"/>
          </p:nvPr>
        </p:nvSpPr>
        <p:spPr/>
        <p:txBody>
          <a:bodyPr/>
          <a:lstStyle/>
          <a:p>
            <a:pPr lvl="0"/>
            <a:r>
              <a:rPr lang="en-US" dirty="0"/>
              <a:t>Target-group background uses records of similarly sampled taxa to approximate observer effort</a:t>
            </a:r>
          </a:p>
          <a:p>
            <a:pPr lvl="0"/>
            <a:r>
              <a:rPr lang="en-US" dirty="0"/>
              <a:t>Bias covariates describe access, population density, roads, or sampling effort</a:t>
            </a:r>
          </a:p>
          <a:p>
            <a:pPr lvl="0"/>
            <a:r>
              <a:rPr lang="en-US" dirty="0"/>
              <a:t>Integrated models combine opportunistic records with structured surveys</a:t>
            </a:r>
          </a:p>
          <a:p>
            <a:pPr lvl="0"/>
            <a:r>
              <a:rPr lang="en-US" dirty="0"/>
              <a:t>Every correction method introduces assumptions that should be documented and tested</a:t>
            </a:r>
          </a:p>
        </p:txBody>
      </p:sp>
    </p:spTree>
    <p:extLst>
      <p:ext uri="{BB962C8B-B14F-4D97-AF65-F5344CB8AC3E}">
        <p14:creationId xmlns:p14="http://schemas.microsoft.com/office/powerpoint/2010/main" val="3412564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A2C29-AC86-B90E-A082-B7E1759AD616}"/>
              </a:ext>
            </a:extLst>
          </p:cNvPr>
          <p:cNvSpPr>
            <a:spLocks noGrp="1"/>
          </p:cNvSpPr>
          <p:nvPr>
            <p:ph type="title"/>
          </p:nvPr>
        </p:nvSpPr>
        <p:spPr>
          <a:xfrm>
            <a:off x="2070540" y="2143125"/>
            <a:ext cx="4339137" cy="857250"/>
          </a:xfrm>
        </p:spPr>
        <p:txBody>
          <a:bodyPr>
            <a:normAutofit/>
          </a:bodyPr>
          <a:lstStyle/>
          <a:p>
            <a:r>
              <a:rPr lang="en-US" dirty="0"/>
              <a:t>R tools for modeling</a:t>
            </a:r>
          </a:p>
        </p:txBody>
      </p:sp>
    </p:spTree>
    <p:extLst>
      <p:ext uri="{BB962C8B-B14F-4D97-AF65-F5344CB8AC3E}">
        <p14:creationId xmlns:p14="http://schemas.microsoft.com/office/powerpoint/2010/main" val="85612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EFDC6-B387-3623-92FB-2805122D6E26}"/>
              </a:ext>
            </a:extLst>
          </p:cNvPr>
          <p:cNvSpPr>
            <a:spLocks noGrp="1"/>
          </p:cNvSpPr>
          <p:nvPr>
            <p:ph type="title"/>
          </p:nvPr>
        </p:nvSpPr>
        <p:spPr/>
        <p:txBody>
          <a:bodyPr/>
          <a:lstStyle/>
          <a:p>
            <a:r>
              <a:rPr lang="en-US" dirty="0"/>
              <a:t>Libraries for Lab 03</a:t>
            </a:r>
          </a:p>
        </p:txBody>
      </p:sp>
      <p:sp>
        <p:nvSpPr>
          <p:cNvPr id="3" name="Content Placeholder 2">
            <a:extLst>
              <a:ext uri="{FF2B5EF4-FFF2-40B4-BE49-F238E27FC236}">
                <a16:creationId xmlns:a16="http://schemas.microsoft.com/office/drawing/2014/main" id="{223FB1AD-F3FE-14E3-F9CB-37FD66855247}"/>
              </a:ext>
            </a:extLst>
          </p:cNvPr>
          <p:cNvSpPr>
            <a:spLocks noGrp="1"/>
          </p:cNvSpPr>
          <p:nvPr>
            <p:ph idx="1"/>
          </p:nvPr>
        </p:nvSpPr>
        <p:spPr/>
        <p:txBody>
          <a:bodyPr>
            <a:normAutofit/>
          </a:bodyPr>
          <a:lstStyle/>
          <a:p>
            <a:pPr marL="0" indent="0">
              <a:buNone/>
            </a:pPr>
            <a:r>
              <a:rPr lang="en-US" dirty="0">
                <a:solidFill>
                  <a:schemeClr val="accent1"/>
                </a:solidFill>
              </a:rPr>
              <a:t>library(sf)              			</a:t>
            </a:r>
            <a:r>
              <a:rPr lang="en-US" dirty="0"/>
              <a:t># vector spatial data</a:t>
            </a:r>
          </a:p>
          <a:p>
            <a:pPr marL="0" indent="0">
              <a:buNone/>
            </a:pPr>
            <a:r>
              <a:rPr lang="en-US" dirty="0">
                <a:solidFill>
                  <a:schemeClr val="accent1"/>
                </a:solidFill>
              </a:rPr>
              <a:t>library(terra)          </a:t>
            </a:r>
            <a:r>
              <a:rPr lang="en-US" dirty="0"/>
              <a:t>			# environmental rasters</a:t>
            </a:r>
          </a:p>
          <a:p>
            <a:pPr marL="0" indent="0">
              <a:buNone/>
            </a:pPr>
            <a:r>
              <a:rPr lang="en-US" dirty="0">
                <a:solidFill>
                  <a:schemeClr val="accent1"/>
                </a:solidFill>
              </a:rPr>
              <a:t>library(</a:t>
            </a:r>
            <a:r>
              <a:rPr lang="en-US" dirty="0" err="1">
                <a:solidFill>
                  <a:schemeClr val="accent1"/>
                </a:solidFill>
              </a:rPr>
              <a:t>blockCV</a:t>
            </a:r>
            <a:r>
              <a:rPr lang="en-US" dirty="0">
                <a:solidFill>
                  <a:schemeClr val="accent1"/>
                </a:solidFill>
              </a:rPr>
              <a:t>)         </a:t>
            </a:r>
            <a:r>
              <a:rPr lang="en-US" dirty="0"/>
              <a:t>		# spatial or environmental folds</a:t>
            </a:r>
          </a:p>
          <a:p>
            <a:pPr marL="0" indent="0">
              <a:buNone/>
            </a:pPr>
            <a:r>
              <a:rPr lang="en-US" dirty="0">
                <a:solidFill>
                  <a:schemeClr val="accent1"/>
                </a:solidFill>
              </a:rPr>
              <a:t>library(</a:t>
            </a:r>
            <a:r>
              <a:rPr lang="en-US" dirty="0" err="1">
                <a:solidFill>
                  <a:schemeClr val="accent1"/>
                </a:solidFill>
              </a:rPr>
              <a:t>ENMeval</a:t>
            </a:r>
            <a:r>
              <a:rPr lang="en-US" dirty="0">
                <a:solidFill>
                  <a:schemeClr val="accent1"/>
                </a:solidFill>
              </a:rPr>
              <a:t>)         </a:t>
            </a:r>
            <a:r>
              <a:rPr lang="en-US" dirty="0"/>
              <a:t>		# model tuning and evaluation</a:t>
            </a:r>
          </a:p>
          <a:p>
            <a:pPr marL="0" indent="0">
              <a:buNone/>
            </a:pPr>
            <a:r>
              <a:rPr lang="en-US" dirty="0">
                <a:solidFill>
                  <a:schemeClr val="accent1"/>
                </a:solidFill>
              </a:rPr>
              <a:t>library(</a:t>
            </a:r>
            <a:r>
              <a:rPr lang="en-US" dirty="0" err="1">
                <a:solidFill>
                  <a:schemeClr val="accent1"/>
                </a:solidFill>
              </a:rPr>
              <a:t>virtualspecies</a:t>
            </a:r>
            <a:r>
              <a:rPr lang="en-US" dirty="0">
                <a:solidFill>
                  <a:schemeClr val="accent1"/>
                </a:solidFill>
              </a:rPr>
              <a:t>)  </a:t>
            </a:r>
            <a:r>
              <a:rPr lang="en-US" dirty="0"/>
              <a:t>	# simulation-based robustness</a:t>
            </a:r>
          </a:p>
          <a:p>
            <a:pPr marL="0" indent="0">
              <a:buNone/>
            </a:pPr>
            <a:r>
              <a:rPr lang="en-US" dirty="0">
                <a:solidFill>
                  <a:schemeClr val="accent1"/>
                </a:solidFill>
              </a:rPr>
              <a:t>library(CAST)            </a:t>
            </a:r>
            <a:r>
              <a:rPr lang="en-US" dirty="0"/>
              <a:t>		# area of applicability</a:t>
            </a:r>
          </a:p>
        </p:txBody>
      </p:sp>
    </p:spTree>
    <p:extLst>
      <p:ext uri="{BB962C8B-B14F-4D97-AF65-F5344CB8AC3E}">
        <p14:creationId xmlns:p14="http://schemas.microsoft.com/office/powerpoint/2010/main" val="4101487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22102</TotalTime>
  <Words>1235</Words>
  <Application>Microsoft Macintosh PowerPoint</Application>
  <PresentationFormat>On-screen Show (16:9)</PresentationFormat>
  <Paragraphs>168</Paragraphs>
  <Slides>36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Week 4. Modeling In Practice</vt:lpstr>
      <vt:lpstr>Welcome, hello, any announcements?</vt:lpstr>
      <vt:lpstr>Project Milestones</vt:lpstr>
      <vt:lpstr>Class Plan</vt:lpstr>
      <vt:lpstr>Write to yourself (2-minute paper)</vt:lpstr>
      <vt:lpstr>Purpose of modeling - “fit for purpose” </vt:lpstr>
      <vt:lpstr>PowerPoint Presentation</vt:lpstr>
      <vt:lpstr>PowerPoint Presentation</vt:lpstr>
      <vt:lpstr>PowerPoint Presentation</vt:lpstr>
      <vt:lpstr>PowerPoint Presentation</vt:lpstr>
      <vt:lpstr>What do these models estimate?</vt:lpstr>
      <vt:lpstr>Model evaluation terms</vt:lpstr>
      <vt:lpstr>Loss functions</vt:lpstr>
      <vt:lpstr>Geographic and environmental representation</vt:lpstr>
      <vt:lpstr>Transferability</vt:lpstr>
      <vt:lpstr>Step 5: Ecological interpretation</vt:lpstr>
      <vt:lpstr>Step 6: Simulation-based robustness of ecological interpretations</vt:lpstr>
      <vt:lpstr>Step 6: Simulation-based robustness of ecological interpretations</vt:lpstr>
      <vt:lpstr>Robustness of interpretations</vt:lpstr>
      <vt:lpstr>Peterson’s occurrence probability tree</vt:lpstr>
      <vt:lpstr>PowerPoint Presentation</vt:lpstr>
      <vt:lpstr>PowerPoint Presentation</vt:lpstr>
      <vt:lpstr>PowerPoint Presentation</vt:lpstr>
      <vt:lpstr>PowerPoint Presentation</vt:lpstr>
      <vt:lpstr>PowerPoint Presentation</vt:lpstr>
      <vt:lpstr>Primary and secondary occurrence data</vt:lpstr>
      <vt:lpstr>Ranges and rarity</vt:lpstr>
      <vt:lpstr>Sampling bias</vt:lpstr>
      <vt:lpstr>Sampling bias</vt:lpstr>
      <vt:lpstr>“Real” absence data</vt:lpstr>
      <vt:lpstr>Analog data in the digital age</vt:lpstr>
      <vt:lpstr>Availability of occurrence data has greatly increased over the last century, but not all species are represented evenly.</vt:lpstr>
      <vt:lpstr>Observation data types</vt:lpstr>
      <vt:lpstr>Bias correction</vt:lpstr>
      <vt:lpstr>R tools for modeling</vt:lpstr>
      <vt:lpstr>Libraries for Lab 03</vt:lpstr>
    </vt:vector>
  </TitlesOfParts>
  <Company>TAMU - Spatial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 Projections</dc:title>
  <dc:creator>Michelle Lawing</dc:creator>
  <cp:lastModifiedBy>Michelle Lawing</cp:lastModifiedBy>
  <cp:revision>882</cp:revision>
  <dcterms:created xsi:type="dcterms:W3CDTF">2014-08-30T17:37:24Z</dcterms:created>
  <dcterms:modified xsi:type="dcterms:W3CDTF">2026-09-15T19:48:10Z</dcterms:modified>
</cp:coreProperties>
</file>