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489" r:id="rId3"/>
    <p:sldId id="487" r:id="rId4"/>
    <p:sldId id="488" r:id="rId5"/>
    <p:sldId id="491" r:id="rId6"/>
    <p:sldId id="485" r:id="rId7"/>
    <p:sldId id="475" r:id="rId8"/>
    <p:sldId id="473" r:id="rId9"/>
    <p:sldId id="476" r:id="rId10"/>
    <p:sldId id="474" r:id="rId11"/>
    <p:sldId id="481" r:id="rId12"/>
    <p:sldId id="440" r:id="rId13"/>
    <p:sldId id="442" r:id="rId14"/>
    <p:sldId id="441" r:id="rId15"/>
    <p:sldId id="448" r:id="rId16"/>
    <p:sldId id="492" r:id="rId17"/>
    <p:sldId id="504" r:id="rId18"/>
    <p:sldId id="480" r:id="rId19"/>
    <p:sldId id="484" r:id="rId20"/>
    <p:sldId id="465" r:id="rId21"/>
    <p:sldId id="466" r:id="rId22"/>
    <p:sldId id="477" r:id="rId23"/>
    <p:sldId id="479" r:id="rId24"/>
    <p:sldId id="493" r:id="rId25"/>
    <p:sldId id="500" r:id="rId26"/>
    <p:sldId id="502" r:id="rId27"/>
    <p:sldId id="50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489"/>
            <p14:sldId id="487"/>
            <p14:sldId id="488"/>
            <p14:sldId id="491"/>
            <p14:sldId id="485"/>
            <p14:sldId id="475"/>
            <p14:sldId id="473"/>
            <p14:sldId id="476"/>
            <p14:sldId id="474"/>
            <p14:sldId id="481"/>
            <p14:sldId id="440"/>
            <p14:sldId id="442"/>
            <p14:sldId id="441"/>
            <p14:sldId id="448"/>
            <p14:sldId id="492"/>
            <p14:sldId id="504"/>
            <p14:sldId id="480"/>
            <p14:sldId id="484"/>
            <p14:sldId id="465"/>
            <p14:sldId id="466"/>
            <p14:sldId id="477"/>
            <p14:sldId id="479"/>
            <p14:sldId id="493"/>
            <p14:sldId id="500"/>
            <p14:sldId id="502"/>
            <p14:sldId id="5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073"/>
    <p:restoredTop sz="79726"/>
  </p:normalViewPr>
  <p:slideViewPr>
    <p:cSldViewPr snapToGrid="0" snapToObjects="1">
      <p:cViewPr varScale="1">
        <p:scale>
          <a:sx n="128" d="100"/>
          <a:sy n="128" d="100"/>
        </p:scale>
        <p:origin x="11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A90D5-3B1D-1149-800E-15EBB2932B0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01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A90D5-3B1D-1149-800E-15EBB2932B0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93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93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2388"/>
            <a:ext cx="8229600" cy="435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49143" y="92075"/>
            <a:ext cx="21729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0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0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6" y="92075"/>
            <a:ext cx="34176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alawing@tamu.ed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6109" y="1854200"/>
            <a:ext cx="4082415" cy="147002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the niche and species’ </a:t>
            </a:r>
            <a:br>
              <a:rPr lang="en-US" sz="3200" dirty="0"/>
            </a:br>
            <a:r>
              <a:rPr lang="en-US" sz="3200" dirty="0"/>
              <a:t>geographic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5929" y="3324225"/>
            <a:ext cx="3101830" cy="1335767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Paleoecology, Evolution, and Climate Lab</a:t>
            </a:r>
          </a:p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 algn="l"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pPr algn="l"/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0FA61-6AC9-CA4C-A82B-5182D62F0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344" y="839580"/>
            <a:ext cx="3537490" cy="41316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892C9A-6BBB-5446-8D19-5BF04106FFB3}"/>
              </a:ext>
            </a:extLst>
          </p:cNvPr>
          <p:cNvSpPr/>
          <p:nvPr/>
        </p:nvSpPr>
        <p:spPr>
          <a:xfrm>
            <a:off x="4674280" y="4995258"/>
            <a:ext cx="356155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2.1. Distribution of the California Thrasher (</a:t>
            </a:r>
            <a:r>
              <a:rPr lang="en-US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Toxostoma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redivivum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California, from Grinnell (1917). Approximate distributional limits of the three subspecies are shown with different shadings, and occurrences are shown as dots (for specimens) or triangles (for published records).</a:t>
            </a:r>
            <a:endParaRPr lang="en-US" sz="1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C58BC3-E640-0E45-9747-378B1AB6A77A}"/>
              </a:ext>
            </a:extLst>
          </p:cNvPr>
          <p:cNvSpPr/>
          <p:nvPr/>
        </p:nvSpPr>
        <p:spPr>
          <a:xfrm>
            <a:off x="615929" y="6130017"/>
            <a:ext cx="76199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Peterson, A.T.,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Soberón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, J., Pearson, R.G., Anderson, R.P., Martínez-Meyer, E., Nakamura, M. and Araújo, M.B., 2011. 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</a:rPr>
              <a:t>Ecological niches and geographic distributions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(Vol. 49). Princeton University Press.</a:t>
            </a:r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EFF974-EA81-F1E1-9CA9-401A5F286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826" y="725431"/>
            <a:ext cx="4312347" cy="574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39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AAE5-4BEF-85E1-67BD-D76EAF23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5B25-13CC-DBA9-E360-67E742F9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90" y="2836234"/>
            <a:ext cx="4965405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Welcome and Introductions</a:t>
            </a:r>
          </a:p>
        </p:txBody>
      </p:sp>
    </p:spTree>
    <p:extLst>
      <p:ext uri="{BB962C8B-B14F-4D97-AF65-F5344CB8AC3E}">
        <p14:creationId xmlns:p14="http://schemas.microsoft.com/office/powerpoint/2010/main" val="191224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79FAC-41ED-8315-3E0D-CE964071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 paper or on your computer please write…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7BA0-CBFD-9886-C5B1-3E69489DE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Your Name</a:t>
            </a:r>
          </a:p>
          <a:p>
            <a:r>
              <a:rPr lang="en-US" sz="2600" dirty="0"/>
              <a:t>Degree Program, Department</a:t>
            </a:r>
          </a:p>
          <a:p>
            <a:r>
              <a:rPr lang="en-US" sz="2600" dirty="0"/>
              <a:t>What do you study?</a:t>
            </a:r>
          </a:p>
          <a:p>
            <a:r>
              <a:rPr lang="en-US" sz="2600" dirty="0"/>
              <a:t>What is your previous R/coding experience?</a:t>
            </a:r>
          </a:p>
          <a:p>
            <a:r>
              <a:rPr lang="en-US" sz="2600" dirty="0"/>
              <a:t>Why are you taking this class?</a:t>
            </a:r>
          </a:p>
          <a:p>
            <a:r>
              <a:rPr lang="en-US" sz="2600" dirty="0"/>
              <a:t>What is your prior experience with niches and species distributions?</a:t>
            </a:r>
          </a:p>
        </p:txBody>
      </p:sp>
    </p:spTree>
    <p:extLst>
      <p:ext uri="{BB962C8B-B14F-4D97-AF65-F5344CB8AC3E}">
        <p14:creationId xmlns:p14="http://schemas.microsoft.com/office/powerpoint/2010/main" val="3751184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021C-4078-D3A7-B613-EAA09257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CD3D-B80C-6FF1-2B49-CB7B2282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90" y="2836234"/>
            <a:ext cx="4965405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Round Robin Introductions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D88DB04-5154-A68B-235F-D6320C0743EA}"/>
              </a:ext>
            </a:extLst>
          </p:cNvPr>
          <p:cNvSpPr txBox="1">
            <a:spLocks/>
          </p:cNvSpPr>
          <p:nvPr/>
        </p:nvSpPr>
        <p:spPr>
          <a:xfrm>
            <a:off x="375685" y="553339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Hand in to me or email me your responses at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alawing@tamu.edu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after introductions</a:t>
            </a:r>
          </a:p>
        </p:txBody>
      </p:sp>
    </p:spTree>
    <p:extLst>
      <p:ext uri="{BB962C8B-B14F-4D97-AF65-F5344CB8AC3E}">
        <p14:creationId xmlns:p14="http://schemas.microsoft.com/office/powerpoint/2010/main" val="143798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6C31-1CBE-CCCF-2D06-85F66C8A3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711" y="2857500"/>
            <a:ext cx="381708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18</a:t>
            </a:r>
            <a:r>
              <a:rPr lang="en-US" baseline="30000" dirty="0"/>
              <a:t>th</a:t>
            </a:r>
            <a:r>
              <a:rPr lang="en-US" dirty="0"/>
              <a:t> – 20</a:t>
            </a:r>
            <a:r>
              <a:rPr lang="en-US" baseline="30000" dirty="0"/>
              <a:t>th</a:t>
            </a:r>
            <a:r>
              <a:rPr lang="en-US" dirty="0"/>
              <a:t> Century People and Concepts</a:t>
            </a:r>
          </a:p>
        </p:txBody>
      </p:sp>
    </p:spTree>
    <p:extLst>
      <p:ext uri="{BB962C8B-B14F-4D97-AF65-F5344CB8AC3E}">
        <p14:creationId xmlns:p14="http://schemas.microsoft.com/office/powerpoint/2010/main" val="23895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Alexander von Humboldt</a:t>
            </a:r>
          </a:p>
        </p:txBody>
      </p:sp>
      <p:pic>
        <p:nvPicPr>
          <p:cNvPr id="1026" name="Picture 2" descr="Stieler, Joseph Karl - Alexander von Humboldt - 1843.jpg">
            <a:extLst>
              <a:ext uri="{FF2B5EF4-FFF2-40B4-BE49-F238E27FC236}">
                <a16:creationId xmlns:a16="http://schemas.microsoft.com/office/drawing/2014/main" id="{1B687D1D-F509-8C46-99B4-8A6931973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1772388"/>
            <a:ext cx="2794000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AAA34-2259-1E42-B23B-8F53F33A6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388"/>
            <a:ext cx="4656667" cy="43537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1769–1859</a:t>
            </a:r>
          </a:p>
          <a:p>
            <a:r>
              <a:rPr lang="en-US" dirty="0"/>
              <a:t>Popularized science with his writings</a:t>
            </a:r>
          </a:p>
          <a:p>
            <a:r>
              <a:rPr lang="en-US" dirty="0"/>
              <a:t>Botanical geography laid foundation for the field of biogeography</a:t>
            </a:r>
          </a:p>
          <a:p>
            <a:r>
              <a:rPr lang="en-US" dirty="0"/>
              <a:t>Synthesized knowledge from many different fields to form a vision of </a:t>
            </a:r>
            <a:r>
              <a:rPr lang="en-US" b="1" dirty="0"/>
              <a:t>nature as one interconnected system</a:t>
            </a:r>
          </a:p>
          <a:p>
            <a:r>
              <a:rPr lang="en-US" dirty="0"/>
              <a:t>The invention of nature – historical account by Andrea Wulf</a:t>
            </a:r>
          </a:p>
        </p:txBody>
      </p:sp>
    </p:spTree>
    <p:extLst>
      <p:ext uri="{BB962C8B-B14F-4D97-AF65-F5344CB8AC3E}">
        <p14:creationId xmlns:p14="http://schemas.microsoft.com/office/powerpoint/2010/main" val="310258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Alexander von Humboldt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64649-4893-B840-A043-35D605558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732" y="1586831"/>
            <a:ext cx="6978535" cy="499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Charles Darwin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AAA34-2259-1E42-B23B-8F53F33A6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388"/>
            <a:ext cx="4656667" cy="435377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1809–1882</a:t>
            </a:r>
          </a:p>
          <a:p>
            <a:r>
              <a:rPr lang="en-US" sz="2400" dirty="0"/>
              <a:t>On the Origin of Species (1859)</a:t>
            </a:r>
          </a:p>
          <a:p>
            <a:r>
              <a:rPr lang="en-US" sz="2400" b="1" dirty="0"/>
              <a:t>Species are mutable</a:t>
            </a:r>
          </a:p>
          <a:p>
            <a:r>
              <a:rPr lang="en-US" sz="2400" dirty="0"/>
              <a:t>Theory of evolution by natural selection</a:t>
            </a:r>
          </a:p>
          <a:p>
            <a:r>
              <a:rPr lang="en-US" sz="2400" dirty="0"/>
              <a:t>Influenced by Humboldt’s Personal Narrative while on the Voyage of the Beagle</a:t>
            </a:r>
          </a:p>
          <a:p>
            <a:r>
              <a:rPr lang="en-US" sz="2400" dirty="0"/>
              <a:t>His job was the ships naturalist, to collect flora and fauna</a:t>
            </a:r>
          </a:p>
          <a:p>
            <a:r>
              <a:rPr lang="en-US" sz="2400" dirty="0"/>
              <a:t>He learned taxidermy while studying medicine at the University of Edinburgh</a:t>
            </a:r>
          </a:p>
        </p:txBody>
      </p:sp>
      <p:pic>
        <p:nvPicPr>
          <p:cNvPr id="2050" name="Picture 2" descr="Three quarter length portrait of sixty-year-old man, balding, with white hair and long white bushy beard, with heavy eyebrows shading his eyes looking thoughtfully into the distance, wearing a wide lapelled jacket.">
            <a:extLst>
              <a:ext uri="{FF2B5EF4-FFF2-40B4-BE49-F238E27FC236}">
                <a16:creationId xmlns:a16="http://schemas.microsoft.com/office/drawing/2014/main" id="{7851ABA8-BFFB-2D4D-BEFF-1C9252CE3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411" y="1772388"/>
            <a:ext cx="2794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93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79B847-1E90-CE4D-80D7-B097E8D6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268" y="2653872"/>
            <a:ext cx="3218458" cy="28364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7573C0-EA1C-6249-8B45-C6A5304D6E4B}"/>
              </a:ext>
            </a:extLst>
          </p:cNvPr>
          <p:cNvSpPr/>
          <p:nvPr/>
        </p:nvSpPr>
        <p:spPr>
          <a:xfrm>
            <a:off x="684457" y="5735470"/>
            <a:ext cx="73960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</a:rPr>
              <a:t>John </a:t>
            </a:r>
            <a:r>
              <a:rPr lang="en-US" sz="1500" dirty="0" err="1">
                <a:latin typeface="Arial" panose="020B0604020202020204" pitchFamily="34" charset="0"/>
              </a:rPr>
              <a:t>Edmonstone</a:t>
            </a:r>
            <a:r>
              <a:rPr lang="en-US" sz="1500" dirty="0">
                <a:latin typeface="Arial" panose="020B0604020202020204" pitchFamily="34" charset="0"/>
              </a:rPr>
              <a:t>, a former slave from British Guiana, was instrumental in teaching Darwin the skills of taxidermy and South American flora and fauna. – Sara Middleton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90E2AC-708C-4844-98E7-28D66770F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65" y="702911"/>
            <a:ext cx="67310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0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John </a:t>
            </a:r>
            <a:r>
              <a:rPr lang="en-US" dirty="0" err="1">
                <a:latin typeface="Arial" panose="020B0604020202020204" pitchFamily="34" charset="0"/>
              </a:rPr>
              <a:t>Edmonstone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772388"/>
            <a:ext cx="4656667" cy="43537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Late 1700s – after 1841</a:t>
            </a:r>
          </a:p>
          <a:p>
            <a:r>
              <a:rPr lang="en-US" dirty="0"/>
              <a:t>Born enslaved in British Guiana, South America</a:t>
            </a:r>
          </a:p>
          <a:p>
            <a:r>
              <a:rPr lang="en-US" dirty="0"/>
              <a:t>After he was freed, he moved to Glasgow and then Edinburgh</a:t>
            </a:r>
          </a:p>
          <a:p>
            <a:r>
              <a:rPr lang="en-US" dirty="0"/>
              <a:t>He taught </a:t>
            </a:r>
            <a:r>
              <a:rPr lang="en-US" b="1" dirty="0"/>
              <a:t>taxidermy</a:t>
            </a:r>
            <a:r>
              <a:rPr lang="en-US" dirty="0"/>
              <a:t> at the University of Edinburgh to many students, including Darwin</a:t>
            </a:r>
          </a:p>
          <a:p>
            <a:r>
              <a:rPr lang="en-US" dirty="0"/>
              <a:t>He inspired Darwin and others with tales of </a:t>
            </a:r>
            <a:r>
              <a:rPr lang="en-US" b="1" dirty="0"/>
              <a:t>South American flora and fauna</a:t>
            </a:r>
          </a:p>
        </p:txBody>
      </p:sp>
      <p:pic>
        <p:nvPicPr>
          <p:cNvPr id="3074" name="Picture 2" descr="The amazing tale of John Edmonstone: the freed slave who taught Charles  Darwin in Edinburgh – Uncensored Opinion">
            <a:extLst>
              <a:ext uri="{FF2B5EF4-FFF2-40B4-BE49-F238E27FC236}">
                <a16:creationId xmlns:a16="http://schemas.microsoft.com/office/drawing/2014/main" id="{8151B017-EA5C-3E4F-AA81-A8D92FB79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150" y="1925387"/>
            <a:ext cx="2374900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844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Joseph Grinnell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65" y="1796452"/>
            <a:ext cx="1670273" cy="3867411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772388"/>
            <a:ext cx="4656667" cy="43537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1877–1939</a:t>
            </a:r>
          </a:p>
          <a:p>
            <a:r>
              <a:rPr lang="en-US" dirty="0"/>
              <a:t>First director of the Museum of Vertebrate Zoology Berkeley</a:t>
            </a:r>
          </a:p>
          <a:p>
            <a:r>
              <a:rPr lang="en-US" dirty="0"/>
              <a:t>First use of niche in published paper</a:t>
            </a:r>
          </a:p>
          <a:p>
            <a:r>
              <a:rPr lang="en-US" dirty="0"/>
              <a:t>Grinnell, J. 1917. The niche relationships of the California Thrasher. </a:t>
            </a:r>
            <a:r>
              <a:rPr lang="en-US" i="1" dirty="0"/>
              <a:t>The Auk </a:t>
            </a:r>
            <a:r>
              <a:rPr lang="en-US" dirty="0"/>
              <a:t>34: 427-433.</a:t>
            </a:r>
          </a:p>
          <a:p>
            <a:r>
              <a:rPr lang="en-US" b="1" dirty="0"/>
              <a:t>Niche as climate and habitat </a:t>
            </a:r>
            <a:r>
              <a:rPr lang="en-US" dirty="0"/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479228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Charles Elton</a:t>
            </a:r>
            <a:endParaRPr lang="en-US" sz="24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772388"/>
            <a:ext cx="4656667" cy="435377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1900–1991</a:t>
            </a:r>
            <a:endParaRPr lang="en-US" dirty="0"/>
          </a:p>
          <a:p>
            <a:r>
              <a:rPr lang="en-US" dirty="0"/>
              <a:t>English Zoologist</a:t>
            </a:r>
          </a:p>
          <a:p>
            <a:r>
              <a:rPr lang="en-US" dirty="0"/>
              <a:t>Elton, C. 1927. Animal Ecology. Great Britain: William Clowes and Sons Ltd.</a:t>
            </a:r>
          </a:p>
          <a:p>
            <a:r>
              <a:rPr lang="en-US" dirty="0"/>
              <a:t>Defined the niche a bit differently – the role a species plays</a:t>
            </a:r>
          </a:p>
          <a:p>
            <a:r>
              <a:rPr lang="en-US" dirty="0"/>
              <a:t>Niche as an occupation-functional role of animal on community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850" y="1942814"/>
            <a:ext cx="2524404" cy="344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13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Evelyn Hutchinson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388"/>
            <a:ext cx="4944533" cy="43537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1903–1991</a:t>
            </a:r>
          </a:p>
          <a:p>
            <a:r>
              <a:rPr lang="en-US" dirty="0"/>
              <a:t>Father of modern ecology</a:t>
            </a:r>
          </a:p>
          <a:p>
            <a:r>
              <a:rPr lang="en-US" dirty="0"/>
              <a:t>Niche as an n-dimensional hypervolume </a:t>
            </a:r>
          </a:p>
          <a:p>
            <a:r>
              <a:rPr lang="en-US" dirty="0"/>
              <a:t>Dimensions are environmental conditions and resources that allow a species to exist indefinitely</a:t>
            </a:r>
          </a:p>
          <a:p>
            <a:r>
              <a:rPr lang="en-US" dirty="0"/>
              <a:t>Defined the concept of fundamental vs. realized niche</a:t>
            </a:r>
          </a:p>
          <a:p>
            <a:r>
              <a:rPr lang="en-US" dirty="0"/>
              <a:t>Defined the concept of the duality of geographic and environmental spaces</a:t>
            </a:r>
          </a:p>
          <a:p>
            <a:r>
              <a:rPr lang="en-US" dirty="0"/>
              <a:t>Hutchinson, G.E. 1957. Concluding Remarks. </a:t>
            </a:r>
            <a:r>
              <a:rPr lang="en-US" i="1" dirty="0"/>
              <a:t>Cold Spring Harbor Symposia on Quantitative Biology </a:t>
            </a:r>
            <a:r>
              <a:rPr lang="en-US" dirty="0"/>
              <a:t>22: 415-427.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515" y="1772388"/>
            <a:ext cx="3423615" cy="435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78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great debates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What is a niche?</a:t>
            </a:r>
          </a:p>
          <a:p>
            <a:endParaRPr lang="en-US" dirty="0"/>
          </a:p>
          <a:p>
            <a:r>
              <a:rPr lang="en-US" dirty="0"/>
              <a:t>How to quantify and compare the niche?</a:t>
            </a:r>
          </a:p>
          <a:p>
            <a:endParaRPr lang="en-US" dirty="0"/>
          </a:p>
          <a:p>
            <a:r>
              <a:rPr lang="en-US" dirty="0"/>
              <a:t>How does a niche relate to geography?</a:t>
            </a:r>
          </a:p>
          <a:p>
            <a:endParaRPr lang="en-US" dirty="0"/>
          </a:p>
          <a:p>
            <a:r>
              <a:rPr lang="en-US" dirty="0"/>
              <a:t>Are various terms the same?</a:t>
            </a:r>
          </a:p>
          <a:p>
            <a:pPr lvl="1"/>
            <a:r>
              <a:rPr lang="en-US" dirty="0"/>
              <a:t>ecological niche modeling</a:t>
            </a:r>
          </a:p>
          <a:p>
            <a:pPr lvl="1"/>
            <a:r>
              <a:rPr lang="en-US" dirty="0"/>
              <a:t>species distribution modeling</a:t>
            </a:r>
          </a:p>
          <a:p>
            <a:pPr lvl="1"/>
            <a:r>
              <a:rPr lang="en-US" dirty="0"/>
              <a:t>habitat suitability modeling</a:t>
            </a:r>
          </a:p>
          <a:p>
            <a:pPr lvl="1"/>
            <a:r>
              <a:rPr lang="en-US" dirty="0"/>
              <a:t>habitat modeling</a:t>
            </a:r>
          </a:p>
          <a:p>
            <a:pPr lvl="1"/>
            <a:r>
              <a:rPr lang="en-US" dirty="0"/>
              <a:t>environmental niche modeling</a:t>
            </a:r>
          </a:p>
          <a:p>
            <a:pPr lvl="1"/>
            <a:r>
              <a:rPr lang="en-US" dirty="0"/>
              <a:t>climate niche modeling</a:t>
            </a:r>
          </a:p>
          <a:p>
            <a:pPr lvl="1"/>
            <a:r>
              <a:rPr lang="en-US" dirty="0"/>
              <a:t>climate envelope modeling</a:t>
            </a:r>
          </a:p>
        </p:txBody>
      </p:sp>
    </p:spTree>
    <p:extLst>
      <p:ext uri="{BB962C8B-B14F-4D97-AF65-F5344CB8AC3E}">
        <p14:creationId xmlns:p14="http://schemas.microsoft.com/office/powerpoint/2010/main" val="1286110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0E63-00E1-BA39-B3EF-E87779865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34207"/>
            <a:ext cx="8229600" cy="1143000"/>
          </a:xfrm>
        </p:spPr>
        <p:txBody>
          <a:bodyPr/>
          <a:lstStyle/>
          <a:p>
            <a:r>
              <a:rPr lang="en-US" dirty="0"/>
              <a:t>What determines where a species occurs?</a:t>
            </a:r>
          </a:p>
        </p:txBody>
      </p:sp>
    </p:spTree>
    <p:extLst>
      <p:ext uri="{BB962C8B-B14F-4D97-AF65-F5344CB8AC3E}">
        <p14:creationId xmlns:p14="http://schemas.microsoft.com/office/powerpoint/2010/main" val="593973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F3249-0E4E-17AC-AB00-DDE6F9624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78" y="1347050"/>
            <a:ext cx="7937644" cy="45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53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a scale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162BCC-6D42-414B-862D-9E6DA55C4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388"/>
            <a:ext cx="8229600" cy="4353775"/>
          </a:xfrm>
        </p:spPr>
        <p:txBody>
          <a:bodyPr>
            <a:normAutofit/>
          </a:bodyPr>
          <a:lstStyle/>
          <a:p>
            <a:r>
              <a:rPr lang="en-US" dirty="0"/>
              <a:t>Components of a scale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Grain – resolution of the study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Extent – scope of the study</a:t>
            </a:r>
          </a:p>
          <a:p>
            <a:endParaRPr lang="en-US" dirty="0"/>
          </a:p>
          <a:p>
            <a:r>
              <a:rPr lang="en-US" dirty="0"/>
              <a:t>Ecological scale and map scale are exactly opposite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Ecological scale is the size or extent of the landscape under consideration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Map scale is the ratio of the map to the real distance</a:t>
            </a:r>
          </a:p>
        </p:txBody>
      </p:sp>
    </p:spTree>
    <p:extLst>
      <p:ext uri="{BB962C8B-B14F-4D97-AF65-F5344CB8AC3E}">
        <p14:creationId xmlns:p14="http://schemas.microsoft.com/office/powerpoint/2010/main" val="2914436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comment on scales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5553C-1548-4F4C-8774-05D13813E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190" y="1605455"/>
            <a:ext cx="6212957" cy="4238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7FCC9D-5CE1-E24F-8866-EFC8F979C0FB}"/>
              </a:ext>
            </a:extLst>
          </p:cNvPr>
          <p:cNvSpPr txBox="1"/>
          <p:nvPr/>
        </p:nvSpPr>
        <p:spPr>
          <a:xfrm>
            <a:off x="80438" y="6470134"/>
            <a:ext cx="428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McGarigal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Lecture on Concepts of Scale</a:t>
            </a:r>
          </a:p>
        </p:txBody>
      </p:sp>
    </p:spTree>
    <p:extLst>
      <p:ext uri="{BB962C8B-B14F-4D97-AF65-F5344CB8AC3E}">
        <p14:creationId xmlns:p14="http://schemas.microsoft.com/office/powerpoint/2010/main" val="1618682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272" y="6603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Duality of Geographic and Environmental Spaces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14" r="2208" b="51203"/>
          <a:stretch/>
        </p:blipFill>
        <p:spPr>
          <a:xfrm>
            <a:off x="80438" y="1955765"/>
            <a:ext cx="8860362" cy="40906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38" y="6470134"/>
            <a:ext cx="23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Guisan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et al. 2014 TREE</a:t>
            </a:r>
          </a:p>
        </p:txBody>
      </p:sp>
    </p:spTree>
    <p:extLst>
      <p:ext uri="{BB962C8B-B14F-4D97-AF65-F5344CB8AC3E}">
        <p14:creationId xmlns:p14="http://schemas.microsoft.com/office/powerpoint/2010/main" val="3696264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272" y="6603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Duality of Geographic and Environmental Spaces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14" t="48379" r="2208" b="2824"/>
          <a:stretch/>
        </p:blipFill>
        <p:spPr>
          <a:xfrm>
            <a:off x="80438" y="1955765"/>
            <a:ext cx="8860362" cy="40906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38" y="6470134"/>
            <a:ext cx="23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Guisan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et al. 2014 TREE</a:t>
            </a:r>
          </a:p>
        </p:txBody>
      </p:sp>
    </p:spTree>
    <p:extLst>
      <p:ext uri="{BB962C8B-B14F-4D97-AF65-F5344CB8AC3E}">
        <p14:creationId xmlns:p14="http://schemas.microsoft.com/office/powerpoint/2010/main" val="2005385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for this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Required</a:t>
            </a:r>
          </a:p>
          <a:p>
            <a:pPr lvl="1"/>
            <a:r>
              <a:rPr lang="en-US" sz="2000" dirty="0"/>
              <a:t>Peterson, A.T., </a:t>
            </a:r>
            <a:r>
              <a:rPr lang="en-US" sz="2000" dirty="0" err="1"/>
              <a:t>Soberón</a:t>
            </a:r>
            <a:r>
              <a:rPr lang="en-US" sz="2000" dirty="0"/>
              <a:t>, J., Pearson, R.G., Anderson, R.P., Martínez-Meyer, E., Nakamura, M. and Araújo, M.B., 2011. </a:t>
            </a:r>
            <a:r>
              <a:rPr lang="en-US" sz="2000" i="1" dirty="0"/>
              <a:t>Ecological niches and geographic distributions (MPB-49)</a:t>
            </a:r>
            <a:r>
              <a:rPr lang="en-US" sz="2000" dirty="0"/>
              <a:t> (Vol. 49). Princeton University Press. https://</a:t>
            </a:r>
            <a:r>
              <a:rPr lang="en-US" sz="2000" dirty="0" err="1"/>
              <a:t>www.researchgate.net</a:t>
            </a:r>
            <a:r>
              <a:rPr lang="en-US" sz="2000" dirty="0"/>
              <a:t>/publication/230709994_Ecological_Niches_and_Geographic_Distributions </a:t>
            </a:r>
          </a:p>
          <a:p>
            <a:pPr lvl="1"/>
            <a:r>
              <a:rPr lang="en-US" sz="2000" dirty="0"/>
              <a:t>Lovelace, R., Nowosad, J. and Muenchow, J. 2019. </a:t>
            </a:r>
            <a:r>
              <a:rPr lang="en-US" sz="2000" i="1" dirty="0" err="1"/>
              <a:t>Geocomputation</a:t>
            </a:r>
            <a:r>
              <a:rPr lang="en-US" sz="2000" i="1" dirty="0"/>
              <a:t> with R</a:t>
            </a:r>
            <a:r>
              <a:rPr lang="en-US" sz="2000" dirty="0"/>
              <a:t>. CRC Press. Freely available online: https://</a:t>
            </a:r>
            <a:r>
              <a:rPr lang="en-US" sz="2000" dirty="0" err="1"/>
              <a:t>r.geocompx.org</a:t>
            </a:r>
            <a:r>
              <a:rPr lang="en-US" sz="2000" dirty="0"/>
              <a:t>/ </a:t>
            </a:r>
            <a:endParaRPr lang="en-US" sz="2400" dirty="0"/>
          </a:p>
          <a:p>
            <a:r>
              <a:rPr lang="en-US" sz="2400" dirty="0"/>
              <a:t>Suggested</a:t>
            </a:r>
          </a:p>
          <a:p>
            <a:pPr lvl="1"/>
            <a:r>
              <a:rPr lang="en-US" sz="2100" dirty="0"/>
              <a:t>Franklin, J., 2010. </a:t>
            </a:r>
            <a:r>
              <a:rPr lang="en-US" sz="2100" i="1" dirty="0"/>
              <a:t>Mapping species distributions: spatial inference and prediction</a:t>
            </a:r>
            <a:r>
              <a:rPr lang="en-US" sz="2100" dirty="0"/>
              <a:t>. Cambridge University Press.</a:t>
            </a:r>
          </a:p>
          <a:p>
            <a:pPr lvl="1"/>
            <a:r>
              <a:rPr lang="en-US" sz="2100" dirty="0" err="1"/>
              <a:t>Bivand</a:t>
            </a:r>
            <a:r>
              <a:rPr lang="en-US" sz="2100" dirty="0"/>
              <a:t>, R.S., </a:t>
            </a:r>
            <a:r>
              <a:rPr lang="en-US" sz="2100" dirty="0" err="1"/>
              <a:t>Pebesma</a:t>
            </a:r>
            <a:r>
              <a:rPr lang="en-US" sz="2100" dirty="0"/>
              <a:t>, E.J., Gomez-Rubio, V. and </a:t>
            </a:r>
            <a:r>
              <a:rPr lang="en-US" sz="2100" dirty="0" err="1"/>
              <a:t>Pebesma</a:t>
            </a:r>
            <a:r>
              <a:rPr lang="en-US" sz="2100" dirty="0"/>
              <a:t>, E.J., 2013. </a:t>
            </a:r>
            <a:r>
              <a:rPr lang="en-US" sz="2100" i="1" dirty="0"/>
              <a:t>Applied spatial data analysis with R </a:t>
            </a:r>
            <a:r>
              <a:rPr lang="en-US" sz="2100" dirty="0"/>
              <a:t>(Vol. 2). New York: Springer.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28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Thursday Class Prep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3D6CD4-A470-8022-B92F-76C005443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Ch 1 and 2</a:t>
            </a:r>
          </a:p>
          <a:p>
            <a:r>
              <a:rPr lang="en-US" dirty="0"/>
              <a:t>Install R and </a:t>
            </a:r>
            <a:r>
              <a:rPr lang="en-US" dirty="0" err="1"/>
              <a:t>Rstudio</a:t>
            </a:r>
            <a:r>
              <a:rPr lang="en-US" dirty="0"/>
              <a:t> on your laptop</a:t>
            </a:r>
          </a:p>
          <a:p>
            <a:r>
              <a:rPr lang="en-US" dirty="0"/>
              <a:t>Make a </a:t>
            </a:r>
            <a:r>
              <a:rPr lang="en-US" dirty="0" err="1"/>
              <a:t>Github</a:t>
            </a:r>
            <a:r>
              <a:rPr lang="en-US" dirty="0"/>
              <a:t> account</a:t>
            </a:r>
          </a:p>
          <a:p>
            <a:r>
              <a:rPr lang="en-US" dirty="0"/>
              <a:t>Install </a:t>
            </a:r>
            <a:r>
              <a:rPr lang="en-US" dirty="0" err="1"/>
              <a:t>Github</a:t>
            </a:r>
            <a:r>
              <a:rPr lang="en-US" dirty="0"/>
              <a:t> on your laptop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52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1C40-0FE2-22EC-0D45-992CD2332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B3CC3-B873-87C4-7477-E4255D492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83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7866-1917-9236-49D1-C57F4816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85779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3842513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743F-02A8-E691-718D-B89A4EEA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8A89-3354-763D-83F3-BAD0D092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5523"/>
            <a:ext cx="8229600" cy="332695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determines where a species occurs?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we know where a species occurs, how much can we work backward and infer about its niche?</a:t>
            </a:r>
          </a:p>
        </p:txBody>
      </p:sp>
    </p:spTree>
    <p:extLst>
      <p:ext uri="{BB962C8B-B14F-4D97-AF65-F5344CB8AC3E}">
        <p14:creationId xmlns:p14="http://schemas.microsoft.com/office/powerpoint/2010/main" val="197983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5FC7-E441-2941-4C4A-A49979D4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61" y="1485900"/>
            <a:ext cx="8229600" cy="243750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Let’s Interrogate this Claim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niche is the set of environments where we observe the species.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F53C0-60B3-730A-3A6F-00BCFC311ECA}"/>
              </a:ext>
            </a:extLst>
          </p:cNvPr>
          <p:cNvSpPr txBox="1"/>
          <p:nvPr/>
        </p:nvSpPr>
        <p:spPr>
          <a:xfrm>
            <a:off x="1401430" y="4635054"/>
            <a:ext cx="6511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would have to be true for this statement to be correct?</a:t>
            </a:r>
          </a:p>
        </p:txBody>
      </p:sp>
    </p:spTree>
    <p:extLst>
      <p:ext uri="{BB962C8B-B14F-4D97-AF65-F5344CB8AC3E}">
        <p14:creationId xmlns:p14="http://schemas.microsoft.com/office/powerpoint/2010/main" val="346445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10889</TotalTime>
  <Words>975</Words>
  <Application>Microsoft Macintosh PowerPoint</Application>
  <PresentationFormat>On-screen Show (4:3)</PresentationFormat>
  <Paragraphs>110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Office Theme</vt:lpstr>
      <vt:lpstr>the niche and species’  geographic distributions</vt:lpstr>
      <vt:lpstr>PowerPoint Presentation</vt:lpstr>
      <vt:lpstr>Welcome and Introductions</vt:lpstr>
      <vt:lpstr>On paper or on your computer please write…</vt:lpstr>
      <vt:lpstr>Round Robin Introductions</vt:lpstr>
      <vt:lpstr>18th – 20th Century People and Concepts</vt:lpstr>
      <vt:lpstr>Alexander von Humboldt</vt:lpstr>
      <vt:lpstr>Alexander von Humboldt</vt:lpstr>
      <vt:lpstr>Charles Darwin</vt:lpstr>
      <vt:lpstr>PowerPoint Presentation</vt:lpstr>
      <vt:lpstr>John Edmonstone</vt:lpstr>
      <vt:lpstr>Joseph Grinnell</vt:lpstr>
      <vt:lpstr>Charles Elton</vt:lpstr>
      <vt:lpstr>Evelyn Hutchinson</vt:lpstr>
      <vt:lpstr>The great debates</vt:lpstr>
      <vt:lpstr>What determines where a species occurs?</vt:lpstr>
      <vt:lpstr>PowerPoint Presentation</vt:lpstr>
      <vt:lpstr>Notes on a scale</vt:lpstr>
      <vt:lpstr>A comment on scales</vt:lpstr>
      <vt:lpstr>Duality of Geographic and Environmental Spaces</vt:lpstr>
      <vt:lpstr>Duality of Geographic and Environmental Spaces</vt:lpstr>
      <vt:lpstr>Books for this class</vt:lpstr>
      <vt:lpstr>Thursday Class Prep</vt:lpstr>
      <vt:lpstr>PowerPoint Presentation</vt:lpstr>
      <vt:lpstr>Welcome, Hello, Any Announcements?</vt:lpstr>
      <vt:lpstr>What determines where a species occurs?  If we know where a species occurs, how much can we work backward and infer about its niche?</vt:lpstr>
      <vt:lpstr>Let’s Interrogate this Claim  The niche is the set of environments where we observe the species.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600</cp:revision>
  <dcterms:created xsi:type="dcterms:W3CDTF">2014-08-30T17:37:24Z</dcterms:created>
  <dcterms:modified xsi:type="dcterms:W3CDTF">2026-09-03T22:39:27Z</dcterms:modified>
</cp:coreProperties>
</file>