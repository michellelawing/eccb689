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515" r:id="rId3"/>
    <p:sldId id="540" r:id="rId4"/>
    <p:sldId id="514" r:id="rId5"/>
    <p:sldId id="594" r:id="rId6"/>
    <p:sldId id="655" r:id="rId7"/>
    <p:sldId id="637" r:id="rId8"/>
    <p:sldId id="613" r:id="rId9"/>
    <p:sldId id="640" r:id="rId10"/>
    <p:sldId id="639" r:id="rId11"/>
    <p:sldId id="641" r:id="rId12"/>
    <p:sldId id="642" r:id="rId13"/>
    <p:sldId id="643" r:id="rId14"/>
    <p:sldId id="644" r:id="rId15"/>
    <p:sldId id="645" r:id="rId16"/>
    <p:sldId id="646" r:id="rId17"/>
    <p:sldId id="657" r:id="rId18"/>
    <p:sldId id="659" r:id="rId19"/>
    <p:sldId id="656" r:id="rId20"/>
    <p:sldId id="647" r:id="rId21"/>
    <p:sldId id="658" r:id="rId22"/>
    <p:sldId id="648" r:id="rId23"/>
    <p:sldId id="650" r:id="rId24"/>
    <p:sldId id="649" r:id="rId25"/>
    <p:sldId id="651" r:id="rId26"/>
    <p:sldId id="652" r:id="rId27"/>
    <p:sldId id="661" r:id="rId28"/>
    <p:sldId id="653" r:id="rId29"/>
    <p:sldId id="662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40"/>
            <p14:sldId id="514"/>
            <p14:sldId id="594"/>
            <p14:sldId id="655"/>
            <p14:sldId id="637"/>
            <p14:sldId id="613"/>
            <p14:sldId id="640"/>
            <p14:sldId id="639"/>
            <p14:sldId id="641"/>
            <p14:sldId id="642"/>
            <p14:sldId id="643"/>
            <p14:sldId id="644"/>
            <p14:sldId id="645"/>
            <p14:sldId id="646"/>
            <p14:sldId id="657"/>
            <p14:sldId id="659"/>
            <p14:sldId id="656"/>
            <p14:sldId id="647"/>
            <p14:sldId id="658"/>
            <p14:sldId id="648"/>
            <p14:sldId id="650"/>
            <p14:sldId id="649"/>
            <p14:sldId id="651"/>
            <p14:sldId id="652"/>
            <p14:sldId id="661"/>
            <p14:sldId id="653"/>
            <p14:sldId id="6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589"/>
  </p:normalViewPr>
  <p:slideViewPr>
    <p:cSldViewPr snapToGrid="0" snapToObjects="1">
      <p:cViewPr varScale="1">
        <p:scale>
          <a:sx n="134" d="100"/>
          <a:sy n="134" d="100"/>
        </p:scale>
        <p:origin x="184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7204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292"/>
            <a:ext cx="8229600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68856" y="69057"/>
            <a:ext cx="236892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7" y="69057"/>
            <a:ext cx="373589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sz="1100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4589" y="1469231"/>
            <a:ext cx="7158247" cy="1102519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Week 7. Modeling Ecological Niches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8812" y="2826129"/>
            <a:ext cx="2326373" cy="1001825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87" y="1979975"/>
            <a:ext cx="5495026" cy="857250"/>
          </a:xfrm>
        </p:spPr>
        <p:txBody>
          <a:bodyPr>
            <a:normAutofit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29E7-D049-043B-4B15-5DABF32E1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57" y="272864"/>
            <a:ext cx="8229600" cy="857250"/>
          </a:xfrm>
        </p:spPr>
        <p:txBody>
          <a:bodyPr/>
          <a:lstStyle/>
          <a:p>
            <a:r>
              <a:rPr lang="en-US" dirty="0"/>
              <a:t>Project Milestones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3541F-8F94-C67C-3731-7CA5648C4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976395"/>
              </p:ext>
            </p:extLst>
          </p:nvPr>
        </p:nvGraphicFramePr>
        <p:xfrm>
          <a:off x="1454356" y="1062036"/>
          <a:ext cx="5944607" cy="3362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408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Sept.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Project 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19677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Data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570057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Modeling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Nov.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Preliminary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199924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Dec. 1 (optional)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Full final draft due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244458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strike="noStrike" dirty="0"/>
                        <a:t>Dec. 10 1-3 pm (finals slot)</a:t>
                      </a:r>
                      <a:endParaRPr lang="en-US" sz="2000" strike="sngStrik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838770"/>
                  </a:ext>
                </a:extLst>
              </a:tr>
              <a:tr h="563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Dec.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Final 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81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322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 Lecture over Peterson et al. Chapter 7</a:t>
            </a:r>
          </a:p>
          <a:p>
            <a:r>
              <a:rPr lang="en-US" dirty="0"/>
              <a:t>Data Plan and Lab 04 review (Thursday or Tuesday)</a:t>
            </a:r>
          </a:p>
          <a:p>
            <a:r>
              <a:rPr lang="en-US" dirty="0"/>
              <a:t>Lab 05 will roll out next week, due that Friday</a:t>
            </a:r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8247-9B04-F072-6FFF-EE6C7A95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Ecological Niches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0F5D9-8804-001D-534F-80CD717A5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4444584" cy="326533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Niche modeling uses occurrence records and environmental data to estimate relationships between species and environments.</a:t>
            </a:r>
          </a:p>
          <a:p>
            <a:pPr lvl="0"/>
            <a:endParaRPr lang="en-US" dirty="0"/>
          </a:p>
          <a:p>
            <a:r>
              <a:rPr lang="en-US" dirty="0"/>
              <a:t>That function (relationship) is estimated in E-space and can then be projected back into G-space.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FEE2A608-77DA-2DFF-E240-84F6CF24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5" t="1130" r="52639" b="67509"/>
          <a:stretch>
            <a:fillRect/>
          </a:stretch>
        </p:blipFill>
        <p:spPr>
          <a:xfrm>
            <a:off x="5135189" y="1209370"/>
            <a:ext cx="3318206" cy="308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1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07BC-F45D-EB1A-13DC-3B3FE1BA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C61111-8C69-7425-C1FB-21B6B60FF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7088" r="51722"/>
          <a:stretch>
            <a:fillRect/>
          </a:stretch>
        </p:blipFill>
        <p:spPr>
          <a:xfrm>
            <a:off x="5738285" y="472041"/>
            <a:ext cx="2738743" cy="2509517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AD73A5DF-150B-C4C9-61C5-CC9F08556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662"/>
          <a:stretch>
            <a:fillRect/>
          </a:stretch>
        </p:blipFill>
        <p:spPr>
          <a:xfrm>
            <a:off x="824845" y="472041"/>
            <a:ext cx="5063340" cy="4582792"/>
          </a:xfrm>
          <a:prstGeom prst="rect">
            <a:avLst/>
          </a:prstGeo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2BAEE0E2-C604-B129-81B0-9C288C52B1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27" t="67088"/>
          <a:stretch>
            <a:fillRect/>
          </a:stretch>
        </p:blipFill>
        <p:spPr>
          <a:xfrm>
            <a:off x="5639262" y="2571750"/>
            <a:ext cx="2854036" cy="2243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914B82-8C25-EEA0-E50B-8D9ABFF30B8D}"/>
              </a:ext>
            </a:extLst>
          </p:cNvPr>
          <p:cNvSpPr txBox="1"/>
          <p:nvPr/>
        </p:nvSpPr>
        <p:spPr>
          <a:xfrm>
            <a:off x="2195222" y="2012323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BIOCLIM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069A6-9668-1F9A-6D34-765226F2F5D0}"/>
              </a:ext>
            </a:extLst>
          </p:cNvPr>
          <p:cNvSpPr txBox="1"/>
          <p:nvPr/>
        </p:nvSpPr>
        <p:spPr>
          <a:xfrm>
            <a:off x="4872362" y="2020293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C33E6-E6CB-4FA9-2BD8-1742B5FE1BF5}"/>
              </a:ext>
            </a:extLst>
          </p:cNvPr>
          <p:cNvSpPr txBox="1"/>
          <p:nvPr/>
        </p:nvSpPr>
        <p:spPr>
          <a:xfrm>
            <a:off x="2419642" y="2981558"/>
            <a:ext cx="785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GLM, </a:t>
            </a:r>
          </a:p>
          <a:p>
            <a:r>
              <a:rPr lang="en-US" b="1" dirty="0">
                <a:solidFill>
                  <a:srgbClr val="C00000"/>
                </a:solidFill>
              </a:rPr>
              <a:t>GAM, </a:t>
            </a:r>
          </a:p>
          <a:p>
            <a:r>
              <a:rPr lang="en-US" b="1" dirty="0">
                <a:solidFill>
                  <a:srgbClr val="C00000"/>
                </a:solidFill>
              </a:rPr>
              <a:t>MARS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138534-244E-5BE2-D4FA-93D4040DB10A}"/>
              </a:ext>
            </a:extLst>
          </p:cNvPr>
          <p:cNvSpPr txBox="1"/>
          <p:nvPr/>
        </p:nvSpPr>
        <p:spPr>
          <a:xfrm>
            <a:off x="3371780" y="4348542"/>
            <a:ext cx="1487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Classification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tree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60A96-22D6-500B-E521-25C7C4463943}"/>
              </a:ext>
            </a:extLst>
          </p:cNvPr>
          <p:cNvSpPr txBox="1"/>
          <p:nvPr/>
        </p:nvSpPr>
        <p:spPr>
          <a:xfrm>
            <a:off x="7274188" y="1743294"/>
            <a:ext cx="1708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Artificial neural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2FB017-C46E-72DA-D130-B861E5C349FA}"/>
              </a:ext>
            </a:extLst>
          </p:cNvPr>
          <p:cNvSpPr txBox="1"/>
          <p:nvPr/>
        </p:nvSpPr>
        <p:spPr>
          <a:xfrm>
            <a:off x="7354466" y="2981558"/>
            <a:ext cx="1742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Ecological niche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factor analysis</a:t>
            </a:r>
          </a:p>
        </p:txBody>
      </p:sp>
    </p:spTree>
    <p:extLst>
      <p:ext uri="{BB962C8B-B14F-4D97-AF65-F5344CB8AC3E}">
        <p14:creationId xmlns:p14="http://schemas.microsoft.com/office/powerpoint/2010/main" val="174549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7FBA-9D4F-5635-3D8E-80A0EA55C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20FA-55D9-6876-9B06-E1B6CD7E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36559-616C-CEFE-A180-2CBE4F3A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Most people get lost in choosing an algorithm, but really we need to focus on what we want to estimate and why.</a:t>
            </a:r>
          </a:p>
          <a:p>
            <a:pPr lvl="0"/>
            <a:r>
              <a:rPr lang="en-US" dirty="0"/>
              <a:t>Ask is the goal prediction or explanation or both? That will help you determine which choices work best for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199073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AC85-BE5F-9415-212D-685426310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3635"/>
            <a:ext cx="5040041" cy="857250"/>
          </a:xfrm>
        </p:spPr>
        <p:txBody>
          <a:bodyPr>
            <a:noAutofit/>
          </a:bodyPr>
          <a:lstStyle/>
          <a:p>
            <a:r>
              <a:rPr lang="en-US" dirty="0"/>
              <a:t>What do you want to estimate?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0834-C4A0-9119-8FAD-6E3404B75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885"/>
            <a:ext cx="8286750" cy="264479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“Probability of occurrence” and “habitat suitability” are not interchangeable.</a:t>
            </a:r>
          </a:p>
          <a:p>
            <a:pPr lvl="0"/>
            <a:r>
              <a:rPr lang="en-US" dirty="0"/>
              <a:t>Different data and algorithms estimate different quantities.</a:t>
            </a:r>
          </a:p>
          <a:p>
            <a:pPr lvl="0"/>
            <a:r>
              <a:rPr lang="en-US" dirty="0"/>
              <a:t>A model may estimate:</a:t>
            </a:r>
          </a:p>
          <a:p>
            <a:pPr lvl="1"/>
            <a:r>
              <a:rPr lang="en-US" dirty="0"/>
              <a:t>Probability of occurrence at a site</a:t>
            </a:r>
          </a:p>
          <a:p>
            <a:pPr lvl="1"/>
            <a:r>
              <a:rPr lang="en-US" dirty="0"/>
              <a:t>Relative environmental suitability</a:t>
            </a:r>
          </a:p>
          <a:p>
            <a:pPr lvl="1"/>
            <a:r>
              <a:rPr lang="en-US" dirty="0"/>
              <a:t>Environmental similarity to known occurrences</a:t>
            </a:r>
          </a:p>
          <a:p>
            <a:pPr lvl="1"/>
            <a:r>
              <a:rPr lang="en-US" dirty="0"/>
              <a:t>Membership in a predicted suitable set</a:t>
            </a:r>
          </a:p>
          <a:p>
            <a:pPr lvl="0"/>
            <a:r>
              <a:rPr lang="en-US" dirty="0"/>
              <a:t>Interpretation must match the data, algorithm, and study region.</a:t>
            </a:r>
          </a:p>
        </p:txBody>
      </p:sp>
    </p:spTree>
    <p:extLst>
      <p:ext uri="{BB962C8B-B14F-4D97-AF65-F5344CB8AC3E}">
        <p14:creationId xmlns:p14="http://schemas.microsoft.com/office/powerpoint/2010/main" val="325931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9E4F0-77E6-C411-C629-E9324DDC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1FDC-3734-D4F9-ECA5-69A433A9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you trying to model: niche or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AE1C6-099C-A8F5-BFFA-29A431673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3981011" cy="3265331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Ecological niche modeling focuses on environmental conditions associated with persistence.</a:t>
            </a:r>
          </a:p>
          <a:p>
            <a:pPr lvl="0"/>
            <a:r>
              <a:rPr lang="en-US" dirty="0"/>
              <a:t>Species distribution modeling additionally accounts for accessibility, dispersal limitation, and biotic interactions.</a:t>
            </a:r>
          </a:p>
          <a:p>
            <a:pPr lvl="0"/>
            <a:r>
              <a:rPr lang="en-US" dirty="0"/>
              <a:t>A map of predicted suitability is not the species distribution.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CB7B8-25FC-6F2A-DF90-FDB878F05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2" r="1258"/>
          <a:stretch>
            <a:fillRect/>
          </a:stretch>
        </p:blipFill>
        <p:spPr>
          <a:xfrm>
            <a:off x="4705789" y="1221288"/>
            <a:ext cx="3930907" cy="337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9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BF6D6-6EC2-1B2D-9084-E96AC13C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A7BA-2ED8-F87B-7AFF-D5665A30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algorithm is one of many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FEE0E-7835-27E8-01E1-1532E3025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A modeling algorithm estimates a relationship between occurrences and environmental predictors.</a:t>
            </a:r>
          </a:p>
          <a:p>
            <a:pPr lvl="0"/>
            <a:r>
              <a:rPr lang="en-US" dirty="0"/>
              <a:t>Important decisions occur before and after running the algorithm:</a:t>
            </a:r>
          </a:p>
          <a:p>
            <a:pPr lvl="1"/>
            <a:r>
              <a:rPr lang="en-US" dirty="0"/>
              <a:t>What region represents M?</a:t>
            </a:r>
          </a:p>
          <a:p>
            <a:pPr lvl="1"/>
            <a:r>
              <a:rPr lang="en-US" dirty="0"/>
              <a:t>Which environmental variables are biologically meaningful?</a:t>
            </a:r>
          </a:p>
          <a:p>
            <a:pPr lvl="1"/>
            <a:r>
              <a:rPr lang="en-US" dirty="0"/>
              <a:t>What occurrence data are reliable?</a:t>
            </a:r>
          </a:p>
          <a:p>
            <a:pPr lvl="1"/>
            <a:r>
              <a:rPr lang="en-US" dirty="0"/>
              <a:t>How will the model be calibrated?</a:t>
            </a:r>
          </a:p>
          <a:p>
            <a:pPr lvl="1"/>
            <a:r>
              <a:rPr lang="en-US" dirty="0"/>
              <a:t>How will continuous predictions be interpreted or </a:t>
            </a:r>
            <a:r>
              <a:rPr lang="en-US" dirty="0" err="1"/>
              <a:t>thresholded</a:t>
            </a:r>
            <a:r>
              <a:rPr lang="en-US" dirty="0"/>
              <a:t>?</a:t>
            </a:r>
          </a:p>
          <a:p>
            <a:pPr lvl="0"/>
            <a:r>
              <a:rPr lang="en-US" dirty="0"/>
              <a:t>A sophisticated algorithm cannot rescue weak choices in your workflow.</a:t>
            </a:r>
          </a:p>
        </p:txBody>
      </p:sp>
    </p:spTree>
    <p:extLst>
      <p:ext uri="{BB962C8B-B14F-4D97-AF65-F5344CB8AC3E}">
        <p14:creationId xmlns:p14="http://schemas.microsoft.com/office/powerpoint/2010/main" val="424709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CEF3-2D6E-0E60-4414-22A751BC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types based on occurrence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25BA7-F705-4AFE-0946-6FEEA0D27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Presence-only methods use occurrence locations without comparison locations.</a:t>
            </a:r>
          </a:p>
          <a:p>
            <a:pPr lvl="0"/>
            <a:r>
              <a:rPr lang="en-US" dirty="0"/>
              <a:t>Presence–absence methods contrast known presences with credible absences.</a:t>
            </a:r>
          </a:p>
          <a:p>
            <a:pPr lvl="0"/>
            <a:r>
              <a:rPr lang="en-US" dirty="0"/>
              <a:t>Presence–background methods compare occurrence environments with environments available across the study region.</a:t>
            </a:r>
          </a:p>
          <a:p>
            <a:pPr lvl="0"/>
            <a:r>
              <a:rPr lang="en-US" dirty="0"/>
              <a:t>Presence–pseudoabsence methods compare presences with sampled locations where the species has not been recorded.</a:t>
            </a:r>
          </a:p>
          <a:p>
            <a:pPr lvl="0"/>
            <a:r>
              <a:rPr lang="en-US" dirty="0"/>
              <a:t>“Background” and “pseudoabsence” points are not confirmed absences.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3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76DF-F718-B7B7-68BE-B842F4CC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Families of modeling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9373D-7D85-0967-3716-6F28BD7DE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Envelope and profile methods define environmental conditions similar to observed occurrences.</a:t>
            </a:r>
          </a:p>
          <a:p>
            <a:pPr lvl="0"/>
            <a:r>
              <a:rPr lang="en-US" dirty="0"/>
              <a:t>Regression methods estimate relationships between occurrence and predictor variables.</a:t>
            </a:r>
          </a:p>
          <a:p>
            <a:pPr lvl="0"/>
            <a:r>
              <a:rPr lang="en-US" dirty="0"/>
              <a:t>Classification trees and machine-learning methods can fit complex responses and interactions.</a:t>
            </a:r>
          </a:p>
          <a:p>
            <a:pPr lvl="0"/>
            <a:r>
              <a:rPr lang="en-US" dirty="0"/>
              <a:t>Maxent uses presence records and environmental background to estimate a relative distribution of suitable conditions.</a:t>
            </a:r>
          </a:p>
          <a:p>
            <a:pPr lvl="0"/>
            <a:r>
              <a:rPr lang="en-US" dirty="0"/>
              <a:t>Method choice should follow the question, data type, assumptions, and desired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55771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FE7E-00B3-B1AB-BDE2-3DE199B8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FD12-4735-1AC4-FF45-322E1298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Calibration adjusts model settings so predictions fit observations without becoming overly specific.</a:t>
            </a:r>
          </a:p>
          <a:p>
            <a:pPr lvl="0"/>
            <a:r>
              <a:rPr lang="en-US" dirty="0"/>
              <a:t>Default software settings are starting points, not your necessary scientific justification.</a:t>
            </a:r>
          </a:p>
          <a:p>
            <a:pPr lvl="0"/>
            <a:r>
              <a:rPr lang="en-US" dirty="0"/>
              <a:t>Calibration commonly involves:</a:t>
            </a:r>
          </a:p>
          <a:p>
            <a:pPr lvl="1"/>
            <a:r>
              <a:rPr lang="en-US" dirty="0"/>
              <a:t>Data splitting</a:t>
            </a:r>
          </a:p>
          <a:p>
            <a:pPr lvl="1"/>
            <a:r>
              <a:rPr lang="en-US" dirty="0"/>
              <a:t>Tuning model complexity</a:t>
            </a:r>
          </a:p>
          <a:p>
            <a:pPr lvl="1"/>
            <a:r>
              <a:rPr lang="en-US" dirty="0"/>
              <a:t>Variable selection</a:t>
            </a:r>
          </a:p>
          <a:p>
            <a:pPr lvl="1"/>
            <a:r>
              <a:rPr lang="en-US" dirty="0"/>
              <a:t>Threshold selection</a:t>
            </a:r>
          </a:p>
          <a:p>
            <a:pPr lvl="0"/>
            <a:r>
              <a:rPr lang="en-US" dirty="0"/>
              <a:t>Internal held-out data can help detect overfitting, but cannot remove biases shared by all records.</a:t>
            </a:r>
          </a:p>
        </p:txBody>
      </p:sp>
    </p:spTree>
    <p:extLst>
      <p:ext uri="{BB962C8B-B14F-4D97-AF65-F5344CB8AC3E}">
        <p14:creationId xmlns:p14="http://schemas.microsoft.com/office/powerpoint/2010/main" val="77794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A92F-601A-A8A8-D9B0-503B42C18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41"/>
            <a:ext cx="4454643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complexity and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B560A-FA35-9BE5-FC14-B99731232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4307840" cy="326533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Simple models may miss real ecological responses and predict overly broad suitable areas.</a:t>
            </a:r>
          </a:p>
          <a:p>
            <a:pPr lvl="0"/>
            <a:r>
              <a:rPr lang="en-US" dirty="0"/>
              <a:t>Highly complex models can fit known occurrences extremely closely.</a:t>
            </a:r>
          </a:p>
          <a:p>
            <a:pPr lvl="0"/>
            <a:r>
              <a:rPr lang="en-US" dirty="0"/>
              <a:t>Overfitting occurs when a model performs well on training data but poorly on new data.</a:t>
            </a:r>
          </a:p>
          <a:p>
            <a:pPr lvl="0"/>
            <a:r>
              <a:rPr lang="en-US" dirty="0"/>
              <a:t>The goal is an intermediate level of complexity that generalizes beyond the calibration records.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25484-DF14-DCE6-E6BE-2B716026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843" y="567528"/>
            <a:ext cx="3774957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6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E6409-C72A-0CC0-E119-4AE69769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of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9CBE-1307-3410-7555-C931F346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predictors</a:t>
            </a:r>
          </a:p>
          <a:p>
            <a:r>
              <a:rPr lang="en-US" dirty="0"/>
              <a:t>More flexible response curves</a:t>
            </a:r>
          </a:p>
          <a:p>
            <a:r>
              <a:rPr lang="en-US" dirty="0"/>
              <a:t>Few occurrence records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1E014-B9D3-0FAE-B35C-7BE6FDBBC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843" y="567528"/>
            <a:ext cx="3774957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93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145A-7B43-F3BF-8490-4057DABB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environmental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6844-9F7D-01FB-A0C3-DC0700697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Begin with ecological reasoning: which variables could limit the species?</a:t>
            </a:r>
          </a:p>
          <a:p>
            <a:pPr lvl="0"/>
            <a:r>
              <a:rPr lang="en-US" dirty="0"/>
              <a:t>More variables do not necessarily produce a better model.</a:t>
            </a:r>
          </a:p>
          <a:p>
            <a:pPr lvl="0"/>
            <a:r>
              <a:rPr lang="en-US" dirty="0"/>
              <a:t>Correlated predictors obscure interpretation of variable importance.</a:t>
            </a:r>
          </a:p>
          <a:p>
            <a:pPr lvl="0"/>
            <a:r>
              <a:rPr lang="en-US" dirty="0"/>
              <a:t>Fewer, biologically defensible predictors improve interpretability and reduce overfitting.</a:t>
            </a:r>
          </a:p>
          <a:p>
            <a:pPr lvl="0"/>
            <a:r>
              <a:rPr lang="en-US" dirty="0"/>
              <a:t>Variable importance depends on the other predictors included in the model.</a:t>
            </a:r>
          </a:p>
        </p:txBody>
      </p:sp>
    </p:spTree>
    <p:extLst>
      <p:ext uri="{BB962C8B-B14F-4D97-AF65-F5344CB8AC3E}">
        <p14:creationId xmlns:p14="http://schemas.microsoft.com/office/powerpoint/2010/main" val="413945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E3A9-6343-2E76-1C6F-5C1ECF5C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Jackknifing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344A3-339E-4F42-DCC4-595932DA0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evaluate the contribution of environmental predictors</a:t>
            </a:r>
          </a:p>
          <a:p>
            <a:r>
              <a:rPr lang="en-US" dirty="0"/>
              <a:t>Build a series of models in which each predictor is:</a:t>
            </a:r>
          </a:p>
          <a:p>
            <a:pPr lvl="1"/>
            <a:r>
              <a:rPr lang="en-US" dirty="0"/>
              <a:t>used by itself</a:t>
            </a:r>
          </a:p>
          <a:p>
            <a:pPr lvl="1"/>
            <a:r>
              <a:rPr lang="en-US" dirty="0"/>
              <a:t>left out while all other predictors are retained</a:t>
            </a:r>
          </a:p>
          <a:p>
            <a:pPr lvl="1"/>
            <a:r>
              <a:rPr lang="en-US" dirty="0"/>
              <a:t>compared with the model containing all predictors</a:t>
            </a:r>
          </a:p>
          <a:p>
            <a:r>
              <a:rPr lang="en-US" dirty="0"/>
              <a:t>So it helps to answer: What does this predictor contribute on its own, and what unique information is lost when I remove it?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1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3074-D8DC-097B-D674-B8C40E01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predictor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A5680-C078-5C8F-3249-3F9B8CE4E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predictor may be particularly informative when:</a:t>
            </a:r>
          </a:p>
          <a:p>
            <a:pPr lvl="1"/>
            <a:r>
              <a:rPr lang="en-US" dirty="0"/>
              <a:t>the model performs well using that variable alone, and</a:t>
            </a:r>
          </a:p>
          <a:p>
            <a:pPr lvl="1"/>
            <a:r>
              <a:rPr lang="en-US" dirty="0"/>
              <a:t>model performance drops substantially when that variable is omitted.</a:t>
            </a:r>
          </a:p>
          <a:p>
            <a:r>
              <a:rPr lang="en-US" dirty="0"/>
              <a:t>Jackknifing can help with model calibration, but it should not replace biological reasoning.</a:t>
            </a:r>
          </a:p>
          <a:p>
            <a:r>
              <a:rPr lang="en-US" dirty="0"/>
              <a:t>Use it alongside questions such as:</a:t>
            </a:r>
          </a:p>
          <a:p>
            <a:pPr lvl="1"/>
            <a:r>
              <a:rPr lang="en-US" dirty="0"/>
              <a:t>Is the predictor biologically meaningful?</a:t>
            </a:r>
          </a:p>
          <a:p>
            <a:pPr lvl="1"/>
            <a:r>
              <a:rPr lang="en-US" dirty="0"/>
              <a:t>Is it direct, indirect, or resource-related?</a:t>
            </a:r>
          </a:p>
          <a:p>
            <a:pPr lvl="1"/>
            <a:r>
              <a:rPr lang="en-US" dirty="0"/>
              <a:t>Is it redundant with another predictor?</a:t>
            </a:r>
          </a:p>
          <a:p>
            <a:pPr lvl="1"/>
            <a:r>
              <a:rPr lang="en-US" dirty="0"/>
              <a:t>Does its apparent importance depend on the study region?</a:t>
            </a:r>
          </a:p>
          <a:p>
            <a:pPr lvl="1"/>
            <a:r>
              <a:rPr lang="en-US" dirty="0"/>
              <a:t>Will the relationship make sense when the model is transferred?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43BCA9-A259-2E00-B0D9-FDECD2AC2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124749" y="-1193702"/>
            <a:ext cx="4639672" cy="79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13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2560-E7B2-9295-1DD6-CB883D18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656C-7250-C8E7-199B-8C4ADE336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Many models produce continuous suitability values rather than presence–absence predictions.</a:t>
            </a:r>
          </a:p>
          <a:p>
            <a:pPr lvl="0"/>
            <a:r>
              <a:rPr lang="en-US" dirty="0"/>
              <a:t>A threshold converts continuous output into a binary map of “suitable” and “unsuitable.”</a:t>
            </a:r>
          </a:p>
          <a:p>
            <a:pPr lvl="0"/>
            <a:r>
              <a:rPr lang="en-US" dirty="0"/>
              <a:t>Higher thresholds produce smaller, more restrictive predicted areas.</a:t>
            </a:r>
          </a:p>
          <a:p>
            <a:pPr lvl="0"/>
            <a:r>
              <a:rPr lang="en-US" dirty="0"/>
              <a:t>Lower thresholds produce broader predicted areas and reduce omission of potential habitat.</a:t>
            </a:r>
          </a:p>
          <a:p>
            <a:pPr lvl="0"/>
            <a:r>
              <a:rPr lang="en-US" dirty="0"/>
              <a:t>Choose thresholds based on the application and the relative cost of omission versus commission errors.</a:t>
            </a:r>
          </a:p>
          <a:p>
            <a:pPr lvl="0"/>
            <a:r>
              <a:rPr lang="en-US" dirty="0"/>
              <a:t>Avoid using a default threshold such as 0.5 without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28977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F4C07-8685-8511-5CC3-4C7175A77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273" y="304801"/>
            <a:ext cx="4515496" cy="468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76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6C45-8A9B-4B60-3A9F-66C656E3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52F26-D5AE-B997-7EE6-23EDB39D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For background, pseudoabsence, and absence-based models, the calibration region approximates M.</a:t>
            </a:r>
          </a:p>
          <a:p>
            <a:pPr lvl="0"/>
            <a:r>
              <a:rPr lang="en-US" dirty="0"/>
              <a:t>The assumption is that areas outside M lack the species because of dispersal barriers or history, not unsuitable environment.</a:t>
            </a:r>
          </a:p>
          <a:p>
            <a:pPr lvl="0"/>
            <a:r>
              <a:rPr lang="en-US" dirty="0"/>
              <a:t>Treating those outside M areas as unsuitable can create misleading model relationships.</a:t>
            </a:r>
          </a:p>
          <a:p>
            <a:pPr lvl="0"/>
            <a:r>
              <a:rPr lang="en-US" dirty="0"/>
              <a:t>The accessible area is therefore a biological hypothesis that affects model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39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4A07-D4AC-B147-64E8-974C1EEE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BAF6-E527-B834-E57A-1BC09E11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D8C2-8800-A669-BF8D-F4DBC89DE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3885410" cy="3265331"/>
          </a:xfrm>
        </p:spPr>
        <p:txBody>
          <a:bodyPr/>
          <a:lstStyle/>
          <a:p>
            <a:pPr lvl="0"/>
            <a:r>
              <a:rPr lang="en-US" dirty="0"/>
              <a:t>Extrapolation occurs when a model predicts into environmental conditions not represented during calibration.</a:t>
            </a:r>
          </a:p>
          <a:p>
            <a:pPr lvl="0"/>
            <a:r>
              <a:rPr lang="en-US" dirty="0"/>
              <a:t>Predictions under novel climates or in a new geographic region may require extrapolation.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0A44-A3D9-D12D-EE91-5FDBA2C2C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3600"/>
            <a:ext cx="3885410" cy="41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7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A1EC-57E7-034F-4EA7-84D1734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5E5DF-7233-CA20-C8DD-1D5B7E050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Transferability means applying a model to another place or time.</a:t>
            </a:r>
          </a:p>
          <a:p>
            <a:pPr lvl="0"/>
            <a:r>
              <a:rPr lang="en-US" dirty="0"/>
              <a:t>Transferability is more credible when the model avoids overfitting and the new area contains familiar environmental conditions.</a:t>
            </a:r>
          </a:p>
          <a:p>
            <a:pPr lvl="0"/>
            <a:r>
              <a:rPr lang="en-US" dirty="0"/>
              <a:t>Predictions in novel environmental space deserve explicit caution.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26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D8CD-DD42-0572-10B9-BD83513D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“best”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0CE3-7F92-2C3A-F0B9-B82767D58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Different methods can produce very different predictions from the same data.</a:t>
            </a:r>
          </a:p>
          <a:p>
            <a:pPr lvl="0"/>
            <a:r>
              <a:rPr lang="en-US" dirty="0"/>
              <a:t>No algorithm is universally best.</a:t>
            </a:r>
          </a:p>
          <a:p>
            <a:pPr lvl="0"/>
            <a:r>
              <a:rPr lang="en-US" dirty="0"/>
              <a:t>Model comparisons depend on:</a:t>
            </a:r>
          </a:p>
          <a:p>
            <a:pPr lvl="1"/>
            <a:r>
              <a:rPr lang="en-US" dirty="0"/>
              <a:t>The ecological question</a:t>
            </a:r>
          </a:p>
          <a:p>
            <a:pPr lvl="1"/>
            <a:r>
              <a:rPr lang="en-US" dirty="0"/>
              <a:t>The occurrence data available</a:t>
            </a:r>
          </a:p>
          <a:p>
            <a:pPr lvl="1"/>
            <a:r>
              <a:rPr lang="en-US" dirty="0"/>
              <a:t>The calibration region</a:t>
            </a:r>
          </a:p>
          <a:p>
            <a:pPr lvl="1"/>
            <a:r>
              <a:rPr lang="en-US" dirty="0"/>
              <a:t>The evaluation method</a:t>
            </a:r>
          </a:p>
          <a:p>
            <a:pPr lvl="1"/>
            <a:r>
              <a:rPr lang="en-US" dirty="0"/>
              <a:t>The consequences of error</a:t>
            </a:r>
          </a:p>
          <a:p>
            <a:pPr lvl="0"/>
            <a:r>
              <a:rPr lang="en-US" dirty="0"/>
              <a:t>A model should be judged against the purpose of the analysis.</a:t>
            </a:r>
          </a:p>
          <a:p>
            <a:pPr lvl="0"/>
            <a:r>
              <a:rPr lang="en-US" dirty="0"/>
              <a:t>Performance metrics help, but only if they are aligned with the purpose of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95705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90D7-E438-95FB-6231-B9AB6306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Characterizing niches in environmental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BA8DD-8ECE-81A6-BE6F-9B162F7ED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4512311" cy="326533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Estimated niches occupy a subset of multidimensional environmental space.</a:t>
            </a:r>
          </a:p>
          <a:p>
            <a:pPr lvl="0"/>
            <a:r>
              <a:rPr lang="en-US" dirty="0"/>
              <a:t>Niche comparisons can consider</a:t>
            </a:r>
          </a:p>
          <a:p>
            <a:pPr lvl="1"/>
            <a:r>
              <a:rPr lang="en-US" dirty="0"/>
              <a:t>Position: where the niche is located or centered</a:t>
            </a:r>
          </a:p>
          <a:p>
            <a:pPr lvl="1"/>
            <a:r>
              <a:rPr lang="en-US" dirty="0"/>
              <a:t>Size: how much environmental space it occupies</a:t>
            </a:r>
          </a:p>
          <a:p>
            <a:pPr lvl="1"/>
            <a:r>
              <a:rPr lang="en-US" dirty="0"/>
              <a:t>Shape: how environmental conditions are combined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A2D8-BFBA-A96A-FFBC-CB3C1AD90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511" y="1107440"/>
            <a:ext cx="3957705" cy="396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1BFC-5E3C-DC53-200B-F0F68458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D5305-3675-7EBF-8C6D-2F05D348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Characterizing niches in environmental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C4AC-D427-0A11-45B2-389ACFFB8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9292"/>
            <a:ext cx="4512311" cy="326533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Standardization and dimension reduction can help visualize complex environmental spaces.</a:t>
            </a:r>
          </a:p>
          <a:p>
            <a:pPr lvl="0"/>
            <a:r>
              <a:rPr lang="en-US" dirty="0"/>
              <a:t>Interpretation remains relative to the environmental conditions available within 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D19AA-6E4E-6538-C6B4-087DFC7C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684" y="1217530"/>
            <a:ext cx="4119675" cy="381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2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E1C-9602-0826-4E47-B41A31E5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7 take-home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EF0A-3F79-CB6B-9299-26D126C97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niche model is a set of linked scientific decisions.</a:t>
            </a:r>
          </a:p>
          <a:p>
            <a:pPr lvl="0"/>
            <a:r>
              <a:rPr lang="en-US" dirty="0"/>
              <a:t>Define the quantity you want to estimate before choosing an algorithm.</a:t>
            </a:r>
          </a:p>
          <a:p>
            <a:pPr lvl="0"/>
            <a:r>
              <a:rPr lang="en-US" dirty="0"/>
              <a:t>Match occurrence data, environmental predictors, study extent, and calibration choices to the biological question.</a:t>
            </a:r>
          </a:p>
          <a:p>
            <a:pPr lvl="0"/>
            <a:r>
              <a:rPr lang="en-US" dirty="0"/>
              <a:t>Prefer interpretable, biologically justified models over unnecessarily complex ones.</a:t>
            </a:r>
          </a:p>
          <a:p>
            <a:pPr lvl="0"/>
            <a:r>
              <a:rPr lang="en-US" dirty="0"/>
              <a:t>Treat predictions as hypotheses whose meaning depends on their assumptions.</a:t>
            </a:r>
          </a:p>
        </p:txBody>
      </p:sp>
    </p:spTree>
    <p:extLst>
      <p:ext uri="{BB962C8B-B14F-4D97-AF65-F5344CB8AC3E}">
        <p14:creationId xmlns:p14="http://schemas.microsoft.com/office/powerpoint/2010/main" val="320573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9AB7-514C-9A69-0408-3904B851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E832-9740-4FD1-A5C1-CB311E65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uploaded all the term project assignments</a:t>
            </a:r>
          </a:p>
          <a:p>
            <a:r>
              <a:rPr lang="en-US" dirty="0"/>
              <a:t>Read Peterson et al. Chapter 8 by next Tuesday</a:t>
            </a:r>
          </a:p>
        </p:txBody>
      </p:sp>
    </p:spTree>
    <p:extLst>
      <p:ext uri="{BB962C8B-B14F-4D97-AF65-F5344CB8AC3E}">
        <p14:creationId xmlns:p14="http://schemas.microsoft.com/office/powerpoint/2010/main" val="1425039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25072</TotalTime>
  <Words>1345</Words>
  <Application>Microsoft Macintosh PowerPoint</Application>
  <PresentationFormat>On-screen Show (16:9)</PresentationFormat>
  <Paragraphs>171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Week 7. Modeling Ecological Niches</vt:lpstr>
      <vt:lpstr>Welcome, hello, any announcements?</vt:lpstr>
      <vt:lpstr>Project Milestones</vt:lpstr>
      <vt:lpstr>Class Plan</vt:lpstr>
      <vt:lpstr>Modeling Ecological Niches</vt:lpstr>
      <vt:lpstr>PowerPoint Presentation</vt:lpstr>
      <vt:lpstr>Modeling goals</vt:lpstr>
      <vt:lpstr>What do you want to estimate?</vt:lpstr>
      <vt:lpstr>What are you trying to model: niche or distribution?</vt:lpstr>
      <vt:lpstr>The algorithm is one of many decision</vt:lpstr>
      <vt:lpstr>Model types based on occurrence data</vt:lpstr>
      <vt:lpstr>Families of modeling methods</vt:lpstr>
      <vt:lpstr>Model calibration</vt:lpstr>
      <vt:lpstr>Model complexity and overfitting</vt:lpstr>
      <vt:lpstr>Risk of overfitting</vt:lpstr>
      <vt:lpstr>Choosing environmental predictors</vt:lpstr>
      <vt:lpstr>Jackknifing predictors</vt:lpstr>
      <vt:lpstr>Determining predictor importance</vt:lpstr>
      <vt:lpstr>PowerPoint Presentation</vt:lpstr>
      <vt:lpstr>Thresholds</vt:lpstr>
      <vt:lpstr>PowerPoint Presentation</vt:lpstr>
      <vt:lpstr>M matters</vt:lpstr>
      <vt:lpstr>Extrapolation</vt:lpstr>
      <vt:lpstr>Transferability</vt:lpstr>
      <vt:lpstr>Is there a “best” algorithm?</vt:lpstr>
      <vt:lpstr>Characterizing niches in environmental space</vt:lpstr>
      <vt:lpstr>Characterizing niches in environmental space</vt:lpstr>
      <vt:lpstr>Chapter 7 take-home message</vt:lpstr>
      <vt:lpstr>Updates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1058</cp:revision>
  <dcterms:created xsi:type="dcterms:W3CDTF">2014-08-30T17:37:24Z</dcterms:created>
  <dcterms:modified xsi:type="dcterms:W3CDTF">2026-10-08T19:44:29Z</dcterms:modified>
</cp:coreProperties>
</file>