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515" r:id="rId3"/>
    <p:sldId id="514" r:id="rId4"/>
    <p:sldId id="539" r:id="rId5"/>
    <p:sldId id="540" r:id="rId6"/>
    <p:sldId id="541" r:id="rId7"/>
    <p:sldId id="542" r:id="rId8"/>
    <p:sldId id="543" r:id="rId9"/>
    <p:sldId id="544" r:id="rId10"/>
    <p:sldId id="546" r:id="rId11"/>
    <p:sldId id="545" r:id="rId12"/>
    <p:sldId id="538" r:id="rId13"/>
    <p:sldId id="524" r:id="rId14"/>
    <p:sldId id="518" r:id="rId15"/>
    <p:sldId id="547" r:id="rId16"/>
    <p:sldId id="519" r:id="rId17"/>
    <p:sldId id="520" r:id="rId18"/>
    <p:sldId id="521" r:id="rId19"/>
    <p:sldId id="548" r:id="rId20"/>
    <p:sldId id="549" r:id="rId21"/>
    <p:sldId id="550" r:id="rId22"/>
    <p:sldId id="551" r:id="rId23"/>
    <p:sldId id="522" r:id="rId24"/>
    <p:sldId id="516" r:id="rId2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6E93F3-11AD-C848-9581-61FF99ABE858}">
          <p14:sldIdLst>
            <p14:sldId id="256"/>
            <p14:sldId id="515"/>
            <p14:sldId id="514"/>
            <p14:sldId id="539"/>
            <p14:sldId id="540"/>
            <p14:sldId id="541"/>
            <p14:sldId id="542"/>
            <p14:sldId id="543"/>
            <p14:sldId id="544"/>
            <p14:sldId id="546"/>
            <p14:sldId id="545"/>
            <p14:sldId id="538"/>
            <p14:sldId id="524"/>
            <p14:sldId id="518"/>
            <p14:sldId id="547"/>
            <p14:sldId id="519"/>
            <p14:sldId id="520"/>
            <p14:sldId id="521"/>
            <p14:sldId id="548"/>
            <p14:sldId id="549"/>
            <p14:sldId id="550"/>
            <p14:sldId id="551"/>
            <p14:sldId id="522"/>
            <p14:sldId id="5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na Lawing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121"/>
    <p:restoredTop sz="94658"/>
  </p:normalViewPr>
  <p:slideViewPr>
    <p:cSldViewPr snapToGrid="0" snapToObjects="1">
      <p:cViewPr varScale="1">
        <p:scale>
          <a:sx n="103" d="100"/>
          <a:sy n="103" d="100"/>
        </p:scale>
        <p:origin x="168" y="10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392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2D4AE1-BD9C-1741-B132-ACC4FD870A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52F900-87CF-6E4F-9FCE-F0A8E37B2F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404FB-D815-9B49-9DBC-B684E3C0E790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167D0-463A-4043-821F-310E6E0480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556C2-9555-094A-9761-17FDE74E66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95A322-2EE7-5046-A0D8-D3FF3645C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563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AC5A93-540D-2443-A380-5679C155FF14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A90D5-3B1D-1149-800E-15EBB2932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65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93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99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9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3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0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3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34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41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0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24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6824133" cy="273844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2" y="69057"/>
            <a:ext cx="341762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96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72041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29292"/>
            <a:ext cx="8229600" cy="3265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6768856" y="69057"/>
            <a:ext cx="2368925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ECCB</a:t>
            </a:r>
            <a:r>
              <a:rPr lang="en-US" sz="1100" baseline="0" dirty="0">
                <a:solidFill>
                  <a:schemeClr val="bg1">
                    <a:lumMod val="50000"/>
                  </a:schemeClr>
                </a:solidFill>
              </a:rPr>
              <a:t> 689 Modeling Ecological Niches</a:t>
            </a:r>
          </a:p>
          <a:p>
            <a:r>
              <a:rPr lang="en-US" sz="1100" baseline="0" dirty="0">
                <a:solidFill>
                  <a:schemeClr val="bg1">
                    <a:lumMod val="50000"/>
                  </a:schemeClr>
                </a:solidFill>
              </a:rPr>
              <a:t>and Species’ Geographic Distributions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94237" y="69057"/>
            <a:ext cx="3735891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Ecology and Conservation Biology | </a:t>
            </a:r>
            <a:r>
              <a:rPr lang="en-US" sz="1100" dirty="0">
                <a:solidFill>
                  <a:srgbClr val="800000"/>
                </a:solidFill>
              </a:rPr>
              <a:t>Texas A&amp;M University</a:t>
            </a:r>
          </a:p>
        </p:txBody>
      </p:sp>
    </p:spTree>
    <p:extLst>
      <p:ext uri="{BB962C8B-B14F-4D97-AF65-F5344CB8AC3E}">
        <p14:creationId xmlns:p14="http://schemas.microsoft.com/office/powerpoint/2010/main" val="190773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rgbClr val="800000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2844" y="1469231"/>
            <a:ext cx="4618311" cy="1102519"/>
          </a:xfrm>
        </p:spPr>
        <p:txBody>
          <a:bodyPr>
            <a:normAutofit/>
          </a:bodyPr>
          <a:lstStyle/>
          <a:p>
            <a:r>
              <a:rPr lang="en-US" sz="2800" dirty="0"/>
              <a:t>Week 3. Occurrence Data Bias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08812" y="2826129"/>
            <a:ext cx="2326373" cy="1001825"/>
          </a:xfrm>
        </p:spPr>
        <p:txBody>
          <a:bodyPr>
            <a:normAutofit fontScale="85000" lnSpcReduction="10000"/>
          </a:bodyPr>
          <a:lstStyle/>
          <a:p>
            <a:r>
              <a:rPr lang="en-US" sz="1600" dirty="0">
                <a:solidFill>
                  <a:srgbClr val="800000"/>
                </a:solidFill>
              </a:rPr>
              <a:t>A. Michelle Lawing, PhD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Associate Professor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Paleobiology, Evolution, and Climate Lab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Ecology and Conservation Biology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Texas A&amp;M University</a:t>
            </a:r>
          </a:p>
          <a:p>
            <a:pPr>
              <a:spcBef>
                <a:spcPts val="0"/>
              </a:spcBef>
            </a:pPr>
            <a:r>
              <a:rPr lang="en-US" sz="1200" dirty="0" err="1">
                <a:solidFill>
                  <a:schemeClr val="tx1"/>
                </a:solidFill>
              </a:rPr>
              <a:t>alawing@tamu.edu</a:t>
            </a:r>
            <a:endParaRPr lang="en-US" sz="1200" dirty="0">
              <a:solidFill>
                <a:schemeClr val="tx1"/>
              </a:solidFill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04773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90A04-CC46-81EB-10DB-8BF42B5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487" y="1979975"/>
            <a:ext cx="5495026" cy="857250"/>
          </a:xfrm>
        </p:spPr>
        <p:txBody>
          <a:bodyPr>
            <a:normAutofit/>
          </a:bodyPr>
          <a:lstStyle/>
          <a:p>
            <a:r>
              <a:rPr lang="en-US" dirty="0"/>
              <a:t>Welcome, hello, any announcements?</a:t>
            </a:r>
          </a:p>
        </p:txBody>
      </p:sp>
    </p:spTree>
    <p:extLst>
      <p:ext uri="{BB962C8B-B14F-4D97-AF65-F5344CB8AC3E}">
        <p14:creationId xmlns:p14="http://schemas.microsoft.com/office/powerpoint/2010/main" val="1826526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63A30-1780-5937-E856-89F2E8552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A0307-79AE-61F3-A7AF-66C33C0C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7468E-DFB5-9223-01DC-321D344FD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  <a:p>
            <a:pPr lvl="1"/>
            <a:r>
              <a:rPr lang="en-US" dirty="0"/>
              <a:t>Overview of Project</a:t>
            </a:r>
          </a:p>
          <a:p>
            <a:pPr lvl="1"/>
            <a:r>
              <a:rPr lang="en-US" dirty="0"/>
              <a:t>Spatial Data</a:t>
            </a:r>
          </a:p>
          <a:p>
            <a:pPr lvl="1"/>
            <a:r>
              <a:rPr lang="en-US" dirty="0"/>
              <a:t>Overview of Lab 02</a:t>
            </a:r>
          </a:p>
          <a:p>
            <a:r>
              <a:rPr lang="en-US" dirty="0"/>
              <a:t>No class Thursday</a:t>
            </a:r>
          </a:p>
          <a:p>
            <a:r>
              <a:rPr lang="en-US" dirty="0"/>
              <a:t>Lab 02 due Friday before midnight</a:t>
            </a:r>
          </a:p>
          <a:p>
            <a:r>
              <a:rPr lang="en-US" dirty="0"/>
              <a:t>Project Topic due Friday before midnight</a:t>
            </a:r>
          </a:p>
          <a:p>
            <a:r>
              <a:rPr lang="en-US" dirty="0"/>
              <a:t>Read Peterson Chapter 4 and 5 for next Tuesday class preparation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70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E0570-28D1-47DB-ABEC-B8A86EF52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DB749-6BE5-94FC-536E-E15CD5AEF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Ecological niche modeling analysis</a:t>
            </a:r>
          </a:p>
          <a:p>
            <a:pPr lvl="1"/>
            <a:r>
              <a:rPr lang="en-US" dirty="0"/>
              <a:t>Develop an ecological question or problem </a:t>
            </a:r>
          </a:p>
          <a:p>
            <a:pPr lvl="1"/>
            <a:r>
              <a:rPr lang="en-US" dirty="0"/>
              <a:t>Work with real or simulated occurrence and environmental data </a:t>
            </a:r>
          </a:p>
          <a:p>
            <a:pPr lvl="1"/>
            <a:r>
              <a:rPr lang="en-US" dirty="0"/>
              <a:t>Build and evaluate one or more niche/distribution models </a:t>
            </a:r>
          </a:p>
          <a:p>
            <a:pPr lvl="1"/>
            <a:r>
              <a:rPr lang="en-US" dirty="0"/>
              <a:t>Interpret results in an ecological context </a:t>
            </a:r>
          </a:p>
          <a:p>
            <a:pPr lvl="1"/>
            <a:r>
              <a:rPr lang="en-US" dirty="0"/>
              <a:t>Develop a complete, reproducible workflow in R 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60% of course grade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633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529E7-D049-043B-4B15-5DABF32E1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Milestones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CC3541F-8F94-C67C-3731-7CA5648C4E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9137236"/>
              </p:ext>
            </p:extLst>
          </p:nvPr>
        </p:nvGraphicFramePr>
        <p:xfrm>
          <a:off x="1535837" y="1329291"/>
          <a:ext cx="5944607" cy="3412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4173">
                  <a:extLst>
                    <a:ext uri="{9D8B030D-6E8A-4147-A177-3AD203B41FA5}">
                      <a16:colId xmlns:a16="http://schemas.microsoft.com/office/drawing/2014/main" val="4005966982"/>
                    </a:ext>
                  </a:extLst>
                </a:gridCol>
                <a:gridCol w="2890434">
                  <a:extLst>
                    <a:ext uri="{9D8B030D-6E8A-4147-A177-3AD203B41FA5}">
                      <a16:colId xmlns:a16="http://schemas.microsoft.com/office/drawing/2014/main" val="262250381"/>
                    </a:ext>
                  </a:extLst>
                </a:gridCol>
              </a:tblGrid>
              <a:tr h="332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Milestone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071243"/>
                  </a:ext>
                </a:extLst>
              </a:tr>
              <a:tr h="563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Sept.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Project topic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6119000"/>
                  </a:ext>
                </a:extLst>
              </a:tr>
              <a:tr h="332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Oct.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Data plan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392885"/>
                  </a:ext>
                </a:extLst>
              </a:tr>
              <a:tr h="332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Oct. 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Modeling plan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5707035"/>
                  </a:ext>
                </a:extLst>
              </a:tr>
              <a:tr h="332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Nov.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Preliminary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3199924"/>
                  </a:ext>
                </a:extLst>
              </a:tr>
              <a:tr h="332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strike="sngStrike" dirty="0"/>
                        <a:t>Dec. 1</a:t>
                      </a:r>
                      <a:r>
                        <a:rPr lang="en-US" sz="2000" strike="noStrike" dirty="0"/>
                        <a:t> (redefined day)</a:t>
                      </a:r>
                    </a:p>
                    <a:p>
                      <a:pPr>
                        <a:buNone/>
                      </a:pPr>
                      <a:r>
                        <a:rPr lang="en-US" sz="2000" strike="noStrike" dirty="0"/>
                        <a:t>Dec. 10 1-3 pm (finals slot)</a:t>
                      </a:r>
                      <a:endParaRPr lang="en-US" sz="2000" strike="sngStrik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Presentation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0838770"/>
                  </a:ext>
                </a:extLst>
              </a:tr>
              <a:tr h="563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Dec.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Final paper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4816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0322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DEAF3-C057-C30D-E5BA-7A7232EE1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D5B6B-379B-868F-133A-D8DB21C0E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Your project does not necessarily need to be complicated</a:t>
            </a:r>
          </a:p>
          <a:p>
            <a:pPr lvl="0"/>
            <a:r>
              <a:rPr lang="en-US" dirty="0"/>
              <a:t>A good project needs…</a:t>
            </a:r>
          </a:p>
          <a:p>
            <a:pPr lvl="1"/>
            <a:r>
              <a:rPr lang="en-US" dirty="0"/>
              <a:t>a focused biological question </a:t>
            </a:r>
          </a:p>
          <a:p>
            <a:pPr lvl="1"/>
            <a:r>
              <a:rPr lang="en-US" dirty="0"/>
              <a:t>a clearly defined and tractable study system</a:t>
            </a:r>
          </a:p>
          <a:p>
            <a:pPr lvl="1"/>
            <a:r>
              <a:rPr lang="en-US" dirty="0"/>
              <a:t>data that are realistically obtainable (or a detailed plan for creating a simulated data set)</a:t>
            </a:r>
          </a:p>
          <a:p>
            <a:pPr lvl="1"/>
            <a:r>
              <a:rPr lang="en-US" dirty="0"/>
              <a:t>a modeling approach that answers the question </a:t>
            </a:r>
          </a:p>
          <a:p>
            <a:pPr lvl="1"/>
            <a:r>
              <a:rPr lang="en-US" dirty="0"/>
              <a:t>planned simulations to evaluate assumptions and understand how much confidence you can have to make inferences</a:t>
            </a:r>
          </a:p>
        </p:txBody>
      </p:sp>
    </p:spTree>
    <p:extLst>
      <p:ext uri="{BB962C8B-B14F-4D97-AF65-F5344CB8AC3E}">
        <p14:creationId xmlns:p14="http://schemas.microsoft.com/office/powerpoint/2010/main" val="2930318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D01CA2-9FE2-1937-61CA-A0DEB1529A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20" r="23530"/>
          <a:stretch>
            <a:fillRect/>
          </a:stretch>
        </p:blipFill>
        <p:spPr>
          <a:xfrm>
            <a:off x="2406316" y="567398"/>
            <a:ext cx="4138864" cy="436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513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19AA1-8E15-68C8-BC54-63090EF04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Topic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6B6E4-9F8A-552F-E28A-A950FA6D6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Purpose: to identify a preliminary topic for your term project. </a:t>
            </a:r>
          </a:p>
          <a:p>
            <a:r>
              <a:rPr lang="en-US" dirty="0"/>
              <a:t>Your project will develop throughout the semester, so you do not need to have the full analysis figured out yet.</a:t>
            </a:r>
          </a:p>
          <a:p>
            <a:r>
              <a:rPr lang="en-US" dirty="0"/>
              <a:t>Your question can be refined as you learn more about the data and modeling approaches available.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059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246B6-CD28-3F92-8AFC-A1400EDFF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Submit a description of your project that includes: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1D3E6-5DB2-4620-4243-8F0C69CA9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/>
              <a:t>Research question or idea</a:t>
            </a:r>
            <a:r>
              <a:rPr lang="en-US" dirty="0"/>
              <a:t> — What are you interested in asking? </a:t>
            </a:r>
          </a:p>
          <a:p>
            <a:pPr lvl="0"/>
            <a:r>
              <a:rPr lang="en-US" b="1" dirty="0"/>
              <a:t>Study organism/system</a:t>
            </a:r>
            <a:r>
              <a:rPr lang="en-US" dirty="0"/>
              <a:t> — What species, group, or system are you considering? </a:t>
            </a:r>
          </a:p>
          <a:p>
            <a:pPr lvl="0"/>
            <a:r>
              <a:rPr lang="en-US" b="1" dirty="0"/>
              <a:t>Geographic and/or temporal scope</a:t>
            </a:r>
            <a:r>
              <a:rPr lang="en-US" dirty="0"/>
              <a:t> — Where and when would the project focus? </a:t>
            </a:r>
          </a:p>
          <a:p>
            <a:pPr lvl="0"/>
            <a:r>
              <a:rPr lang="en-US" b="1" dirty="0"/>
              <a:t>Biological motivation</a:t>
            </a:r>
            <a:r>
              <a:rPr lang="en-US" dirty="0"/>
              <a:t> — Why is this question interesting or useful in ecological or conservation terms? </a:t>
            </a:r>
          </a:p>
          <a:p>
            <a:pPr lvl="0"/>
            <a:r>
              <a:rPr lang="en-US" b="1" dirty="0"/>
              <a:t>Questions or uncertainties</a:t>
            </a:r>
            <a:r>
              <a:rPr lang="en-US" dirty="0"/>
              <a:t> — Identify anything you are currently unsure about or would like feedback 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801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88265-4272-29F7-7E85-518CB44CC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Submission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CE6FA-F63A-8CCD-0DCC-92B1E715A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Research question or idea:</a:t>
            </a:r>
          </a:p>
          <a:p>
            <a:pPr marL="0" indent="0">
              <a:buNone/>
            </a:pPr>
            <a:r>
              <a:rPr lang="en-US" b="1" dirty="0"/>
              <a:t>Species/system:</a:t>
            </a:r>
          </a:p>
          <a:p>
            <a:pPr marL="0" indent="0">
              <a:buNone/>
            </a:pPr>
            <a:r>
              <a:rPr lang="en-US" b="1" dirty="0"/>
              <a:t>Geographic/temporal scope:</a:t>
            </a:r>
          </a:p>
          <a:p>
            <a:pPr marL="0" indent="0">
              <a:buNone/>
            </a:pPr>
            <a:r>
              <a:rPr lang="en-US" b="1" dirty="0"/>
              <a:t>Biological motivation:</a:t>
            </a:r>
          </a:p>
          <a:p>
            <a:pPr marL="0" indent="0">
              <a:buNone/>
            </a:pPr>
            <a:r>
              <a:rPr lang="en-US" b="1" dirty="0"/>
              <a:t>Questions or uncertainties: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Format:</a:t>
            </a:r>
            <a:r>
              <a:rPr lang="en-US" dirty="0"/>
              <a:t> PDF, up to 1 page, 12-point Times New Roman</a:t>
            </a:r>
            <a:br>
              <a:rPr lang="en-US" dirty="0"/>
            </a:br>
            <a:r>
              <a:rPr lang="en-US" b="1" dirty="0"/>
              <a:t>Due:</a:t>
            </a:r>
            <a:r>
              <a:rPr lang="en-US" dirty="0"/>
              <a:t> Friday, September 11 by 11:59 PM</a:t>
            </a:r>
          </a:p>
        </p:txBody>
      </p:sp>
    </p:spTree>
    <p:extLst>
      <p:ext uri="{BB962C8B-B14F-4D97-AF65-F5344CB8AC3E}">
        <p14:creationId xmlns:p14="http://schemas.microsoft.com/office/powerpoint/2010/main" val="2761760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631B5-37DD-D451-270A-D8C4659F6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 specific guidance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C39C9-6F34-62CA-AB61-987E49631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At this early stage, I am primarily looking for a focused, feasible topic and direction that can be developed over the semester. </a:t>
            </a:r>
          </a:p>
          <a:p>
            <a:r>
              <a:rPr lang="en-US" dirty="0"/>
              <a:t>A strong topic is generally:</a:t>
            </a:r>
          </a:p>
          <a:p>
            <a:pPr lvl="1"/>
            <a:r>
              <a:rPr lang="en-US" dirty="0"/>
              <a:t>biologically motivated, </a:t>
            </a:r>
          </a:p>
          <a:p>
            <a:pPr lvl="1"/>
            <a:r>
              <a:rPr lang="en-US" dirty="0"/>
              <a:t>narrow enough to complete this semester, </a:t>
            </a:r>
          </a:p>
          <a:p>
            <a:pPr lvl="1"/>
            <a:r>
              <a:rPr lang="en-US" dirty="0"/>
              <a:t>connected to ecological niche or species distribution modeling, </a:t>
            </a:r>
          </a:p>
          <a:p>
            <a:pPr lvl="1"/>
            <a:r>
              <a:rPr lang="en-US" dirty="0"/>
              <a:t>and likely to have occurrence and environmental data available or a feasible plan to simulate it.</a:t>
            </a:r>
          </a:p>
          <a:p>
            <a:r>
              <a:rPr lang="en-US" dirty="0"/>
              <a:t>You may refine or change your project topic as we work through data availability, scale, modeling assumptions, and feasibility.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342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A2C29-AC86-B90E-A082-B7E1759AD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540" y="2143125"/>
            <a:ext cx="4339137" cy="857250"/>
          </a:xfrm>
        </p:spPr>
        <p:txBody>
          <a:bodyPr>
            <a:normAutofit fontScale="90000"/>
          </a:bodyPr>
          <a:lstStyle/>
          <a:p>
            <a:r>
              <a:rPr lang="en-US" dirty="0"/>
              <a:t>R tools for the spatial workflow</a:t>
            </a:r>
          </a:p>
        </p:txBody>
      </p:sp>
    </p:spTree>
    <p:extLst>
      <p:ext uri="{BB962C8B-B14F-4D97-AF65-F5344CB8AC3E}">
        <p14:creationId xmlns:p14="http://schemas.microsoft.com/office/powerpoint/2010/main" val="85612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A3D8-8717-698C-D115-07CB7A738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 add specialized tools to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3D075-9BCE-E8CB-B7A9-162669794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100">
                <a:solidFill>
                  <a:srgbClr val="222222"/>
                </a:solidFill>
                <a:latin typeface="Calibri"/>
              </a:defRPr>
            </a:pPr>
            <a:r>
              <a:rPr lang="en-US" dirty="0"/>
              <a:t>Base R already contains many functions</a:t>
            </a:r>
          </a:p>
          <a:p>
            <a:pPr>
              <a:defRPr sz="2100">
                <a:solidFill>
                  <a:srgbClr val="222222"/>
                </a:solidFill>
                <a:latin typeface="Calibri"/>
              </a:defRPr>
            </a:pPr>
            <a:r>
              <a:rPr lang="en-US" dirty="0"/>
              <a:t>A package is a bundle of functions, data, and documentation for a particular set of tasks</a:t>
            </a:r>
          </a:p>
          <a:p>
            <a:pPr>
              <a:defRPr sz="2100">
                <a:solidFill>
                  <a:srgbClr val="222222"/>
                </a:solidFill>
                <a:latin typeface="Calibri"/>
              </a:defRPr>
            </a:pPr>
            <a:r>
              <a:rPr lang="en-US" dirty="0"/>
              <a:t>We load packages when we need tools that are not part of base R</a:t>
            </a:r>
          </a:p>
          <a:p>
            <a:pPr>
              <a:defRPr sz="2100">
                <a:solidFill>
                  <a:srgbClr val="222222"/>
                </a:solidFill>
                <a:latin typeface="Calibri"/>
              </a:defRPr>
            </a:pPr>
            <a:endParaRPr lang="en-US" dirty="0"/>
          </a:p>
          <a:p>
            <a:pPr>
              <a:defRPr sz="2100">
                <a:solidFill>
                  <a:srgbClr val="222222"/>
                </a:solidFill>
                <a:latin typeface="Calibri"/>
              </a:defRPr>
            </a:pPr>
            <a:r>
              <a:rPr lang="en-US" dirty="0"/>
              <a:t>Today…</a:t>
            </a:r>
          </a:p>
          <a:p>
            <a:pPr lvl="1">
              <a:defRPr sz="2100">
                <a:solidFill>
                  <a:srgbClr val="222222"/>
                </a:solidFill>
                <a:latin typeface="Calibri"/>
              </a:defRPr>
            </a:pPr>
            <a:r>
              <a:rPr lang="en-US" dirty="0"/>
              <a:t>sf for spatial objects</a:t>
            </a:r>
          </a:p>
          <a:p>
            <a:pPr lvl="1">
              <a:defRPr sz="2100">
                <a:solidFill>
                  <a:srgbClr val="222222"/>
                </a:solidFill>
                <a:latin typeface="Calibri"/>
              </a:defRPr>
            </a:pPr>
            <a:r>
              <a:rPr lang="en-US" dirty="0"/>
              <a:t>ggplot2 for plotting</a:t>
            </a:r>
          </a:p>
          <a:p>
            <a:pPr lvl="1">
              <a:defRPr sz="2100">
                <a:solidFill>
                  <a:srgbClr val="222222"/>
                </a:solidFill>
                <a:latin typeface="Calibri"/>
              </a:defRPr>
            </a:pPr>
            <a:r>
              <a:rPr lang="en-US" dirty="0" err="1"/>
              <a:t>rnaturalearth</a:t>
            </a:r>
            <a:r>
              <a:rPr lang="en-US" dirty="0"/>
              <a:t> for geographic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8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EFDC6-B387-3623-92FB-2805122D6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Libraries and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FB1AD-F3FE-14E3-F9CB-37FD66855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# install once</a:t>
            </a: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chemeClr val="tx2"/>
                </a:solidFill>
              </a:rPr>
              <a:t>install.packages</a:t>
            </a:r>
            <a:r>
              <a:rPr lang="en-US" sz="1800" dirty="0">
                <a:solidFill>
                  <a:schemeClr val="tx2"/>
                </a:solidFill>
              </a:rPr>
              <a:t>("sf")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# load each new R session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library(sf)</a:t>
            </a:r>
          </a:p>
        </p:txBody>
      </p:sp>
    </p:spTree>
    <p:extLst>
      <p:ext uri="{BB962C8B-B14F-4D97-AF65-F5344CB8AC3E}">
        <p14:creationId xmlns:p14="http://schemas.microsoft.com/office/powerpoint/2010/main" val="4101487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C4D48-5A62-48D6-EF2E-8936C17A5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05D5A-9C94-B7A1-CD73-E9BAF274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Libraries and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CBF8D-A683-64AD-3AA3-4A4EBBC76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# install once</a:t>
            </a: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chemeClr val="tx2"/>
                </a:solidFill>
              </a:rPr>
              <a:t>install.packages</a:t>
            </a:r>
            <a:r>
              <a:rPr lang="en-US" sz="1800" dirty="0">
                <a:solidFill>
                  <a:schemeClr val="tx2"/>
                </a:solidFill>
              </a:rPr>
              <a:t>("sf")</a:t>
            </a:r>
          </a:p>
          <a:p>
            <a:pPr marL="0" indent="0">
              <a:buNone/>
            </a:pPr>
            <a:r>
              <a:rPr lang="en-US" sz="1800" dirty="0" err="1">
                <a:solidFill>
                  <a:schemeClr val="tx2"/>
                </a:solidFill>
              </a:rPr>
              <a:t>install.packages</a:t>
            </a:r>
            <a:r>
              <a:rPr lang="en-US" sz="1800" dirty="0">
                <a:solidFill>
                  <a:schemeClr val="tx2"/>
                </a:solidFill>
              </a:rPr>
              <a:t>(c("sf", ”ggplot2", ”</a:t>
            </a:r>
            <a:r>
              <a:rPr lang="en-US" sz="1800" dirty="0" err="1">
                <a:solidFill>
                  <a:schemeClr val="tx2"/>
                </a:solidFill>
              </a:rPr>
              <a:t>rnaturalearth</a:t>
            </a:r>
            <a:r>
              <a:rPr lang="en-US" sz="1800" dirty="0">
                <a:solidFill>
                  <a:schemeClr val="tx2"/>
                </a:solidFill>
              </a:rPr>
              <a:t>"))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# load each new R session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library(sf)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library(ggplot2)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library(</a:t>
            </a:r>
            <a:r>
              <a:rPr lang="en-US" sz="1800" dirty="0" err="1">
                <a:solidFill>
                  <a:schemeClr val="tx2"/>
                </a:solidFill>
              </a:rPr>
              <a:t>rnaturalearth</a:t>
            </a:r>
            <a:r>
              <a:rPr lang="en-US" sz="1800" dirty="0">
                <a:solidFill>
                  <a:schemeClr val="tx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64150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35390-0A0F-57DE-E559-0703034BD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Functions and data stored in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2818E-AFD8-C32C-DB68-EFBBF8EA1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st_as_sf</a:t>
            </a:r>
            <a:r>
              <a:rPr lang="en-US" dirty="0">
                <a:solidFill>
                  <a:schemeClr val="tx2"/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st_transform</a:t>
            </a:r>
            <a:r>
              <a:rPr lang="en-US" dirty="0">
                <a:solidFill>
                  <a:schemeClr val="tx2"/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st_buffer</a:t>
            </a:r>
            <a:r>
              <a:rPr lang="en-US" dirty="0">
                <a:solidFill>
                  <a:schemeClr val="tx2"/>
                </a:solidFill>
              </a:rPr>
              <a:t>()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lvl="0"/>
            <a:r>
              <a:rPr lang="en-US" dirty="0"/>
              <a:t>functions usually take the form: function(input, arguments)</a:t>
            </a:r>
          </a:p>
          <a:p>
            <a:pPr lvl="0"/>
            <a:r>
              <a:rPr lang="en-US" dirty="0"/>
              <a:t>functions often </a:t>
            </a:r>
            <a:r>
              <a:rPr lang="en-US" b="1" dirty="0"/>
              <a:t>return an object</a:t>
            </a:r>
            <a:r>
              <a:rPr lang="en-US" dirty="0"/>
              <a:t> that we save: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>
                <a:solidFill>
                  <a:schemeClr val="tx2"/>
                </a:solidFill>
              </a:rPr>
              <a:t>world &lt;- </a:t>
            </a:r>
            <a:r>
              <a:rPr lang="en-US" dirty="0" err="1">
                <a:solidFill>
                  <a:schemeClr val="tx2"/>
                </a:solidFill>
              </a:rPr>
              <a:t>ne_countries</a:t>
            </a:r>
            <a:r>
              <a:rPr lang="en-US" dirty="0">
                <a:solidFill>
                  <a:schemeClr val="tx2"/>
                </a:solidFill>
              </a:rPr>
              <a:t>(...)</a:t>
            </a:r>
          </a:p>
          <a:p>
            <a:pPr marL="0" lv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r>
              <a:rPr lang="en-US" dirty="0"/>
              <a:t>a lot of learning R is learning what object you have, what function accepts that object, and what object comes back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351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8282-1C72-C4BE-F050-2695BABA9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Sourcing a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FABC4-7A3D-BCA4-A1B7-E02CC130B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source()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reads another R script </a:t>
            </a:r>
          </a:p>
          <a:p>
            <a:pPr lvl="0"/>
            <a:r>
              <a:rPr lang="en-US" dirty="0"/>
              <a:t>runs the whole script </a:t>
            </a:r>
          </a:p>
          <a:p>
            <a:pPr lvl="0"/>
            <a:r>
              <a:rPr lang="en-US" dirty="0"/>
              <a:t>recreates the objects produced by that analysis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source("analysis/01_occurrence_audit.R")</a:t>
            </a:r>
          </a:p>
        </p:txBody>
      </p:sp>
    </p:spTree>
    <p:extLst>
      <p:ext uri="{BB962C8B-B14F-4D97-AF65-F5344CB8AC3E}">
        <p14:creationId xmlns:p14="http://schemas.microsoft.com/office/powerpoint/2010/main" val="466014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860CE-0F8B-1DF5-612E-EE7C94E6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Throwing an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D99FF-07B9-9CD9-E744-EF7F5AF73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exists()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stopifnot</a:t>
            </a:r>
            <a:r>
              <a:rPr lang="en-US" dirty="0">
                <a:solidFill>
                  <a:schemeClr val="tx2"/>
                </a:solidFill>
              </a:rPr>
              <a:t>()</a:t>
            </a:r>
          </a:p>
          <a:p>
            <a:pPr marL="0" lv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stopifnot</a:t>
            </a:r>
            <a:r>
              <a:rPr lang="en-US" dirty="0">
                <a:solidFill>
                  <a:schemeClr val="tx2"/>
                </a:solidFill>
              </a:rPr>
              <a:t>(exists("</a:t>
            </a:r>
            <a:r>
              <a:rPr lang="en-US" dirty="0" err="1">
                <a:solidFill>
                  <a:schemeClr val="tx2"/>
                </a:solidFill>
              </a:rPr>
              <a:t>occ_retained</a:t>
            </a:r>
            <a:r>
              <a:rPr lang="en-US" dirty="0">
                <a:solidFill>
                  <a:schemeClr val="tx2"/>
                </a:solidFill>
              </a:rPr>
              <a:t>"))</a:t>
            </a:r>
          </a:p>
          <a:p>
            <a:pPr marL="0" lv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0461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31972-0FB8-23E6-F446-117620DC8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objects in 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FB39F1B-87CE-A8B8-8D4A-70C67F7023A7}"/>
              </a:ext>
            </a:extLst>
          </p:cNvPr>
          <p:cNvSpPr txBox="1">
            <a:spLocks/>
          </p:cNvSpPr>
          <p:nvPr/>
        </p:nvSpPr>
        <p:spPr>
          <a:xfrm>
            <a:off x="457200" y="1329292"/>
            <a:ext cx="7994822" cy="3265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regular data frame contains attributes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an sf object contains attributes (in a data frame), their associated geometry and a CRS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336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4A9F-84C0-87CA-43E4-1FACBC716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to sf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40801-6AAA-B923-B503-9CF8C5B84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st_as_sf</a:t>
            </a:r>
            <a:r>
              <a:rPr lang="en-US" dirty="0">
                <a:solidFill>
                  <a:schemeClr val="tx2"/>
                </a:solidFill>
              </a:rPr>
              <a:t>()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occ_sf</a:t>
            </a:r>
            <a:r>
              <a:rPr lang="en-US" dirty="0">
                <a:solidFill>
                  <a:schemeClr val="tx2"/>
                </a:solidFill>
              </a:rPr>
              <a:t> &lt;- </a:t>
            </a:r>
            <a:r>
              <a:rPr lang="en-US" dirty="0" err="1">
                <a:solidFill>
                  <a:schemeClr val="tx2"/>
                </a:solidFill>
              </a:rPr>
              <a:t>st_as_sf</a:t>
            </a:r>
            <a:r>
              <a:rPr lang="en-US" dirty="0">
                <a:solidFill>
                  <a:schemeClr val="tx2"/>
                </a:solidFill>
              </a:rPr>
              <a:t>(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	</a:t>
            </a:r>
            <a:r>
              <a:rPr lang="en-US" dirty="0" err="1">
                <a:solidFill>
                  <a:schemeClr val="tx2"/>
                </a:solidFill>
              </a:rPr>
              <a:t>occ_retained</a:t>
            </a:r>
            <a:r>
              <a:rPr lang="en-US" dirty="0">
                <a:solidFill>
                  <a:schemeClr val="tx2"/>
                </a:solidFill>
              </a:rPr>
              <a:t>, 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	coords = c("</a:t>
            </a:r>
            <a:r>
              <a:rPr lang="en-US" dirty="0" err="1">
                <a:solidFill>
                  <a:schemeClr val="tx2"/>
                </a:solidFill>
              </a:rPr>
              <a:t>decimalLongitude</a:t>
            </a:r>
            <a:r>
              <a:rPr lang="en-US" dirty="0">
                <a:solidFill>
                  <a:schemeClr val="tx2"/>
                </a:solidFill>
              </a:rPr>
              <a:t>", "</a:t>
            </a:r>
            <a:r>
              <a:rPr lang="en-US" dirty="0" err="1">
                <a:solidFill>
                  <a:schemeClr val="tx2"/>
                </a:solidFill>
              </a:rPr>
              <a:t>decimalLatitude</a:t>
            </a:r>
            <a:r>
              <a:rPr lang="en-US" dirty="0">
                <a:solidFill>
                  <a:schemeClr val="tx2"/>
                </a:solidFill>
              </a:rPr>
              <a:t>"), 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	</a:t>
            </a:r>
            <a:r>
              <a:rPr lang="en-US" dirty="0" err="1">
                <a:solidFill>
                  <a:schemeClr val="tx2"/>
                </a:solidFill>
              </a:rPr>
              <a:t>crs</a:t>
            </a:r>
            <a:r>
              <a:rPr lang="en-US" dirty="0">
                <a:solidFill>
                  <a:schemeClr val="tx2"/>
                </a:solidFill>
              </a:rPr>
              <a:t> = 4326, 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	remove = FALSE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15998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D0D9-2909-92F7-7F34-692D12B93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Geographic vs projected coordinate reference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2E13D-21AD-5054-2730-9E6B4CCDE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Geographic coordinates</a:t>
            </a:r>
          </a:p>
          <a:p>
            <a:pPr lvl="1"/>
            <a:r>
              <a:rPr lang="en-US" dirty="0"/>
              <a:t>e.g., WGS 84 / EPSG:4326</a:t>
            </a:r>
          </a:p>
          <a:p>
            <a:pPr lvl="1"/>
            <a:r>
              <a:rPr lang="en-US" dirty="0"/>
              <a:t>longitude and latitude </a:t>
            </a:r>
          </a:p>
          <a:p>
            <a:pPr lvl="1"/>
            <a:r>
              <a:rPr lang="en-US" dirty="0"/>
              <a:t>units = degrees </a:t>
            </a:r>
          </a:p>
          <a:p>
            <a:pPr lvl="1"/>
            <a:r>
              <a:rPr lang="en-US" dirty="0"/>
              <a:t>useful for describing geographic location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Projected CRS</a:t>
            </a:r>
          </a:p>
          <a:p>
            <a:pPr lvl="1"/>
            <a:r>
              <a:rPr lang="en-US" dirty="0"/>
              <a:t>x and y coordinates </a:t>
            </a:r>
          </a:p>
          <a:p>
            <a:pPr lvl="1"/>
            <a:r>
              <a:rPr lang="en-US" dirty="0"/>
              <a:t>often units = meters </a:t>
            </a:r>
          </a:p>
          <a:p>
            <a:pPr lvl="1"/>
            <a:r>
              <a:rPr lang="en-US" dirty="0"/>
              <a:t>useful for distance, area, buffers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905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96775-4946-60CA-64EC-86AEFCE2A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Projected CRS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FFD3D-F026-2683-591A-017FBAA69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st_transform</a:t>
            </a:r>
            <a:r>
              <a:rPr lang="en-US" dirty="0">
                <a:solidFill>
                  <a:schemeClr val="tx2"/>
                </a:solidFill>
              </a:rPr>
              <a:t>()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occ_projected</a:t>
            </a:r>
            <a:r>
              <a:rPr lang="en-US" dirty="0">
                <a:solidFill>
                  <a:schemeClr val="tx2"/>
                </a:solidFill>
              </a:rPr>
              <a:t> &lt;- </a:t>
            </a:r>
            <a:r>
              <a:rPr lang="en-US" dirty="0" err="1">
                <a:solidFill>
                  <a:schemeClr val="tx2"/>
                </a:solidFill>
              </a:rPr>
              <a:t>st_transform</a:t>
            </a:r>
            <a:r>
              <a:rPr lang="en-US" dirty="0">
                <a:solidFill>
                  <a:schemeClr val="tx2"/>
                </a:solidFill>
              </a:rPr>
              <a:t>(</a:t>
            </a:r>
            <a:r>
              <a:rPr lang="en-US" dirty="0" err="1">
                <a:solidFill>
                  <a:schemeClr val="tx2"/>
                </a:solidFill>
              </a:rPr>
              <a:t>occ_sf</a:t>
            </a:r>
            <a:r>
              <a:rPr lang="en-US" dirty="0">
                <a:solidFill>
                  <a:schemeClr val="tx2"/>
                </a:solidFill>
              </a:rPr>
              <a:t>, 32614)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566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DDEA8-6386-E4ED-9786-FF9FE8EF0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Help 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AE55E-284A-4F2C-9277-C9C703940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?</a:t>
            </a:r>
            <a:r>
              <a:rPr lang="en-US" dirty="0" err="1">
                <a:solidFill>
                  <a:schemeClr val="tx2"/>
                </a:solidFill>
              </a:rPr>
              <a:t>st_buffer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?</a:t>
            </a:r>
            <a:r>
              <a:rPr lang="en-US" dirty="0" err="1">
                <a:solidFill>
                  <a:schemeClr val="tx2"/>
                </a:solidFill>
              </a:rPr>
              <a:t>geom_sf</a:t>
            </a: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/>
              <a:t>When you open help, look for:</a:t>
            </a:r>
          </a:p>
          <a:p>
            <a:r>
              <a:rPr lang="en-US" b="1" dirty="0"/>
              <a:t>Usage</a:t>
            </a:r>
            <a:r>
              <a:rPr lang="en-US" dirty="0"/>
              <a:t> — how is the function written?</a:t>
            </a:r>
          </a:p>
          <a:p>
            <a:r>
              <a:rPr lang="en-US" b="1" dirty="0"/>
              <a:t>Arguments</a:t>
            </a:r>
            <a:r>
              <a:rPr lang="en-US" dirty="0"/>
              <a:t> — what does it need?</a:t>
            </a:r>
          </a:p>
          <a:p>
            <a:r>
              <a:rPr lang="en-US" b="1" dirty="0"/>
              <a:t>Value</a:t>
            </a:r>
            <a:r>
              <a:rPr lang="en-US" dirty="0"/>
              <a:t> — what does it return?</a:t>
            </a:r>
          </a:p>
          <a:p>
            <a:r>
              <a:rPr lang="en-US" b="1" dirty="0"/>
              <a:t>Examples</a:t>
            </a:r>
            <a:r>
              <a:rPr lang="en-US" dirty="0"/>
              <a:t> — how is it commonly used?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50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2ACA0-A5AE-1F70-B762-E9D9EB13B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9946" y="2143125"/>
            <a:ext cx="1331650" cy="857250"/>
          </a:xfrm>
        </p:spPr>
        <p:txBody>
          <a:bodyPr/>
          <a:lstStyle/>
          <a:p>
            <a:r>
              <a:rPr lang="en-US" dirty="0"/>
              <a:t>Lab 02</a:t>
            </a:r>
          </a:p>
        </p:txBody>
      </p:sp>
    </p:spTree>
    <p:extLst>
      <p:ext uri="{BB962C8B-B14F-4D97-AF65-F5344CB8AC3E}">
        <p14:creationId xmlns:p14="http://schemas.microsoft.com/office/powerpoint/2010/main" val="1192318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21802</TotalTime>
  <Words>955</Words>
  <Application>Microsoft Macintosh PowerPoint</Application>
  <PresentationFormat>On-screen Show (16:9)</PresentationFormat>
  <Paragraphs>165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Week 3. Occurrence Data Bias</vt:lpstr>
      <vt:lpstr>Welcome, hello, any announcements?</vt:lpstr>
      <vt:lpstr>Class Plan</vt:lpstr>
      <vt:lpstr>Term Project</vt:lpstr>
      <vt:lpstr>Project Milestones</vt:lpstr>
      <vt:lpstr>Project Strategy</vt:lpstr>
      <vt:lpstr>PowerPoint Presentation</vt:lpstr>
      <vt:lpstr>Project Topic Assignment</vt:lpstr>
      <vt:lpstr>Submit a description of your project that includes:</vt:lpstr>
      <vt:lpstr>Submission template</vt:lpstr>
      <vt:lpstr>More specific guidance</vt:lpstr>
      <vt:lpstr>R tools for the spatial workflow</vt:lpstr>
      <vt:lpstr>Packages add specialized tools to R</vt:lpstr>
      <vt:lpstr>Libraries and packages</vt:lpstr>
      <vt:lpstr>Libraries and packages</vt:lpstr>
      <vt:lpstr>Functions and data stored in packages</vt:lpstr>
      <vt:lpstr>Sourcing a script</vt:lpstr>
      <vt:lpstr>Throwing an error</vt:lpstr>
      <vt:lpstr>Spatial objects in R</vt:lpstr>
      <vt:lpstr>Convert to sf</vt:lpstr>
      <vt:lpstr>Geographic vs projected coordinate reference systems</vt:lpstr>
      <vt:lpstr>Projected CRS</vt:lpstr>
      <vt:lpstr>Reading Help Pages</vt:lpstr>
      <vt:lpstr>Lab 02</vt:lpstr>
    </vt:vector>
  </TitlesOfParts>
  <Company>TAMU - Spatial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 Projections</dc:title>
  <dc:creator>Michelle Lawing</dc:creator>
  <cp:lastModifiedBy>Michelle Lawing</cp:lastModifiedBy>
  <cp:revision>837</cp:revision>
  <dcterms:created xsi:type="dcterms:W3CDTF">2014-08-30T17:37:24Z</dcterms:created>
  <dcterms:modified xsi:type="dcterms:W3CDTF">2026-09-08T19:44:33Z</dcterms:modified>
</cp:coreProperties>
</file>