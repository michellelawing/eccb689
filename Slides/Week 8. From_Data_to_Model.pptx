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515" r:id="rId3"/>
    <p:sldId id="540" r:id="rId4"/>
    <p:sldId id="514" r:id="rId5"/>
    <p:sldId id="663" r:id="rId6"/>
    <p:sldId id="671" r:id="rId7"/>
    <p:sldId id="672" r:id="rId8"/>
    <p:sldId id="673" r:id="rId9"/>
    <p:sldId id="662" r:id="rId10"/>
    <p:sldId id="674" r:id="rId11"/>
    <p:sldId id="675" r:id="rId12"/>
    <p:sldId id="594" r:id="rId13"/>
    <p:sldId id="664" r:id="rId14"/>
    <p:sldId id="665" r:id="rId15"/>
    <p:sldId id="676" r:id="rId16"/>
    <p:sldId id="666" r:id="rId17"/>
    <p:sldId id="667" r:id="rId18"/>
    <p:sldId id="668" r:id="rId19"/>
    <p:sldId id="670" r:id="rId20"/>
    <p:sldId id="677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40"/>
            <p14:sldId id="514"/>
            <p14:sldId id="663"/>
            <p14:sldId id="671"/>
            <p14:sldId id="672"/>
            <p14:sldId id="673"/>
            <p14:sldId id="662"/>
            <p14:sldId id="674"/>
            <p14:sldId id="675"/>
            <p14:sldId id="594"/>
            <p14:sldId id="664"/>
            <p14:sldId id="665"/>
            <p14:sldId id="676"/>
            <p14:sldId id="666"/>
            <p14:sldId id="667"/>
            <p14:sldId id="668"/>
            <p14:sldId id="670"/>
            <p14:sldId id="6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589"/>
  </p:normalViewPr>
  <p:slideViewPr>
    <p:cSldViewPr snapToGrid="0" snapToObjects="1">
      <p:cViewPr varScale="1">
        <p:scale>
          <a:sx n="134" d="100"/>
          <a:sy n="134" d="100"/>
        </p:scale>
        <p:origin x="184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4589" y="1469231"/>
            <a:ext cx="7158247" cy="110251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Week 8. From Data to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87" y="1979975"/>
            <a:ext cx="5495026" cy="857250"/>
          </a:xfrm>
        </p:spPr>
        <p:txBody>
          <a:bodyPr>
            <a:normAutofit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7" y="2920814"/>
            <a:ext cx="8229600" cy="857250"/>
          </a:xfrm>
        </p:spPr>
        <p:txBody>
          <a:bodyPr/>
          <a:lstStyle/>
          <a:p>
            <a:r>
              <a:rPr lang="en-US" dirty="0"/>
              <a:t>Upcoming 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666279"/>
              </p:ext>
            </p:extLst>
          </p:nvPr>
        </p:nvGraphicFramePr>
        <p:xfrm>
          <a:off x="1599696" y="3778064"/>
          <a:ext cx="5944607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Modeling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27BBF61-3CA3-CF93-B41A-4EF6A3BD4F62}"/>
              </a:ext>
            </a:extLst>
          </p:cNvPr>
          <p:cNvSpPr txBox="1">
            <a:spLocks/>
          </p:cNvSpPr>
          <p:nvPr/>
        </p:nvSpPr>
        <p:spPr>
          <a:xfrm>
            <a:off x="358097" y="64103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Upcoming Lab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CBF219B-22B7-DDF9-40FD-6A9227993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434940"/>
              </p:ext>
            </p:extLst>
          </p:nvPr>
        </p:nvGraphicFramePr>
        <p:xfrm>
          <a:off x="1500593" y="1603059"/>
          <a:ext cx="5944607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Lab 05 &amp; Lab 04 Revision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2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Plan and Lab 04 review (Tuesday)</a:t>
            </a:r>
          </a:p>
          <a:p>
            <a:r>
              <a:rPr lang="en-US" dirty="0"/>
              <a:t>Brief lecture points </a:t>
            </a:r>
          </a:p>
          <a:p>
            <a:r>
              <a:rPr lang="en-US" dirty="0"/>
              <a:t>Lab 05</a:t>
            </a:r>
          </a:p>
          <a:p>
            <a:pPr lvl="1"/>
            <a:r>
              <a:rPr lang="en-US" dirty="0"/>
              <a:t>moving from project planning and data preparation </a:t>
            </a:r>
          </a:p>
          <a:p>
            <a:pPr lvl="1"/>
            <a:r>
              <a:rPr lang="en-US" dirty="0"/>
              <a:t>into occurrence vetting, background definition, model-ready data, and a first simple model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90ED-1F5B-035E-22DA-0CA2264D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04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D89D3-6B73-CF0C-11FE-2EDD05BE1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progress in using R to work with environmental raster data</a:t>
            </a:r>
          </a:p>
          <a:p>
            <a:r>
              <a:rPr lang="en-US" dirty="0"/>
              <a:t>Most of you successfully completed the core workflow</a:t>
            </a:r>
          </a:p>
          <a:p>
            <a:pPr lvl="1"/>
            <a:r>
              <a:rPr lang="en-US" dirty="0"/>
              <a:t>restricting rasters to M</a:t>
            </a:r>
          </a:p>
          <a:p>
            <a:pPr lvl="1"/>
            <a:r>
              <a:rPr lang="en-US" dirty="0"/>
              <a:t>extracting environmental values at occurrences</a:t>
            </a:r>
          </a:p>
          <a:p>
            <a:pPr lvl="1"/>
            <a:r>
              <a:rPr lang="en-US" dirty="0"/>
              <a:t>comparing spatial resolution</a:t>
            </a:r>
          </a:p>
          <a:p>
            <a:pPr lvl="1"/>
            <a:r>
              <a:rPr lang="en-US" dirty="0"/>
              <a:t>saving outputs</a:t>
            </a:r>
          </a:p>
          <a:p>
            <a:r>
              <a:rPr lang="en-US" dirty="0"/>
              <a:t>Several of you also began applying these ideas directly to your own project data, which is the goal of the lab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9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29D9-1F25-FFC5-BC9E-A53BC63B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B5CD-1CD1-FD4E-FC75-09BD2A6E7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04 Review and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5D7A-1E78-B677-758D-ECE31F6F5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important next step is reproducibility. </a:t>
            </a:r>
          </a:p>
          <a:p>
            <a:r>
              <a:rPr lang="en-US" dirty="0"/>
              <a:t>Your script should run from the top in a fresh R session, using only files included in your project folder. </a:t>
            </a:r>
          </a:p>
          <a:p>
            <a:r>
              <a:rPr lang="en-US" dirty="0"/>
              <a:t>Avoid personal computer paths such as </a:t>
            </a:r>
            <a:r>
              <a:rPr lang="en-US" dirty="0" err="1"/>
              <a:t>setwd</a:t>
            </a:r>
            <a:r>
              <a:rPr lang="en-US" dirty="0"/>
              <a:t>("..."), use consistent filenames, and check that every expected figure or table is actually produced when you rerun the script.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4B36-C5EE-0AE9-FD2F-F3F528C3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04 Review Recurring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16E0D-C587-1756-BBA5-F34A66C0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Raster metadata really matters. Please always record source, units, time period, CRS, extent, and resolution before combining predictors.</a:t>
            </a:r>
          </a:p>
          <a:p>
            <a:pPr lvl="0"/>
            <a:r>
              <a:rPr lang="en-US" dirty="0"/>
              <a:t>Layers cannot be stacked just because they cover the same region. Check CRS, extent, resolution, and alignment first.</a:t>
            </a:r>
          </a:p>
          <a:p>
            <a:pPr lvl="0"/>
            <a:r>
              <a:rPr lang="en-US" dirty="0"/>
              <a:t>Resampling aligns grids; it does not create new environmental detail.</a:t>
            </a:r>
          </a:p>
          <a:p>
            <a:pPr lvl="0"/>
            <a:r>
              <a:rPr lang="en-US" dirty="0"/>
              <a:t>An NA after extraction is a diagnostic signal. Check location, CRS, raster extent, and whether the cell genuinely has no data before removing a record.</a:t>
            </a:r>
          </a:p>
          <a:p>
            <a:pPr lvl="0"/>
            <a:r>
              <a:rPr lang="en-US" dirty="0"/>
              <a:t>Transformations should have a reason. A log transformation changes the scale; document why it is useful and retain the original layer.</a:t>
            </a:r>
          </a:p>
        </p:txBody>
      </p:sp>
    </p:spTree>
    <p:extLst>
      <p:ext uri="{BB962C8B-B14F-4D97-AF65-F5344CB8AC3E}">
        <p14:creationId xmlns:p14="http://schemas.microsoft.com/office/powerpoint/2010/main" val="164016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A7B2-0044-8BD6-4901-4E6FCFDA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04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BBCBD-35B7-3162-4154-CED826BA2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project data need the same attention as the course example. The independent portion is not just practice loading a raster, it is preparation for making defensible predictor choices in your project.</a:t>
            </a:r>
          </a:p>
          <a:p>
            <a:r>
              <a:rPr lang="en-US" dirty="0"/>
              <a:t>Review the individual feedback that I left for you as an “Issue” in </a:t>
            </a:r>
            <a:r>
              <a:rPr lang="en-US" dirty="0" err="1"/>
              <a:t>Github</a:t>
            </a:r>
            <a:r>
              <a:rPr lang="en-US" dirty="0"/>
              <a:t>. You can respond to me there if you have a question, or you can close the issue, commit and push when you are done with it.</a:t>
            </a:r>
          </a:p>
          <a:p>
            <a:r>
              <a:rPr lang="en-US" dirty="0"/>
              <a:t>Before I assign grades, I would like to give you a chance to revise/finish your Lab 04.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6579-5FA2-7921-C924-59A54374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24F03-DA5F-99F5-1383-B81D139CD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These show promising, biologically interesting projects with clear conservation or ecological relevance!</a:t>
            </a:r>
          </a:p>
          <a:p>
            <a:r>
              <a:rPr lang="en-US" dirty="0"/>
              <a:t>Across the class, you are asking good questions about invasive species, marine habitat suitability, disease ecology, wildlife conservation, plant habitat, and historical distributions.</a:t>
            </a:r>
          </a:p>
          <a:p>
            <a:r>
              <a:rPr lang="en-US" dirty="0"/>
              <a:t>A major strength is that most plans move beyond “where does the species occur?” and instead identify a specific modeling purpose: estimating relative suitability, screening risk, comparing regions, or projecting to a new area or time period. </a:t>
            </a:r>
          </a:p>
          <a:p>
            <a:r>
              <a:rPr lang="en-US" dirty="0"/>
              <a:t>Most of you also made a serious effort to define M, explain occurrence-data limitations, and select predictors for ecological, not just convenient, reasons.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5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8CDE-1623-40AB-44AC-FBAEE0FA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C1C5-4B2C-E67E-808D-662DC883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Plan (uploaded on GitHub and Canvas)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65D0-6262-F840-5051-CCB49323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dirty="0"/>
              <a:t>This plan is about how we will turn occurrence and environmental data into a model, evaluate whether it is useful, test whether its conclusions depend on assumptions, and interpret the outputs cautiously.</a:t>
            </a:r>
          </a:p>
          <a:p>
            <a:pPr marL="0" lvl="0" indent="0">
              <a:buNone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outcome do you want the model to support and what can it not establish?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will you use for your final modeling data including occurrences, M, predictors, background, and bias correction?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is your primary model choice and at least one comparison model/configuration?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How will you control complexity and avoid overfitting?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How will you evaluate models, preferably with spatial structure?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Which assumptions will you vary for robustness analysis?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What maps, response curves, evaluation tables, or uncertainty outputs do you expect?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How will the work be organized so it is reproducible and feasible?</a:t>
            </a:r>
          </a:p>
        </p:txBody>
      </p:sp>
    </p:spTree>
    <p:extLst>
      <p:ext uri="{BB962C8B-B14F-4D97-AF65-F5344CB8AC3E}">
        <p14:creationId xmlns:p14="http://schemas.microsoft.com/office/powerpoint/2010/main" val="147940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9764-C7A0-CB16-531E-4E1036E6C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899" y="2005566"/>
            <a:ext cx="3267075" cy="857250"/>
          </a:xfrm>
        </p:spPr>
        <p:txBody>
          <a:bodyPr/>
          <a:lstStyle/>
          <a:p>
            <a:r>
              <a:rPr lang="en-US" dirty="0"/>
              <a:t>Brief lecture points</a:t>
            </a:r>
          </a:p>
        </p:txBody>
      </p:sp>
    </p:spTree>
    <p:extLst>
      <p:ext uri="{BB962C8B-B14F-4D97-AF65-F5344CB8AC3E}">
        <p14:creationId xmlns:p14="http://schemas.microsoft.com/office/powerpoint/2010/main" val="33142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8247-9B04-F072-6FFF-EE6C7A95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Peterson et al. Chapter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F5D9-8804-001D-534F-80CD717A5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9292"/>
            <a:ext cx="7915275" cy="326533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Ch 8’s main distinction is that the potential distribution and occupied distribution are not necessarily the same. Why?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 species may fail to occupy otherwise suitable areas because of movement constraints or biotic interactions, so a niche-model prediction should not be interpreted as the observed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97921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6631-2265-465A-32A3-D91F4DE8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niche model to geographic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68CD-8AA1-9B91-DEC6-341DE6C6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model environmental relationships in E-space</a:t>
            </a:r>
          </a:p>
          <a:p>
            <a:pPr lvl="0"/>
            <a:r>
              <a:rPr lang="en-US" dirty="0"/>
              <a:t>project them into G-space</a:t>
            </a:r>
          </a:p>
          <a:p>
            <a:pPr lvl="0"/>
            <a:r>
              <a:rPr lang="en-US" dirty="0"/>
              <a:t>predicted suitable area ≠ necessarily occupied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66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BA19-582F-93E2-E2EA-33D717F5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suitable ≠ occupied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9018-71EB-FEDF-7F87-37CD82EF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dispersal limitation / M</a:t>
            </a:r>
          </a:p>
          <a:p>
            <a:pPr lvl="0"/>
            <a:r>
              <a:rPr lang="en-US" dirty="0"/>
              <a:t>biotic interactions / B</a:t>
            </a:r>
          </a:p>
          <a:p>
            <a:pPr lvl="0"/>
            <a:r>
              <a:rPr lang="en-US" dirty="0"/>
              <a:t>sampling may not capture the full environmental breadth of the species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13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4696-066C-37E1-0A1A-5CB4ABB7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274" y="1657349"/>
            <a:ext cx="5267325" cy="1438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Lab 05: Getting started</a:t>
            </a:r>
            <a:br>
              <a:rPr lang="en-US" dirty="0"/>
            </a:br>
            <a:r>
              <a:rPr lang="en-US" dirty="0"/>
              <a:t>Tuesdy (getting and vetting occurrences)</a:t>
            </a:r>
            <a:br>
              <a:rPr lang="en-US" dirty="0"/>
            </a:br>
            <a:r>
              <a:rPr lang="en-US" dirty="0"/>
              <a:t>Thursday (first simple model)</a:t>
            </a:r>
          </a:p>
        </p:txBody>
      </p:sp>
    </p:spTree>
    <p:extLst>
      <p:ext uri="{BB962C8B-B14F-4D97-AF65-F5344CB8AC3E}">
        <p14:creationId xmlns:p14="http://schemas.microsoft.com/office/powerpoint/2010/main" val="321744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8824-158C-C316-0A4A-98CB6271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05 Project Occurrence Data Audit and 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BBEF-3D81-939C-6AF1-97FEC6FCC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A. Obtain and preserve your project occurrences</a:t>
            </a:r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r>
              <a:rPr lang="en-US" dirty="0"/>
              <a:t>You will:</a:t>
            </a:r>
          </a:p>
          <a:p>
            <a:pPr lvl="2"/>
            <a:r>
              <a:rPr lang="en-US" dirty="0"/>
              <a:t>obtain the occurrence dataset proposed in your Data Plan;</a:t>
            </a:r>
          </a:p>
          <a:p>
            <a:pPr lvl="2"/>
            <a:r>
              <a:rPr lang="en-US" dirty="0"/>
              <a:t>save the </a:t>
            </a:r>
            <a:r>
              <a:rPr lang="en-US" b="1" dirty="0"/>
              <a:t>original download unchanged</a:t>
            </a:r>
            <a:r>
              <a:rPr lang="en-US" dirty="0"/>
              <a:t> in your data folder;</a:t>
            </a:r>
          </a:p>
          <a:p>
            <a:pPr lvl="2"/>
            <a:r>
              <a:rPr lang="en-US" dirty="0"/>
              <a:t>document source, query/taxon, download date;</a:t>
            </a:r>
          </a:p>
          <a:p>
            <a:pPr lvl="2"/>
            <a:r>
              <a:rPr lang="en-US" dirty="0"/>
              <a:t>report the raw number of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17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1F69-93DB-7FBB-F4DA-30CCCB17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05 Project Occurrence Data Audit and 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0EE3-3394-2B52-A803-CEA5F65B8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8229600" cy="369990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Part B. Audit the occurrence data</a:t>
            </a:r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r>
              <a:rPr lang="en-US" dirty="0"/>
              <a:t>Inspect:</a:t>
            </a:r>
          </a:p>
          <a:p>
            <a:pPr lvl="2"/>
            <a:r>
              <a:rPr lang="en-US" dirty="0"/>
              <a:t>missing coordinates</a:t>
            </a:r>
          </a:p>
          <a:p>
            <a:pPr lvl="2"/>
            <a:r>
              <a:rPr lang="en-US" dirty="0"/>
              <a:t>longitude/latitude ranges</a:t>
            </a:r>
          </a:p>
          <a:p>
            <a:pPr lvl="2"/>
            <a:r>
              <a:rPr lang="en-US" dirty="0"/>
              <a:t>duplicates</a:t>
            </a:r>
          </a:p>
          <a:p>
            <a:pPr lvl="2"/>
            <a:r>
              <a:rPr lang="en-US" dirty="0"/>
              <a:t>coordinate uncertainty if available</a:t>
            </a:r>
          </a:p>
          <a:p>
            <a:pPr lvl="2"/>
            <a:r>
              <a:rPr lang="en-US" dirty="0"/>
              <a:t>year/date</a:t>
            </a:r>
          </a:p>
          <a:p>
            <a:pPr lvl="2"/>
            <a:r>
              <a:rPr lang="en-US" dirty="0"/>
              <a:t>taxonomy / scientific name</a:t>
            </a:r>
          </a:p>
          <a:p>
            <a:pPr lvl="2"/>
            <a:r>
              <a:rPr lang="en-US" dirty="0"/>
              <a:t>geographic outliers</a:t>
            </a:r>
          </a:p>
          <a:p>
            <a:pPr lvl="2"/>
            <a:r>
              <a:rPr lang="en-US" dirty="0"/>
              <a:t>records outside the intended geographic scope</a:t>
            </a:r>
          </a:p>
          <a:p>
            <a:pPr lvl="2"/>
            <a:r>
              <a:rPr lang="en-US" dirty="0"/>
              <a:t>records outside the intended temporal scope</a:t>
            </a:r>
          </a:p>
          <a:p>
            <a:pPr lvl="2"/>
            <a:r>
              <a:rPr lang="en-US" dirty="0"/>
              <a:t>obvious clustering / sampling bias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48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8059-1A06-8B08-7FB2-1EC73F52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05 Project Occurrence Data Audit and First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74EEAA-834B-4C9A-D1FA-C27DCE32C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178448"/>
              </p:ext>
            </p:extLst>
          </p:nvPr>
        </p:nvGraphicFramePr>
        <p:xfrm>
          <a:off x="457200" y="2161381"/>
          <a:ext cx="82296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34824472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369192198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418306064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095138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Records affected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97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Outside study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outside project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52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Before 1970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incompatible with climate period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44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coordinates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investigate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may represent repeat observations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49725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2605AF-9078-9AA3-8DD2-43D4B82E139D}"/>
              </a:ext>
            </a:extLst>
          </p:cNvPr>
          <p:cNvSpPr txBox="1">
            <a:spLocks/>
          </p:cNvSpPr>
          <p:nvPr/>
        </p:nvSpPr>
        <p:spPr>
          <a:xfrm>
            <a:off x="190500" y="1524157"/>
            <a:ext cx="8229600" cy="442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buNone/>
            </a:pPr>
            <a:r>
              <a:rPr lang="en-US" dirty="0"/>
              <a:t>Create a small occurrence decision table:</a:t>
            </a:r>
          </a:p>
        </p:txBody>
      </p:sp>
    </p:spTree>
    <p:extLst>
      <p:ext uri="{BB962C8B-B14F-4D97-AF65-F5344CB8AC3E}">
        <p14:creationId xmlns:p14="http://schemas.microsoft.com/office/powerpoint/2010/main" val="2033768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9AA4-1EA1-E87D-33C9-E3291D5D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4A40-922B-93EB-5FCC-94F17243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05 Project Occurrence Data Audit and 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4A6B-A1D9-9929-1476-53F42C39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Part C — Map before and after filtering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Make a map showing:</a:t>
            </a:r>
          </a:p>
          <a:p>
            <a:pPr lvl="1"/>
            <a:r>
              <a:rPr lang="en-US" dirty="0"/>
              <a:t>raw occurrences</a:t>
            </a:r>
          </a:p>
          <a:p>
            <a:pPr lvl="1"/>
            <a:r>
              <a:rPr lang="en-US" dirty="0"/>
              <a:t>retained occurrences</a:t>
            </a:r>
          </a:p>
          <a:p>
            <a:pPr lvl="1"/>
            <a:r>
              <a:rPr lang="en-US" dirty="0"/>
              <a:t>current M hypothesis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DEF72-B1CA-86CD-5A0B-5A24D9120CD4}"/>
              </a:ext>
            </a:extLst>
          </p:cNvPr>
          <p:cNvSpPr txBox="1"/>
          <p:nvPr/>
        </p:nvSpPr>
        <p:spPr>
          <a:xfrm>
            <a:off x="4572000" y="2151469"/>
            <a:ext cx="37909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What did your filtering change geographically?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Where do you see evidence of uneven sampling?</a:t>
            </a:r>
          </a:p>
        </p:txBody>
      </p:sp>
    </p:spTree>
    <p:extLst>
      <p:ext uri="{BB962C8B-B14F-4D97-AF65-F5344CB8AC3E}">
        <p14:creationId xmlns:p14="http://schemas.microsoft.com/office/powerpoint/2010/main" val="1401964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0756-2723-0922-9F37-E86E8F1C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74FC-AE29-4769-3486-4C04E3A41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25146</TotalTime>
  <Words>1051</Words>
  <Application>Microsoft Macintosh PowerPoint</Application>
  <PresentationFormat>On-screen Show (16:9)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Week 8. From Data to Model</vt:lpstr>
      <vt:lpstr>Welcome, hello, any announcements?</vt:lpstr>
      <vt:lpstr>Upcoming Project Milestones</vt:lpstr>
      <vt:lpstr>Class Plan</vt:lpstr>
      <vt:lpstr>Lab 04 Review</vt:lpstr>
      <vt:lpstr>Lab 04 Review and Reproducibility</vt:lpstr>
      <vt:lpstr>Lab 04 Review Recurring Ideas</vt:lpstr>
      <vt:lpstr>Lab 04 Revision</vt:lpstr>
      <vt:lpstr>Data Plan</vt:lpstr>
      <vt:lpstr>Modeling Plan (uploaded on GitHub and Canvas)</vt:lpstr>
      <vt:lpstr>Brief lecture points</vt:lpstr>
      <vt:lpstr>Peterson et al. Chapter 8</vt:lpstr>
      <vt:lpstr>From niche model to geographic distribution</vt:lpstr>
      <vt:lpstr>Why suitable ≠ occupied</vt:lpstr>
      <vt:lpstr>Lab 05: Getting started Tuesdy (getting and vetting occurrences) Thursday (first simple model)</vt:lpstr>
      <vt:lpstr>Lab 05 Project Occurrence Data Audit and First Model</vt:lpstr>
      <vt:lpstr>Lab 05 Project Occurrence Data Audit and First Model</vt:lpstr>
      <vt:lpstr>Lab 05 Project Occurrence Data Audit and First Model</vt:lpstr>
      <vt:lpstr>Lab 05 Project Occurrence Data Audit and First Model</vt:lpstr>
      <vt:lpstr>PowerPoint Presentation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1091</cp:revision>
  <dcterms:created xsi:type="dcterms:W3CDTF">2014-08-30T17:37:24Z</dcterms:created>
  <dcterms:modified xsi:type="dcterms:W3CDTF">2026-10-13T19:28:22Z</dcterms:modified>
</cp:coreProperties>
</file>