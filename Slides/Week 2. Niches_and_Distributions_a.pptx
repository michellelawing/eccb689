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515" r:id="rId3"/>
    <p:sldId id="529" r:id="rId4"/>
    <p:sldId id="514" r:id="rId5"/>
    <p:sldId id="524" r:id="rId6"/>
    <p:sldId id="525" r:id="rId7"/>
    <p:sldId id="530" r:id="rId8"/>
    <p:sldId id="517" r:id="rId9"/>
    <p:sldId id="518" r:id="rId10"/>
    <p:sldId id="519" r:id="rId11"/>
    <p:sldId id="520" r:id="rId12"/>
    <p:sldId id="521" r:id="rId13"/>
    <p:sldId id="526" r:id="rId14"/>
    <p:sldId id="522" r:id="rId15"/>
    <p:sldId id="516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A6E93F3-11AD-C848-9581-61FF99ABE858}">
          <p14:sldIdLst>
            <p14:sldId id="256"/>
            <p14:sldId id="515"/>
            <p14:sldId id="529"/>
            <p14:sldId id="514"/>
            <p14:sldId id="524"/>
            <p14:sldId id="525"/>
            <p14:sldId id="530"/>
            <p14:sldId id="517"/>
            <p14:sldId id="518"/>
            <p14:sldId id="519"/>
            <p14:sldId id="520"/>
            <p14:sldId id="521"/>
            <p14:sldId id="526"/>
            <p14:sldId id="522"/>
            <p14:sldId id="51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nna Lawing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0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17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928" y="16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2D4AE1-BD9C-1741-B132-ACC4FD870A3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52F900-87CF-6E4F-9FCE-F0A8E37B2F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8404FB-D815-9B49-9DBC-B684E3C0E790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9167D0-463A-4043-821F-310E6E04806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556C2-9555-094A-9761-17FDE74E664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95A322-2EE7-5046-A0D8-D3FF3645CA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6563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AC5A93-540D-2443-A380-5679C155FF14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0A90D5-3B1D-1149-800E-15EBB2932B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365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793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699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590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436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905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6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834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741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507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324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596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938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72388"/>
            <a:ext cx="8229600" cy="4353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749143" y="92075"/>
            <a:ext cx="21729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Calibri"/>
                <a:ea typeface="+mn-ea"/>
                <a:cs typeface="Calibri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dirty="0">
                <a:solidFill>
                  <a:schemeClr val="bg1">
                    <a:lumMod val="50000"/>
                  </a:schemeClr>
                </a:solidFill>
              </a:rPr>
              <a:t>ESSM</a:t>
            </a:r>
            <a:r>
              <a:rPr lang="en-US" sz="1000" baseline="0" dirty="0">
                <a:solidFill>
                  <a:schemeClr val="bg1">
                    <a:lumMod val="50000"/>
                  </a:schemeClr>
                </a:solidFill>
              </a:rPr>
              <a:t> 689 Modeling Ecological Niches</a:t>
            </a:r>
          </a:p>
          <a:p>
            <a:r>
              <a:rPr lang="en-US" sz="1000" baseline="0" dirty="0">
                <a:solidFill>
                  <a:schemeClr val="bg1">
                    <a:lumMod val="50000"/>
                  </a:schemeClr>
                </a:solidFill>
              </a:rPr>
              <a:t>and Species’ Geographic Distributions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94236" y="92075"/>
            <a:ext cx="34176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Calibri"/>
                <a:ea typeface="+mn-ea"/>
                <a:cs typeface="Calibri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Ecology and Conservation Biology | </a:t>
            </a:r>
            <a:r>
              <a:rPr lang="en-US" dirty="0">
                <a:solidFill>
                  <a:srgbClr val="800000"/>
                </a:solidFill>
              </a:rPr>
              <a:t>Texas A&amp;M University</a:t>
            </a:r>
          </a:p>
        </p:txBody>
      </p:sp>
    </p:spTree>
    <p:extLst>
      <p:ext uri="{BB962C8B-B14F-4D97-AF65-F5344CB8AC3E}">
        <p14:creationId xmlns:p14="http://schemas.microsoft.com/office/powerpoint/2010/main" val="1907738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rgbClr val="800000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78086" y="1958975"/>
            <a:ext cx="6157748" cy="1470025"/>
          </a:xfrm>
        </p:spPr>
        <p:txBody>
          <a:bodyPr>
            <a:normAutofit/>
          </a:bodyPr>
          <a:lstStyle/>
          <a:p>
            <a:r>
              <a:rPr lang="en-US" sz="3200" dirty="0"/>
              <a:t>Week 2. Niches and Distributions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67368" y="3848685"/>
            <a:ext cx="3101830" cy="1335767"/>
          </a:xfrm>
        </p:spPr>
        <p:txBody>
          <a:bodyPr>
            <a:normAutofit/>
          </a:bodyPr>
          <a:lstStyle/>
          <a:p>
            <a:r>
              <a:rPr lang="en-US" sz="1600" dirty="0">
                <a:solidFill>
                  <a:srgbClr val="800000"/>
                </a:solidFill>
              </a:rPr>
              <a:t>A. Michelle Lawing, PhD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Associate Professor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Paleobiology, Evolution, and Climate Lab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Ecology and Conservation Biology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Texas A&amp;M University</a:t>
            </a:r>
          </a:p>
          <a:p>
            <a:pPr>
              <a:spcBef>
                <a:spcPts val="0"/>
              </a:spcBef>
            </a:pPr>
            <a:r>
              <a:rPr lang="en-US" sz="1200" dirty="0" err="1">
                <a:solidFill>
                  <a:schemeClr val="tx1"/>
                </a:solidFill>
              </a:rPr>
              <a:t>alawing@tamu.edu</a:t>
            </a:r>
            <a:endParaRPr lang="en-US" sz="1200" dirty="0">
              <a:solidFill>
                <a:schemeClr val="tx1"/>
              </a:solidFill>
            </a:endParaRPr>
          </a:p>
          <a:p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C58BC3-E640-0E45-9747-378B1AB6A77A}"/>
              </a:ext>
            </a:extLst>
          </p:cNvPr>
          <p:cNvSpPr/>
          <p:nvPr/>
        </p:nvSpPr>
        <p:spPr>
          <a:xfrm>
            <a:off x="615929" y="6130017"/>
            <a:ext cx="761990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Peterson, A.T.,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</a:rPr>
              <a:t>Soberón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, J., Pearson, R.G., Anderson, R.P., Martínez-Meyer, E., Nakamura, M. and Araújo, M.B., 2011. </a:t>
            </a:r>
            <a:r>
              <a:rPr lang="en-US" sz="1200" i="1" dirty="0">
                <a:solidFill>
                  <a:schemeClr val="bg1">
                    <a:lumMod val="50000"/>
                  </a:schemeClr>
                </a:solidFill>
              </a:rPr>
              <a:t>Ecological niches and geographic distributions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(Vol. 49). Princeton University Press.</a:t>
            </a:r>
          </a:p>
        </p:txBody>
      </p:sp>
    </p:spTree>
    <p:extLst>
      <p:ext uri="{BB962C8B-B14F-4D97-AF65-F5344CB8AC3E}">
        <p14:creationId xmlns:p14="http://schemas.microsoft.com/office/powerpoint/2010/main" val="3104773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90A04-CC46-81EB-10DB-8BF42B5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0" y="2708644"/>
            <a:ext cx="3657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Welcome, hello, any announcements?</a:t>
            </a:r>
          </a:p>
        </p:txBody>
      </p:sp>
    </p:spTree>
    <p:extLst>
      <p:ext uri="{BB962C8B-B14F-4D97-AF65-F5344CB8AC3E}">
        <p14:creationId xmlns:p14="http://schemas.microsoft.com/office/powerpoint/2010/main" val="1826526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2852B-AA6A-EE17-CBFB-ECA203FAE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Workshop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44A87-2B6A-8153-9CC2-9F7A982231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US" dirty="0"/>
              <a:t>Last week moved quickly, and Lab 01 took longer than I anticipated</a:t>
            </a:r>
          </a:p>
          <a:p>
            <a:pPr lvl="0"/>
            <a:r>
              <a:rPr lang="en-US" dirty="0"/>
              <a:t>I want to provide some dedicated class time today to address questions, troubleshoot, and revise your work</a:t>
            </a:r>
          </a:p>
          <a:p>
            <a:pPr lvl="0"/>
            <a:r>
              <a:rPr lang="en-US" dirty="0"/>
              <a:t>Class work is code-based and iterative, so I’m wanting to get us set up with a simple workspace and workflow to code, track changes, document decisions, and share work</a:t>
            </a:r>
          </a:p>
          <a:p>
            <a:pPr lvl="0"/>
            <a:r>
              <a:rPr lang="en-US" dirty="0"/>
              <a:t>So RStudio, Git, GitHub Desktop, and GitHub</a:t>
            </a:r>
          </a:p>
        </p:txBody>
      </p:sp>
    </p:spTree>
    <p:extLst>
      <p:ext uri="{BB962C8B-B14F-4D97-AF65-F5344CB8AC3E}">
        <p14:creationId xmlns:p14="http://schemas.microsoft.com/office/powerpoint/2010/main" val="1279127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63A30-1780-5937-E856-89F2E8552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A0307-79AE-61F3-A7AF-66C33C0C2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7468E-DFB5-9223-01DC-321D344FD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</a:t>
            </a:r>
          </a:p>
          <a:p>
            <a:pPr lvl="1"/>
            <a:r>
              <a:rPr lang="en-US" dirty="0"/>
              <a:t>Discuss programs and workflow for Lab 01</a:t>
            </a:r>
          </a:p>
          <a:p>
            <a:pPr lvl="1"/>
            <a:r>
              <a:rPr lang="en-US" dirty="0"/>
              <a:t>Workshop to revise and resubmit Lab 01</a:t>
            </a:r>
          </a:p>
          <a:p>
            <a:r>
              <a:rPr lang="en-US" dirty="0"/>
              <a:t>Read Peterson Chapter 3 by Thursday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870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1A3D8-8717-698C-D115-07CB7A738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Git, GitHub Desktop, and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3D075-9BCE-E8CB-B7A9-162669794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b="1" dirty="0"/>
              <a:t>R Project folder </a:t>
            </a:r>
            <a:r>
              <a:rPr lang="en-US" dirty="0"/>
              <a:t>is where your code, data, README, and outputs exist on your personal computer</a:t>
            </a:r>
          </a:p>
          <a:p>
            <a:pPr lvl="0"/>
            <a:r>
              <a:rPr lang="en-US" b="1" dirty="0"/>
              <a:t>Git</a:t>
            </a:r>
            <a:r>
              <a:rPr lang="en-US" dirty="0"/>
              <a:t> is a version tracker that records snapshots of changes in that folder (called a repository)</a:t>
            </a:r>
          </a:p>
          <a:p>
            <a:pPr lvl="0"/>
            <a:r>
              <a:rPr lang="en-US" b="1" dirty="0"/>
              <a:t>GitHub Desktop </a:t>
            </a:r>
            <a:r>
              <a:rPr lang="en-US" dirty="0"/>
              <a:t>is the application that helps you easily commit and push to your online repository to share your work</a:t>
            </a:r>
          </a:p>
          <a:p>
            <a:pPr lvl="0"/>
            <a:r>
              <a:rPr lang="en-US" b="1" dirty="0"/>
              <a:t>GitHub</a:t>
            </a:r>
            <a:r>
              <a:rPr lang="en-US" dirty="0"/>
              <a:t> is the online repository you can share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386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8B294-A3EF-8560-50EE-2434694FB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basic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B41A4-62E5-B4C9-87D5-ECDC9CBB38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lvl="0" indent="-514350">
              <a:buFont typeface="+mj-lt"/>
              <a:buAutoNum type="arabicPeriod"/>
            </a:pPr>
            <a:r>
              <a:rPr lang="en-US" dirty="0"/>
              <a:t>Edit and save your script, README, or output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Check that the script runs fully from the top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In GitHub Desktop, review the changed files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Commit - save a named snapshot locally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Push - send that commit to GitHub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Open GitHub in a browser and confirm the files are there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821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264A0-4481-96EB-FD04-26C36DD1F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B6C5-8EE8-7166-489A-D3FC14CAD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Pulling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CF4E2-10B4-CCF5-DBFA-733238A844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Pull brings changes from the GitHub version of your repository into the copy on your computer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</a:t>
            </a:r>
            <a:r>
              <a:rPr lang="en-US" dirty="0" err="1"/>
              <a:t>Github</a:t>
            </a:r>
            <a:r>
              <a:rPr lang="en-US" dirty="0"/>
              <a:t> Desktop, select the correct repository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Click Fetch origin to check for online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changes are available, click Pull origin.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Open the project in RStudio and confirm the new files are present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Good habitats to start - pull before you start working and commit/push when you are done</a:t>
            </a:r>
          </a:p>
        </p:txBody>
      </p:sp>
    </p:spTree>
    <p:extLst>
      <p:ext uri="{BB962C8B-B14F-4D97-AF65-F5344CB8AC3E}">
        <p14:creationId xmlns:p14="http://schemas.microsoft.com/office/powerpoint/2010/main" val="1158759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928C0-F9FA-7D26-F693-2BF7F8E76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DAF11F-E788-00B7-AEA5-4C71DE403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Four parts to consider </a:t>
            </a:r>
          </a:p>
          <a:p>
            <a:r>
              <a:rPr lang="en-US" sz="2400" b="1" dirty="0"/>
              <a:t>Project:</a:t>
            </a:r>
            <a:r>
              <a:rPr lang="en-US" sz="2400" dirty="0"/>
              <a:t> establishes the working folder</a:t>
            </a:r>
          </a:p>
          <a:p>
            <a:pPr lvl="0"/>
            <a:r>
              <a:rPr lang="en-US" sz="2400" b="1" dirty="0"/>
              <a:t>Script: </a:t>
            </a:r>
            <a:r>
              <a:rPr lang="en-US" sz="2400" dirty="0"/>
              <a:t>saved, reproducible instructions</a:t>
            </a:r>
          </a:p>
          <a:p>
            <a:pPr lvl="0"/>
            <a:r>
              <a:rPr lang="en-US" sz="2400" b="1" dirty="0"/>
              <a:t>Console: </a:t>
            </a:r>
            <a:r>
              <a:rPr lang="en-US" sz="2400" dirty="0"/>
              <a:t>temporary place where code runs</a:t>
            </a:r>
          </a:p>
          <a:p>
            <a:pPr lvl="0"/>
            <a:r>
              <a:rPr lang="en-US" sz="2400" b="1" dirty="0"/>
              <a:t>Files pane: </a:t>
            </a:r>
            <a:r>
              <a:rPr lang="en-US" sz="2400" dirty="0"/>
              <a:t>shows data, outputs, and project files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Write and save code in the script, then run it from the script. Results and errors show up in the console.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786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EFDC6-B387-3623-92FB-2805122D6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 and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FB1AD-F3FE-14E3-F9CB-37FD66855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 err="1">
                <a:solidFill>
                  <a:schemeClr val="tx2"/>
                </a:solidFill>
              </a:rPr>
              <a:t>occ_raw</a:t>
            </a:r>
            <a:r>
              <a:rPr lang="en-US" sz="2400" dirty="0">
                <a:solidFill>
                  <a:schemeClr val="tx2"/>
                </a:solidFill>
              </a:rPr>
              <a:t> &lt;- </a:t>
            </a:r>
            <a:r>
              <a:rPr lang="en-US" sz="2400" dirty="0" err="1">
                <a:solidFill>
                  <a:schemeClr val="tx2"/>
                </a:solidFill>
              </a:rPr>
              <a:t>read.csv</a:t>
            </a:r>
            <a:r>
              <a:rPr lang="en-US" sz="2400" dirty="0">
                <a:solidFill>
                  <a:schemeClr val="tx2"/>
                </a:solidFill>
              </a:rPr>
              <a:t>("data/</a:t>
            </a:r>
            <a:r>
              <a:rPr lang="en-US" sz="2400" dirty="0" err="1">
                <a:solidFill>
                  <a:schemeClr val="tx2"/>
                </a:solidFill>
              </a:rPr>
              <a:t>crotalus_triseriatus_gbif_raw.csv</a:t>
            </a:r>
            <a:r>
              <a:rPr lang="en-US" sz="2400" dirty="0">
                <a:solidFill>
                  <a:schemeClr val="tx2"/>
                </a:solidFill>
              </a:rPr>
              <a:t>")</a:t>
            </a:r>
          </a:p>
          <a:p>
            <a:pPr marL="0" indent="0">
              <a:buNone/>
            </a:pPr>
            <a:endParaRPr lang="en-US" sz="2400" dirty="0"/>
          </a:p>
          <a:p>
            <a:pPr lvl="0"/>
            <a:r>
              <a:rPr lang="en-US" sz="2400" dirty="0" err="1"/>
              <a:t>occ_raw</a:t>
            </a:r>
            <a:r>
              <a:rPr lang="en-US" sz="2400" dirty="0"/>
              <a:t> is the object name</a:t>
            </a:r>
          </a:p>
          <a:p>
            <a:pPr lvl="0"/>
            <a:r>
              <a:rPr lang="en-US" sz="2400" dirty="0"/>
              <a:t>&lt;- assigns the result to that object</a:t>
            </a:r>
          </a:p>
          <a:p>
            <a:pPr lvl="0"/>
            <a:r>
              <a:rPr lang="en-US" sz="2400" dirty="0" err="1"/>
              <a:t>read.csv</a:t>
            </a:r>
            <a:r>
              <a:rPr lang="en-US" sz="2400" dirty="0"/>
              <a:t>() is a function</a:t>
            </a:r>
          </a:p>
          <a:p>
            <a:pPr lvl="0"/>
            <a:r>
              <a:rPr lang="en-US" sz="2400" dirty="0"/>
              <a:t>Text in quotation marks is a file path</a:t>
            </a:r>
          </a:p>
          <a:p>
            <a:r>
              <a:rPr lang="en-US" sz="2400" dirty="0"/>
              <a:t>After this line runs in the console, </a:t>
            </a:r>
            <a:r>
              <a:rPr lang="en-US" sz="2400" dirty="0" err="1"/>
              <a:t>occ_raw</a:t>
            </a:r>
            <a:r>
              <a:rPr lang="en-US" sz="2400" dirty="0"/>
              <a:t> is a data frame with 714 records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487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35390-0A0F-57DE-E559-0703034BD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Understanding the data content and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02818E-AFD8-C32C-DB68-EFBBF8EA1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dim(</a:t>
            </a: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)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names(</a:t>
            </a: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)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str(</a:t>
            </a: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)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head(</a:t>
            </a: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)</a:t>
            </a:r>
          </a:p>
          <a:p>
            <a:endParaRPr lang="en-US" dirty="0"/>
          </a:p>
          <a:p>
            <a:pPr lvl="0"/>
            <a:r>
              <a:rPr lang="en-US" dirty="0"/>
              <a:t>dim() — How many rows and columns?</a:t>
            </a:r>
          </a:p>
          <a:p>
            <a:pPr lvl="0"/>
            <a:r>
              <a:rPr lang="en-US" dirty="0"/>
              <a:t>names() — What variables are available?</a:t>
            </a:r>
          </a:p>
          <a:p>
            <a:pPr lvl="0"/>
            <a:r>
              <a:rPr lang="en-US" dirty="0"/>
              <a:t>str() — What type of data is each variable?</a:t>
            </a:r>
          </a:p>
          <a:p>
            <a:pPr lvl="0"/>
            <a:r>
              <a:rPr lang="en-US" dirty="0"/>
              <a:t>head() — What do the first rows look like?</a:t>
            </a:r>
          </a:p>
        </p:txBody>
      </p:sp>
    </p:spTree>
    <p:extLst>
      <p:ext uri="{BB962C8B-B14F-4D97-AF65-F5344CB8AC3E}">
        <p14:creationId xmlns:p14="http://schemas.microsoft.com/office/powerpoint/2010/main" val="2366351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58282-1C72-C4BE-F050-2695BABA9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QC is easiest as a logical TRUE/FALSE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FABC4-7A3D-BCA4-A1B7-E02CC130B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tx2"/>
                </a:solidFill>
              </a:rPr>
              <a:t>keep_coordinates</a:t>
            </a:r>
            <a:r>
              <a:rPr lang="en-US" dirty="0">
                <a:solidFill>
                  <a:schemeClr val="tx2"/>
                </a:solidFill>
              </a:rPr>
              <a:t> &lt;- !</a:t>
            </a:r>
            <a:r>
              <a:rPr lang="en-US" dirty="0" err="1">
                <a:solidFill>
                  <a:schemeClr val="tx2"/>
                </a:solidFill>
              </a:rPr>
              <a:t>is.na</a:t>
            </a:r>
            <a:r>
              <a:rPr lang="en-US" dirty="0">
                <a:solidFill>
                  <a:schemeClr val="tx2"/>
                </a:solidFill>
              </a:rPr>
              <a:t>(</a:t>
            </a:r>
            <a:r>
              <a:rPr lang="en-US" dirty="0" err="1">
                <a:solidFill>
                  <a:schemeClr val="tx2"/>
                </a:solidFill>
              </a:rPr>
              <a:t>occ_raw$decimalLongitude</a:t>
            </a:r>
            <a:r>
              <a:rPr lang="en-US" dirty="0">
                <a:solidFill>
                  <a:schemeClr val="tx2"/>
                </a:solidFill>
              </a:rPr>
              <a:t>) &amp; !</a:t>
            </a:r>
            <a:r>
              <a:rPr lang="en-US" dirty="0" err="1">
                <a:solidFill>
                  <a:schemeClr val="tx2"/>
                </a:solidFill>
              </a:rPr>
              <a:t>is.na</a:t>
            </a:r>
            <a:r>
              <a:rPr lang="en-US" dirty="0">
                <a:solidFill>
                  <a:schemeClr val="tx2"/>
                </a:solidFill>
              </a:rPr>
              <a:t>(</a:t>
            </a:r>
            <a:r>
              <a:rPr lang="en-US" dirty="0" err="1">
                <a:solidFill>
                  <a:schemeClr val="tx2"/>
                </a:solidFill>
              </a:rPr>
              <a:t>occ_raw$decimalLatitude</a:t>
            </a:r>
            <a:r>
              <a:rPr lang="en-US" dirty="0">
                <a:solidFill>
                  <a:schemeClr val="tx2"/>
                </a:solidFill>
              </a:rPr>
              <a:t>)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keep &lt;- </a:t>
            </a:r>
            <a:r>
              <a:rPr lang="en-US" dirty="0" err="1">
                <a:solidFill>
                  <a:schemeClr val="tx2"/>
                </a:solidFill>
              </a:rPr>
              <a:t>keep_coordinates</a:t>
            </a:r>
            <a:r>
              <a:rPr lang="en-US" dirty="0">
                <a:solidFill>
                  <a:schemeClr val="tx2"/>
                </a:solidFill>
              </a:rPr>
              <a:t> &amp; </a:t>
            </a:r>
            <a:r>
              <a:rPr lang="en-US" dirty="0" err="1">
                <a:solidFill>
                  <a:schemeClr val="tx2"/>
                </a:solidFill>
              </a:rPr>
              <a:t>keep_second_rule</a:t>
            </a:r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tx2"/>
                </a:solidFill>
              </a:rPr>
              <a:t>occ_retained</a:t>
            </a:r>
            <a:r>
              <a:rPr lang="en-US" dirty="0">
                <a:solidFill>
                  <a:schemeClr val="tx2"/>
                </a:solidFill>
              </a:rPr>
              <a:t> &lt;- </a:t>
            </a: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[keep, ]</a:t>
            </a:r>
          </a:p>
          <a:p>
            <a:pPr marL="0" indent="0">
              <a:buNone/>
            </a:pPr>
            <a:endParaRPr lang="en-US" dirty="0">
              <a:solidFill>
                <a:schemeClr val="tx2"/>
              </a:solidFill>
            </a:endParaRPr>
          </a:p>
          <a:p>
            <a:r>
              <a:rPr lang="en-US" dirty="0"/>
              <a:t>Each row receives a TRUE or FALSE</a:t>
            </a:r>
          </a:p>
          <a:p>
            <a:pPr lvl="0"/>
            <a:r>
              <a:rPr lang="en-US" dirty="0"/>
              <a:t>TRUE = keep this record</a:t>
            </a:r>
          </a:p>
          <a:p>
            <a:pPr lvl="0"/>
            <a:r>
              <a:rPr lang="en-US" dirty="0"/>
              <a:t>FALSE = exclude this record</a:t>
            </a:r>
          </a:p>
          <a:p>
            <a:pPr lvl="0"/>
            <a:r>
              <a:rPr lang="en-US" dirty="0"/>
              <a:t>! means not, &amp; means both</a:t>
            </a:r>
          </a:p>
          <a:p>
            <a:pPr lvl="0"/>
            <a:r>
              <a:rPr lang="en-US" dirty="0" err="1"/>
              <a:t>occ_raw</a:t>
            </a:r>
            <a:r>
              <a:rPr lang="en-US" dirty="0"/>
              <a:t>[keep, ] keeps the rows marked TRUE</a:t>
            </a:r>
          </a:p>
          <a:p>
            <a:pPr marL="0" indent="0">
              <a:buNone/>
            </a:pPr>
            <a:endParaRPr lang="en-US" dirty="0">
              <a:solidFill>
                <a:schemeClr val="tx2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014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860CE-0F8B-1DF5-612E-EE7C94E6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Subsetting</a:t>
            </a:r>
            <a:r>
              <a:rPr lang="en-US" dirty="0"/>
              <a:t> (selecting part of a dataset)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D99FF-07B9-9CD9-E744-EF7F5AF73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data_frame</a:t>
            </a:r>
            <a:r>
              <a:rPr lang="en-US" dirty="0"/>
              <a:t>[ rows , columns ]</a:t>
            </a:r>
          </a:p>
          <a:p>
            <a:pPr marL="0" indent="0">
              <a:buNone/>
            </a:pPr>
            <a:endParaRPr lang="en-US" dirty="0"/>
          </a:p>
          <a:p>
            <a:pPr lvl="0"/>
            <a:r>
              <a:rPr lang="en-US" dirty="0"/>
              <a:t>Before the comma specifies which rows to output</a:t>
            </a:r>
          </a:p>
          <a:p>
            <a:pPr lvl="0"/>
            <a:r>
              <a:rPr lang="en-US" dirty="0"/>
              <a:t>After the comma specifies which columns to output</a:t>
            </a:r>
          </a:p>
          <a:p>
            <a:pPr lvl="0"/>
            <a:r>
              <a:rPr lang="en-US" dirty="0"/>
              <a:t>A blank space means “all”</a:t>
            </a:r>
          </a:p>
        </p:txBody>
      </p:sp>
    </p:spTree>
    <p:extLst>
      <p:ext uri="{BB962C8B-B14F-4D97-AF65-F5344CB8AC3E}">
        <p14:creationId xmlns:p14="http://schemas.microsoft.com/office/powerpoint/2010/main" val="1104619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B753C-72E5-5CD2-78BC-BB07ED854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E04E9-909E-CC97-85E4-6B1717BD4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Subsetting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F212A-64DF-6262-65A7-C355AD904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tx2"/>
                </a:solidFill>
              </a:rPr>
              <a:t>occ_raw$decimalLongitude</a:t>
            </a:r>
            <a:endParaRPr lang="en-US" dirty="0">
              <a:solidFill>
                <a:schemeClr val="tx2"/>
              </a:solidFill>
            </a:endParaRPr>
          </a:p>
          <a:p>
            <a:r>
              <a:rPr lang="en-US" dirty="0"/>
              <a:t>Selects one column</a:t>
            </a:r>
          </a:p>
          <a:p>
            <a:pPr marL="0" indent="0">
              <a:buNone/>
            </a:pPr>
            <a:endParaRPr lang="en-US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[ , c("species", "</a:t>
            </a:r>
            <a:r>
              <a:rPr lang="en-US" dirty="0" err="1">
                <a:solidFill>
                  <a:schemeClr val="tx2"/>
                </a:solidFill>
              </a:rPr>
              <a:t>decimalLongitude</a:t>
            </a:r>
            <a:r>
              <a:rPr lang="en-US" dirty="0">
                <a:solidFill>
                  <a:schemeClr val="tx2"/>
                </a:solidFill>
              </a:rPr>
              <a:t>", "</a:t>
            </a:r>
            <a:r>
              <a:rPr lang="en-US" dirty="0" err="1">
                <a:solidFill>
                  <a:schemeClr val="tx2"/>
                </a:solidFill>
              </a:rPr>
              <a:t>decimalLatitude</a:t>
            </a:r>
            <a:r>
              <a:rPr lang="en-US" dirty="0">
                <a:solidFill>
                  <a:schemeClr val="tx2"/>
                </a:solidFill>
              </a:rPr>
              <a:t>")]</a:t>
            </a:r>
          </a:p>
          <a:p>
            <a:r>
              <a:rPr lang="en-US" dirty="0"/>
              <a:t>Selects all rows and only the named columns</a:t>
            </a:r>
          </a:p>
          <a:p>
            <a:pPr marL="0" indent="0">
              <a:buNone/>
            </a:pPr>
            <a:endParaRPr lang="en-US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[1:6, ]</a:t>
            </a:r>
          </a:p>
          <a:p>
            <a:r>
              <a:rPr lang="en-US" dirty="0"/>
              <a:t>Selects the first six rows and all columns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 err="1">
                <a:solidFill>
                  <a:schemeClr val="tx2"/>
                </a:solidFill>
              </a:rPr>
              <a:t>occ_retained</a:t>
            </a:r>
            <a:r>
              <a:rPr lang="en-US" dirty="0">
                <a:solidFill>
                  <a:schemeClr val="tx2"/>
                </a:solidFill>
              </a:rPr>
              <a:t> &lt;- </a:t>
            </a: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[keep, ]</a:t>
            </a:r>
          </a:p>
          <a:p>
            <a:r>
              <a:rPr lang="en-US" dirty="0"/>
              <a:t>Selects only the rows where keep is TRUE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052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DDEA8-6386-E4ED-9786-FF9FE8EF0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debug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AE55E-284A-4F2C-9277-C9C7039402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When code throws an error: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Read the first error message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Identify the object or file R could not find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Rerun the line that should have created that object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Inspect it with head(), str(), or dim()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Fix one thing and retry</a:t>
            </a:r>
          </a:p>
        </p:txBody>
      </p:sp>
    </p:spTree>
    <p:extLst>
      <p:ext uri="{BB962C8B-B14F-4D97-AF65-F5344CB8AC3E}">
        <p14:creationId xmlns:p14="http://schemas.microsoft.com/office/powerpoint/2010/main" val="3669503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2ACA0-A5AE-1F70-B762-E9D9EB13B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01 Revise and Resubmit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E64F4-9258-ECD5-F490-ABF9057537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gave everyone something (even small) to revise, so you have something new to commit and push</a:t>
            </a:r>
          </a:p>
          <a:p>
            <a:endParaRPr lang="en-US" dirty="0"/>
          </a:p>
          <a:p>
            <a:r>
              <a:rPr lang="en-US" dirty="0"/>
              <a:t>Revise Lab 01</a:t>
            </a:r>
          </a:p>
          <a:p>
            <a:pPr lvl="1"/>
            <a:r>
              <a:rPr lang="en-US" dirty="0"/>
              <a:t>Check your GitHub online </a:t>
            </a:r>
          </a:p>
          <a:p>
            <a:pPr lvl="1"/>
            <a:r>
              <a:rPr lang="en-US" dirty="0"/>
              <a:t>Open your issue tracker</a:t>
            </a:r>
          </a:p>
          <a:p>
            <a:pPr lvl="1"/>
            <a:r>
              <a:rPr lang="en-US" dirty="0"/>
              <a:t>Read Lab 01 Feedback </a:t>
            </a:r>
          </a:p>
          <a:p>
            <a:pPr lvl="1"/>
            <a:r>
              <a:rPr lang="en-US" dirty="0"/>
              <a:t>Revise</a:t>
            </a:r>
          </a:p>
          <a:p>
            <a:pPr lvl="1"/>
            <a:r>
              <a:rPr lang="en-US" dirty="0"/>
              <a:t>Run</a:t>
            </a:r>
          </a:p>
          <a:p>
            <a:pPr lvl="1"/>
            <a:r>
              <a:rPr lang="en-US" dirty="0"/>
              <a:t>Commit</a:t>
            </a:r>
          </a:p>
          <a:p>
            <a:pPr lvl="1"/>
            <a:r>
              <a:rPr lang="en-US" dirty="0"/>
              <a:t>Push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9669FE-4B1F-EB01-9463-A5AD9977FC58}"/>
              </a:ext>
            </a:extLst>
          </p:cNvPr>
          <p:cNvSpPr txBox="1"/>
          <p:nvPr/>
        </p:nvSpPr>
        <p:spPr>
          <a:xfrm>
            <a:off x="5518300" y="5224926"/>
            <a:ext cx="342368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Homework</a:t>
            </a:r>
          </a:p>
          <a:p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1. Revise and Resubmit Lab 01</a:t>
            </a:r>
          </a:p>
          <a:p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2. Read Peterson Chapter 3 by Thursday start of class</a:t>
            </a:r>
          </a:p>
        </p:txBody>
      </p:sp>
    </p:spTree>
    <p:extLst>
      <p:ext uri="{BB962C8B-B14F-4D97-AF65-F5344CB8AC3E}">
        <p14:creationId xmlns:p14="http://schemas.microsoft.com/office/powerpoint/2010/main" val="1192318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15993</TotalTime>
  <Words>901</Words>
  <Application>Microsoft Macintosh PowerPoint</Application>
  <PresentationFormat>On-screen Show (4:3)</PresentationFormat>
  <Paragraphs>116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Week 2. Niches and Distributions</vt:lpstr>
      <vt:lpstr>Welcome, hello, any announcements?</vt:lpstr>
      <vt:lpstr>Workshop Course</vt:lpstr>
      <vt:lpstr>Class Plan</vt:lpstr>
      <vt:lpstr>Git, GitHub Desktop, and GitHub</vt:lpstr>
      <vt:lpstr>The basic workflow</vt:lpstr>
      <vt:lpstr>Pulling</vt:lpstr>
      <vt:lpstr>RStudio</vt:lpstr>
      <vt:lpstr>Objects and functions</vt:lpstr>
      <vt:lpstr>Understanding the data content and structure</vt:lpstr>
      <vt:lpstr>QC is easiest as a logical TRUE/FALSE</vt:lpstr>
      <vt:lpstr>Subsetting (selecting part of a dataset)</vt:lpstr>
      <vt:lpstr>Subsetting</vt:lpstr>
      <vt:lpstr>How to debug</vt:lpstr>
      <vt:lpstr>Lab 01 Revise and Resubmit</vt:lpstr>
    </vt:vector>
  </TitlesOfParts>
  <Company>TAMU - Spatial Sciences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 Projections</dc:title>
  <dc:creator>Michelle Lawing</dc:creator>
  <cp:lastModifiedBy>Michelle Lawing</cp:lastModifiedBy>
  <cp:revision>767</cp:revision>
  <dcterms:created xsi:type="dcterms:W3CDTF">2014-08-30T17:37:24Z</dcterms:created>
  <dcterms:modified xsi:type="dcterms:W3CDTF">2026-09-01T19:37:31Z</dcterms:modified>
</cp:coreProperties>
</file>