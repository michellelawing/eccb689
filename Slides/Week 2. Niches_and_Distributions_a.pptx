
<file path=[Content_Types].xml><?xml version="1.0" encoding="utf-8"?>
<Types xmlns="http://schemas.openxmlformats.org/package/2006/content-types">
  <Default Extension="png" ContentType="image/png"/>
  <Default Extension="png&amp;w=3840&amp;q=75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256" r:id="rId2"/>
    <p:sldId id="515" r:id="rId3"/>
    <p:sldId id="529" r:id="rId4"/>
    <p:sldId id="514" r:id="rId5"/>
    <p:sldId id="524" r:id="rId6"/>
    <p:sldId id="525" r:id="rId7"/>
    <p:sldId id="530" r:id="rId8"/>
    <p:sldId id="517" r:id="rId9"/>
    <p:sldId id="518" r:id="rId10"/>
    <p:sldId id="519" r:id="rId11"/>
    <p:sldId id="520" r:id="rId12"/>
    <p:sldId id="521" r:id="rId13"/>
    <p:sldId id="526" r:id="rId14"/>
    <p:sldId id="522" r:id="rId15"/>
    <p:sldId id="516" r:id="rId16"/>
    <p:sldId id="531" r:id="rId17"/>
    <p:sldId id="532" r:id="rId18"/>
    <p:sldId id="513" r:id="rId19"/>
    <p:sldId id="533" r:id="rId20"/>
    <p:sldId id="496" r:id="rId21"/>
    <p:sldId id="534" r:id="rId22"/>
    <p:sldId id="535" r:id="rId23"/>
    <p:sldId id="536" r:id="rId24"/>
    <p:sldId id="508" r:id="rId25"/>
    <p:sldId id="499" r:id="rId26"/>
    <p:sldId id="500" r:id="rId27"/>
    <p:sldId id="537" r:id="rId28"/>
    <p:sldId id="506" r:id="rId29"/>
    <p:sldId id="501" r:id="rId30"/>
    <p:sldId id="504" r:id="rId31"/>
    <p:sldId id="511" r:id="rId32"/>
    <p:sldId id="509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A6E93F3-11AD-C848-9581-61FF99ABE858}">
          <p14:sldIdLst>
            <p14:sldId id="256"/>
            <p14:sldId id="515"/>
            <p14:sldId id="529"/>
            <p14:sldId id="514"/>
            <p14:sldId id="524"/>
            <p14:sldId id="525"/>
            <p14:sldId id="530"/>
            <p14:sldId id="517"/>
            <p14:sldId id="518"/>
            <p14:sldId id="519"/>
            <p14:sldId id="520"/>
            <p14:sldId id="521"/>
            <p14:sldId id="526"/>
            <p14:sldId id="522"/>
            <p14:sldId id="516"/>
            <p14:sldId id="531"/>
            <p14:sldId id="532"/>
            <p14:sldId id="513"/>
            <p14:sldId id="533"/>
            <p14:sldId id="496"/>
            <p14:sldId id="534"/>
            <p14:sldId id="535"/>
            <p14:sldId id="536"/>
            <p14:sldId id="508"/>
            <p14:sldId id="499"/>
            <p14:sldId id="500"/>
            <p14:sldId id="537"/>
            <p14:sldId id="506"/>
            <p14:sldId id="501"/>
            <p14:sldId id="504"/>
            <p14:sldId id="511"/>
            <p14:sldId id="50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nna Lawing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215"/>
    <p:restoredTop sz="94658"/>
  </p:normalViewPr>
  <p:slideViewPr>
    <p:cSldViewPr snapToGrid="0" snapToObjects="1">
      <p:cViewPr varScale="1">
        <p:scale>
          <a:sx n="117" d="100"/>
          <a:sy n="117" d="100"/>
        </p:scale>
        <p:origin x="184" y="2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5" d="100"/>
          <a:sy n="85" d="100"/>
        </p:scale>
        <p:origin x="3928" y="1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D2D4AE1-BD9C-1741-B132-ACC4FD870A3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52F900-87CF-6E4F-9FCE-F0A8E37B2F2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8404FB-D815-9B49-9DBC-B684E3C0E790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9167D0-463A-4043-821F-310E6E04806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1556C2-9555-094A-9761-17FDE74E664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95A322-2EE7-5046-A0D8-D3FF3645C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6563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AC5A93-540D-2443-A380-5679C155FF14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0A90D5-3B1D-1149-800E-15EBB2932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365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0A90D5-3B1D-1149-800E-15EBB2932B0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784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793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199" y="6356350"/>
            <a:ext cx="6824133" cy="365125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7431" y="92075"/>
            <a:ext cx="341762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699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199" y="6356350"/>
            <a:ext cx="6824133" cy="365125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7431" y="92075"/>
            <a:ext cx="341762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590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199" y="6356350"/>
            <a:ext cx="6824133" cy="365125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7431" y="92075"/>
            <a:ext cx="341762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436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199" y="6356350"/>
            <a:ext cx="6824133" cy="365125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9/3/26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7431" y="92075"/>
            <a:ext cx="341762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905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199" y="6356350"/>
            <a:ext cx="6824133" cy="365125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7431" y="92075"/>
            <a:ext cx="341762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236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199" y="6356350"/>
            <a:ext cx="6824133" cy="365125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9/3/26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7431" y="92075"/>
            <a:ext cx="341762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834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199" y="6356350"/>
            <a:ext cx="6824133" cy="365125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7431" y="92075"/>
            <a:ext cx="341762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741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199" y="6356350"/>
            <a:ext cx="6824133" cy="365125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7431" y="92075"/>
            <a:ext cx="341762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507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199" y="6356350"/>
            <a:ext cx="6824133" cy="365125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7431" y="92075"/>
            <a:ext cx="341762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324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199" y="6356350"/>
            <a:ext cx="6824133" cy="365125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7431" y="92075"/>
            <a:ext cx="341762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596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2938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72388"/>
            <a:ext cx="8229600" cy="4353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6749143" y="92075"/>
            <a:ext cx="21729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Calibri"/>
                <a:ea typeface="+mn-ea"/>
                <a:cs typeface="Calibri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ESSM</a:t>
            </a:r>
            <a:r>
              <a:rPr lang="en-US" sz="1000" baseline="0" dirty="0">
                <a:solidFill>
                  <a:schemeClr val="bg1">
                    <a:lumMod val="50000"/>
                  </a:schemeClr>
                </a:solidFill>
              </a:rPr>
              <a:t> 689 Modeling Ecological Niches</a:t>
            </a:r>
          </a:p>
          <a:p>
            <a:r>
              <a:rPr lang="en-US" sz="1000" baseline="0" dirty="0">
                <a:solidFill>
                  <a:schemeClr val="bg1">
                    <a:lumMod val="50000"/>
                  </a:schemeClr>
                </a:solidFill>
              </a:rPr>
              <a:t>and Species’ Geographic Distributions</a:t>
            </a:r>
            <a:endParaRPr 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Footer Placeholder 4"/>
          <p:cNvSpPr txBox="1">
            <a:spLocks/>
          </p:cNvSpPr>
          <p:nvPr userDrawn="1"/>
        </p:nvSpPr>
        <p:spPr>
          <a:xfrm>
            <a:off x="94236" y="92075"/>
            <a:ext cx="34176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Calibri"/>
                <a:ea typeface="+mn-ea"/>
                <a:cs typeface="Calibri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Ecology and Conservation Biology | </a:t>
            </a:r>
            <a:r>
              <a:rPr lang="en-US" dirty="0">
                <a:solidFill>
                  <a:srgbClr val="800000"/>
                </a:solidFill>
              </a:rPr>
              <a:t>Texas A&amp;M University</a:t>
            </a:r>
          </a:p>
        </p:txBody>
      </p:sp>
    </p:spTree>
    <p:extLst>
      <p:ext uri="{BB962C8B-B14F-4D97-AF65-F5344CB8AC3E}">
        <p14:creationId xmlns:p14="http://schemas.microsoft.com/office/powerpoint/2010/main" val="1907738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rgbClr val="800000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&amp;w=3840&amp;q=75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78086" y="1958975"/>
            <a:ext cx="6157748" cy="1470025"/>
          </a:xfrm>
        </p:spPr>
        <p:txBody>
          <a:bodyPr>
            <a:normAutofit/>
          </a:bodyPr>
          <a:lstStyle/>
          <a:p>
            <a:r>
              <a:rPr lang="en-US" sz="3200" dirty="0"/>
              <a:t>Week 2. Niches and Distributions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67368" y="3848685"/>
            <a:ext cx="3101830" cy="1335767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rgbClr val="800000"/>
                </a:solidFill>
              </a:rPr>
              <a:t>A. Michelle Lawing, PhD</a:t>
            </a: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</a:rPr>
              <a:t>Associate Professor</a:t>
            </a: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</a:rPr>
              <a:t>Paleobiology, Evolution, and Climate Lab</a:t>
            </a: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</a:rPr>
              <a:t>Ecology and Conservation Biology</a:t>
            </a: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</a:rPr>
              <a:t>Texas A&amp;M University</a:t>
            </a:r>
          </a:p>
          <a:p>
            <a:pPr>
              <a:spcBef>
                <a:spcPts val="0"/>
              </a:spcBef>
            </a:pPr>
            <a:r>
              <a:rPr lang="en-US" sz="1200" dirty="0" err="1">
                <a:solidFill>
                  <a:schemeClr val="tx1"/>
                </a:solidFill>
              </a:rPr>
              <a:t>alawing@tamu.edu</a:t>
            </a:r>
            <a:endParaRPr lang="en-US" sz="1200" dirty="0">
              <a:solidFill>
                <a:schemeClr val="tx1"/>
              </a:solidFill>
            </a:endParaRPr>
          </a:p>
          <a:p>
            <a:endParaRPr lang="en-US" sz="16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C58BC3-E640-0E45-9747-378B1AB6A77A}"/>
              </a:ext>
            </a:extLst>
          </p:cNvPr>
          <p:cNvSpPr/>
          <p:nvPr/>
        </p:nvSpPr>
        <p:spPr>
          <a:xfrm>
            <a:off x="615929" y="6130017"/>
            <a:ext cx="76199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Peterson, A.T.,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</a:rPr>
              <a:t>Soberón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, J., Pearson, R.G., Anderson, R.P., Martínez-Meyer, E., Nakamura, M. and Araújo, M.B., 2011. </a:t>
            </a:r>
            <a:r>
              <a:rPr lang="en-US" sz="1200" i="1" dirty="0">
                <a:solidFill>
                  <a:schemeClr val="bg1">
                    <a:lumMod val="50000"/>
                  </a:schemeClr>
                </a:solidFill>
              </a:rPr>
              <a:t>Ecological niches and geographic distributions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(Vol. 49). Princeton University Press.</a:t>
            </a:r>
          </a:p>
        </p:txBody>
      </p:sp>
    </p:spTree>
    <p:extLst>
      <p:ext uri="{BB962C8B-B14F-4D97-AF65-F5344CB8AC3E}">
        <p14:creationId xmlns:p14="http://schemas.microsoft.com/office/powerpoint/2010/main" val="3104773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90A04-CC46-81EB-10DB-8BF42B542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2708644"/>
            <a:ext cx="3657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Welcome, hello, any announcements?</a:t>
            </a:r>
          </a:p>
        </p:txBody>
      </p:sp>
    </p:spTree>
    <p:extLst>
      <p:ext uri="{BB962C8B-B14F-4D97-AF65-F5344CB8AC3E}">
        <p14:creationId xmlns:p14="http://schemas.microsoft.com/office/powerpoint/2010/main" val="1826526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2852B-AA6A-EE17-CBFB-ECA203FAE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Workshop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44A87-2B6A-8153-9CC2-9F7A98223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dirty="0"/>
              <a:t>Last week moved quickly, and Lab 01 took longer than I anticipated</a:t>
            </a:r>
          </a:p>
          <a:p>
            <a:pPr lvl="0"/>
            <a:r>
              <a:rPr lang="en-US" dirty="0"/>
              <a:t>I want to provide some dedicated class time today to address questions, troubleshoot, and revise your work</a:t>
            </a:r>
          </a:p>
          <a:p>
            <a:pPr lvl="0"/>
            <a:r>
              <a:rPr lang="en-US" dirty="0"/>
              <a:t>Class work is code-based and iterative, so I’m wanting to get us set up with a simple workspace and workflow to code, track changes, document decisions, and share work</a:t>
            </a:r>
          </a:p>
          <a:p>
            <a:pPr lvl="0"/>
            <a:r>
              <a:rPr lang="en-US" dirty="0"/>
              <a:t>So RStudio, Git, GitHub Desktop, and GitHub</a:t>
            </a:r>
          </a:p>
        </p:txBody>
      </p:sp>
    </p:spTree>
    <p:extLst>
      <p:ext uri="{BB962C8B-B14F-4D97-AF65-F5344CB8AC3E}">
        <p14:creationId xmlns:p14="http://schemas.microsoft.com/office/powerpoint/2010/main" val="1279127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63A30-1780-5937-E856-89F2E8552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A0307-79AE-61F3-A7AF-66C33C0C2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7468E-DFB5-9223-01DC-321D344FD2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  <a:p>
            <a:pPr lvl="1"/>
            <a:r>
              <a:rPr lang="en-US" dirty="0"/>
              <a:t>Discuss programs and workflow for Lab 01</a:t>
            </a:r>
          </a:p>
          <a:p>
            <a:pPr lvl="1"/>
            <a:r>
              <a:rPr lang="en-US" dirty="0"/>
              <a:t>Workshop to revise and resubmit Lab 01</a:t>
            </a:r>
          </a:p>
          <a:p>
            <a:r>
              <a:rPr lang="en-US" dirty="0"/>
              <a:t>Read Peterson Chapter 3 by Thursday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8706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1A3D8-8717-698C-D115-07CB7A738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Git, GitHub Desktop, and GitHub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3D075-9BCE-E8CB-B7A9-1626697942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R Project folder </a:t>
            </a:r>
            <a:r>
              <a:rPr lang="en-US" dirty="0"/>
              <a:t>is where your code, data, README, and outputs exist on your personal computer</a:t>
            </a:r>
          </a:p>
          <a:p>
            <a:pPr lvl="0"/>
            <a:r>
              <a:rPr lang="en-US" b="1" dirty="0"/>
              <a:t>Git</a:t>
            </a:r>
            <a:r>
              <a:rPr lang="en-US" dirty="0"/>
              <a:t> is a version tracker that records snapshots of changes in that folder (called a repository)</a:t>
            </a:r>
          </a:p>
          <a:p>
            <a:pPr lvl="0"/>
            <a:r>
              <a:rPr lang="en-US" b="1" dirty="0"/>
              <a:t>GitHub Desktop </a:t>
            </a:r>
            <a:r>
              <a:rPr lang="en-US" dirty="0"/>
              <a:t>is the application that helps you easily commit and push to your online repository to share your work</a:t>
            </a:r>
          </a:p>
          <a:p>
            <a:pPr lvl="0"/>
            <a:r>
              <a:rPr lang="en-US" b="1" dirty="0"/>
              <a:t>GitHub</a:t>
            </a:r>
            <a:r>
              <a:rPr lang="en-US" dirty="0"/>
              <a:t> is the online repository you can share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386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8B294-A3EF-8560-50EE-2434694FB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basic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B41A4-62E5-B4C9-87D5-ECDC9CBB38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buFont typeface="+mj-lt"/>
              <a:buAutoNum type="arabicPeriod"/>
            </a:pPr>
            <a:r>
              <a:rPr lang="en-US" dirty="0"/>
              <a:t>Edit and save your script, README, or output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Check that the script runs fully from the top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In GitHub Desktop, review the changed files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Commit - save a named snapshot locally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Push - send that commit to GitHub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Open GitHub in a browser and confirm the files are there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8212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264A0-4481-96EB-FD04-26C36DD1F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BB6C5-8EE8-7166-489A-D3FC14CAD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Pulling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CF4E2-10B4-CCF5-DBFA-733238A84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Pull brings changes from the GitHub version of your repository into the copy on your computer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 </a:t>
            </a:r>
            <a:r>
              <a:rPr lang="en-US" dirty="0" err="1"/>
              <a:t>Github</a:t>
            </a:r>
            <a:r>
              <a:rPr lang="en-US" dirty="0"/>
              <a:t> Desktop, select the correct repository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Click Fetch origin to check for online changes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If changes are available, click Pull origin.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Open the project in RStudio and confirm the new files are present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Good habits to start - pull before you start working and commit/push when you are done</a:t>
            </a:r>
          </a:p>
        </p:txBody>
      </p:sp>
    </p:spTree>
    <p:extLst>
      <p:ext uri="{BB962C8B-B14F-4D97-AF65-F5344CB8AC3E}">
        <p14:creationId xmlns:p14="http://schemas.microsoft.com/office/powerpoint/2010/main" val="1158759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928C0-F9FA-7D26-F693-2BF7F8E76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RStudio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AF11F-E788-00B7-AEA5-4C71DE4030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Four parts to consider </a:t>
            </a:r>
          </a:p>
          <a:p>
            <a:r>
              <a:rPr lang="en-US" sz="2400" b="1" dirty="0"/>
              <a:t>Project:</a:t>
            </a:r>
            <a:r>
              <a:rPr lang="en-US" sz="2400" dirty="0"/>
              <a:t> establishes the working folder</a:t>
            </a:r>
          </a:p>
          <a:p>
            <a:pPr lvl="0"/>
            <a:r>
              <a:rPr lang="en-US" sz="2400" b="1" dirty="0"/>
              <a:t>Script: </a:t>
            </a:r>
            <a:r>
              <a:rPr lang="en-US" sz="2400" dirty="0"/>
              <a:t>saved, reproducible instructions</a:t>
            </a:r>
          </a:p>
          <a:p>
            <a:pPr lvl="0"/>
            <a:r>
              <a:rPr lang="en-US" sz="2400" b="1" dirty="0"/>
              <a:t>Console: </a:t>
            </a:r>
            <a:r>
              <a:rPr lang="en-US" sz="2400" dirty="0"/>
              <a:t>temporary place where code runs</a:t>
            </a:r>
          </a:p>
          <a:p>
            <a:pPr lvl="0"/>
            <a:r>
              <a:rPr lang="en-US" sz="2400" b="1" dirty="0"/>
              <a:t>Files pane: </a:t>
            </a:r>
            <a:r>
              <a:rPr lang="en-US" sz="2400" dirty="0"/>
              <a:t>shows data, outputs, and project files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Write and save code in the script, then run it from the script. Results and errors show up in the console.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786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EFDC6-B387-3623-92FB-2805122D6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Objects and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FB1AD-F3FE-14E3-F9CB-37FD668552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 err="1">
                <a:solidFill>
                  <a:schemeClr val="tx2"/>
                </a:solidFill>
              </a:rPr>
              <a:t>occ_raw</a:t>
            </a:r>
            <a:r>
              <a:rPr lang="en-US" sz="2400" dirty="0">
                <a:solidFill>
                  <a:schemeClr val="tx2"/>
                </a:solidFill>
              </a:rPr>
              <a:t> &lt;- </a:t>
            </a:r>
            <a:r>
              <a:rPr lang="en-US" sz="2400" dirty="0" err="1">
                <a:solidFill>
                  <a:schemeClr val="tx2"/>
                </a:solidFill>
              </a:rPr>
              <a:t>read.csv</a:t>
            </a:r>
            <a:r>
              <a:rPr lang="en-US" sz="2400" dirty="0">
                <a:solidFill>
                  <a:schemeClr val="tx2"/>
                </a:solidFill>
              </a:rPr>
              <a:t>("data/</a:t>
            </a:r>
            <a:r>
              <a:rPr lang="en-US" sz="2400" dirty="0" err="1">
                <a:solidFill>
                  <a:schemeClr val="tx2"/>
                </a:solidFill>
              </a:rPr>
              <a:t>crotalus_triseriatus_gbif_raw.csv</a:t>
            </a:r>
            <a:r>
              <a:rPr lang="en-US" sz="2400" dirty="0">
                <a:solidFill>
                  <a:schemeClr val="tx2"/>
                </a:solidFill>
              </a:rPr>
              <a:t>")</a:t>
            </a:r>
          </a:p>
          <a:p>
            <a:pPr marL="0" indent="0">
              <a:buNone/>
            </a:pPr>
            <a:endParaRPr lang="en-US" sz="2400" dirty="0"/>
          </a:p>
          <a:p>
            <a:pPr lvl="0"/>
            <a:r>
              <a:rPr lang="en-US" sz="2400" dirty="0" err="1"/>
              <a:t>occ_raw</a:t>
            </a:r>
            <a:r>
              <a:rPr lang="en-US" sz="2400" dirty="0"/>
              <a:t> is the object name</a:t>
            </a:r>
          </a:p>
          <a:p>
            <a:pPr lvl="0"/>
            <a:r>
              <a:rPr lang="en-US" sz="2400" dirty="0"/>
              <a:t>&lt;- assigns the result to that object</a:t>
            </a:r>
          </a:p>
          <a:p>
            <a:pPr lvl="0"/>
            <a:r>
              <a:rPr lang="en-US" sz="2400" dirty="0" err="1"/>
              <a:t>read.csv</a:t>
            </a:r>
            <a:r>
              <a:rPr lang="en-US" sz="2400" dirty="0"/>
              <a:t>() is a function</a:t>
            </a:r>
          </a:p>
          <a:p>
            <a:pPr lvl="0"/>
            <a:r>
              <a:rPr lang="en-US" sz="2400" dirty="0"/>
              <a:t>Text in quotation marks is a file path</a:t>
            </a:r>
          </a:p>
          <a:p>
            <a:r>
              <a:rPr lang="en-US" sz="2400" dirty="0"/>
              <a:t>After this line runs in the console, </a:t>
            </a:r>
            <a:r>
              <a:rPr lang="en-US" sz="2400" dirty="0" err="1"/>
              <a:t>occ_raw</a:t>
            </a:r>
            <a:r>
              <a:rPr lang="en-US" sz="2400" dirty="0"/>
              <a:t> is a data frame with 714 records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487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35390-0A0F-57DE-E559-0703034BD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Understanding the data content and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2818E-AFD8-C32C-DB68-EFBBF8EA1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</a:rPr>
              <a:t>dim(</a:t>
            </a:r>
            <a:r>
              <a:rPr lang="en-US" dirty="0" err="1">
                <a:solidFill>
                  <a:schemeClr val="tx2"/>
                </a:solidFill>
              </a:rPr>
              <a:t>occ_raw</a:t>
            </a:r>
            <a:r>
              <a:rPr lang="en-US" dirty="0">
                <a:solidFill>
                  <a:schemeClr val="tx2"/>
                </a:solidFill>
              </a:rPr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</a:rPr>
              <a:t>names(</a:t>
            </a:r>
            <a:r>
              <a:rPr lang="en-US" dirty="0" err="1">
                <a:solidFill>
                  <a:schemeClr val="tx2"/>
                </a:solidFill>
              </a:rPr>
              <a:t>occ_raw</a:t>
            </a:r>
            <a:r>
              <a:rPr lang="en-US" dirty="0">
                <a:solidFill>
                  <a:schemeClr val="tx2"/>
                </a:solidFill>
              </a:rPr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</a:rPr>
              <a:t>str(</a:t>
            </a:r>
            <a:r>
              <a:rPr lang="en-US" dirty="0" err="1">
                <a:solidFill>
                  <a:schemeClr val="tx2"/>
                </a:solidFill>
              </a:rPr>
              <a:t>occ_raw</a:t>
            </a:r>
            <a:r>
              <a:rPr lang="en-US" dirty="0">
                <a:solidFill>
                  <a:schemeClr val="tx2"/>
                </a:solidFill>
              </a:rPr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</a:rPr>
              <a:t>head(</a:t>
            </a:r>
            <a:r>
              <a:rPr lang="en-US" dirty="0" err="1">
                <a:solidFill>
                  <a:schemeClr val="tx2"/>
                </a:solidFill>
              </a:rPr>
              <a:t>occ_raw</a:t>
            </a:r>
            <a:r>
              <a:rPr lang="en-US" dirty="0">
                <a:solidFill>
                  <a:schemeClr val="tx2"/>
                </a:solidFill>
              </a:rPr>
              <a:t>)</a:t>
            </a:r>
          </a:p>
          <a:p>
            <a:endParaRPr lang="en-US" dirty="0"/>
          </a:p>
          <a:p>
            <a:pPr lvl="0"/>
            <a:r>
              <a:rPr lang="en-US" dirty="0"/>
              <a:t>dim() — How many rows and columns?</a:t>
            </a:r>
          </a:p>
          <a:p>
            <a:pPr lvl="0"/>
            <a:r>
              <a:rPr lang="en-US" dirty="0"/>
              <a:t>names() — What variables are available?</a:t>
            </a:r>
          </a:p>
          <a:p>
            <a:pPr lvl="0"/>
            <a:r>
              <a:rPr lang="en-US" dirty="0"/>
              <a:t>str() — What type of data is each variable?</a:t>
            </a:r>
          </a:p>
          <a:p>
            <a:pPr lvl="0"/>
            <a:r>
              <a:rPr lang="en-US" dirty="0"/>
              <a:t>head() — What do the first rows look like?</a:t>
            </a:r>
          </a:p>
        </p:txBody>
      </p:sp>
    </p:spTree>
    <p:extLst>
      <p:ext uri="{BB962C8B-B14F-4D97-AF65-F5344CB8AC3E}">
        <p14:creationId xmlns:p14="http://schemas.microsoft.com/office/powerpoint/2010/main" val="2366351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58282-1C72-C4BE-F050-2695BABA9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QC is easiest as a logical TRUE/FALSE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FABC4-7A3D-BCA4-A1B7-E02CC130B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tx2"/>
                </a:solidFill>
              </a:rPr>
              <a:t>keep_coordinates</a:t>
            </a:r>
            <a:r>
              <a:rPr lang="en-US" dirty="0">
                <a:solidFill>
                  <a:schemeClr val="tx2"/>
                </a:solidFill>
              </a:rPr>
              <a:t> &lt;- !</a:t>
            </a:r>
            <a:r>
              <a:rPr lang="en-US" dirty="0" err="1">
                <a:solidFill>
                  <a:schemeClr val="tx2"/>
                </a:solidFill>
              </a:rPr>
              <a:t>is.na</a:t>
            </a:r>
            <a:r>
              <a:rPr lang="en-US" dirty="0">
                <a:solidFill>
                  <a:schemeClr val="tx2"/>
                </a:solidFill>
              </a:rPr>
              <a:t>(</a:t>
            </a:r>
            <a:r>
              <a:rPr lang="en-US" dirty="0" err="1">
                <a:solidFill>
                  <a:schemeClr val="tx2"/>
                </a:solidFill>
              </a:rPr>
              <a:t>occ_raw$decimalLongitude</a:t>
            </a:r>
            <a:r>
              <a:rPr lang="en-US" dirty="0">
                <a:solidFill>
                  <a:schemeClr val="tx2"/>
                </a:solidFill>
              </a:rPr>
              <a:t>) &amp; !</a:t>
            </a:r>
            <a:r>
              <a:rPr lang="en-US" dirty="0" err="1">
                <a:solidFill>
                  <a:schemeClr val="tx2"/>
                </a:solidFill>
              </a:rPr>
              <a:t>is.na</a:t>
            </a:r>
            <a:r>
              <a:rPr lang="en-US" dirty="0">
                <a:solidFill>
                  <a:schemeClr val="tx2"/>
                </a:solidFill>
              </a:rPr>
              <a:t>(</a:t>
            </a:r>
            <a:r>
              <a:rPr lang="en-US" dirty="0" err="1">
                <a:solidFill>
                  <a:schemeClr val="tx2"/>
                </a:solidFill>
              </a:rPr>
              <a:t>occ_raw$decimalLatitude</a:t>
            </a:r>
            <a:r>
              <a:rPr lang="en-US" dirty="0">
                <a:solidFill>
                  <a:schemeClr val="tx2"/>
                </a:solidFill>
              </a:rPr>
              <a:t>)</a:t>
            </a:r>
          </a:p>
          <a:p>
            <a:endParaRPr lang="en-US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</a:rPr>
              <a:t>keep &lt;- </a:t>
            </a:r>
            <a:r>
              <a:rPr lang="en-US" dirty="0" err="1">
                <a:solidFill>
                  <a:schemeClr val="tx2"/>
                </a:solidFill>
              </a:rPr>
              <a:t>keep_coordinates</a:t>
            </a:r>
            <a:r>
              <a:rPr lang="en-US" dirty="0">
                <a:solidFill>
                  <a:schemeClr val="tx2"/>
                </a:solidFill>
              </a:rPr>
              <a:t> &amp; </a:t>
            </a:r>
            <a:r>
              <a:rPr lang="en-US" dirty="0" err="1">
                <a:solidFill>
                  <a:schemeClr val="tx2"/>
                </a:solidFill>
              </a:rPr>
              <a:t>keep_second_rule</a:t>
            </a:r>
            <a:endParaRPr lang="en-US" dirty="0">
              <a:solidFill>
                <a:schemeClr val="tx2"/>
              </a:solidFill>
            </a:endParaRPr>
          </a:p>
          <a:p>
            <a:endParaRPr lang="en-US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tx2"/>
                </a:solidFill>
              </a:rPr>
              <a:t>occ_retained</a:t>
            </a:r>
            <a:r>
              <a:rPr lang="en-US" dirty="0">
                <a:solidFill>
                  <a:schemeClr val="tx2"/>
                </a:solidFill>
              </a:rPr>
              <a:t> &lt;- </a:t>
            </a:r>
            <a:r>
              <a:rPr lang="en-US" dirty="0" err="1">
                <a:solidFill>
                  <a:schemeClr val="tx2"/>
                </a:solidFill>
              </a:rPr>
              <a:t>occ_raw</a:t>
            </a:r>
            <a:r>
              <a:rPr lang="en-US" dirty="0">
                <a:solidFill>
                  <a:schemeClr val="tx2"/>
                </a:solidFill>
              </a:rPr>
              <a:t>[keep, ]</a:t>
            </a:r>
          </a:p>
          <a:p>
            <a:pPr marL="0" indent="0">
              <a:buNone/>
            </a:pPr>
            <a:endParaRPr lang="en-US" dirty="0">
              <a:solidFill>
                <a:schemeClr val="tx2"/>
              </a:solidFill>
            </a:endParaRPr>
          </a:p>
          <a:p>
            <a:r>
              <a:rPr lang="en-US" dirty="0"/>
              <a:t>Each row receives a TRUE or FALSE</a:t>
            </a:r>
          </a:p>
          <a:p>
            <a:pPr lvl="0"/>
            <a:r>
              <a:rPr lang="en-US" dirty="0"/>
              <a:t>TRUE = keep this record</a:t>
            </a:r>
          </a:p>
          <a:p>
            <a:pPr lvl="0"/>
            <a:r>
              <a:rPr lang="en-US" dirty="0"/>
              <a:t>FALSE = exclude this record</a:t>
            </a:r>
          </a:p>
          <a:p>
            <a:pPr lvl="0"/>
            <a:r>
              <a:rPr lang="en-US" dirty="0"/>
              <a:t>! means not, &amp; means both</a:t>
            </a:r>
          </a:p>
          <a:p>
            <a:pPr lvl="0"/>
            <a:r>
              <a:rPr lang="en-US" dirty="0" err="1"/>
              <a:t>occ_raw</a:t>
            </a:r>
            <a:r>
              <a:rPr lang="en-US" dirty="0"/>
              <a:t>[keep, ] keeps the rows marked TRUE</a:t>
            </a:r>
          </a:p>
          <a:p>
            <a:pPr marL="0" indent="0">
              <a:buNone/>
            </a:pPr>
            <a:endParaRPr lang="en-US" dirty="0">
              <a:solidFill>
                <a:schemeClr val="tx2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6014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860CE-0F8B-1DF5-612E-EE7C94E6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Subsetting</a:t>
            </a:r>
            <a:r>
              <a:rPr lang="en-US" dirty="0"/>
              <a:t> (selecting part of a dataset)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D99FF-07B9-9CD9-E744-EF7F5AF73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data_frame</a:t>
            </a:r>
            <a:r>
              <a:rPr lang="en-US" dirty="0"/>
              <a:t>[ rows , columns ]</a:t>
            </a:r>
          </a:p>
          <a:p>
            <a:pPr marL="0" indent="0">
              <a:buNone/>
            </a:pPr>
            <a:endParaRPr lang="en-US" dirty="0"/>
          </a:p>
          <a:p>
            <a:pPr lvl="0"/>
            <a:r>
              <a:rPr lang="en-US" dirty="0"/>
              <a:t>Before the comma specifies which rows to output</a:t>
            </a:r>
          </a:p>
          <a:p>
            <a:pPr lvl="0"/>
            <a:r>
              <a:rPr lang="en-US" dirty="0"/>
              <a:t>After the comma specifies which columns to output</a:t>
            </a:r>
          </a:p>
          <a:p>
            <a:pPr lvl="0"/>
            <a:r>
              <a:rPr lang="en-US" dirty="0"/>
              <a:t>A blank space means “all”</a:t>
            </a:r>
          </a:p>
        </p:txBody>
      </p:sp>
    </p:spTree>
    <p:extLst>
      <p:ext uri="{BB962C8B-B14F-4D97-AF65-F5344CB8AC3E}">
        <p14:creationId xmlns:p14="http://schemas.microsoft.com/office/powerpoint/2010/main" val="110461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B753C-72E5-5CD2-78BC-BB07ED854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E04E9-909E-CC97-85E4-6B1717BD4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Subsetting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F212A-64DF-6262-65A7-C355AD904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tx2"/>
                </a:solidFill>
              </a:rPr>
              <a:t>occ_raw$decimalLongitude</a:t>
            </a:r>
            <a:endParaRPr lang="en-US" dirty="0">
              <a:solidFill>
                <a:schemeClr val="tx2"/>
              </a:solidFill>
            </a:endParaRPr>
          </a:p>
          <a:p>
            <a:r>
              <a:rPr lang="en-US" dirty="0"/>
              <a:t>Selects one column</a:t>
            </a:r>
          </a:p>
          <a:p>
            <a:pPr marL="0" indent="0">
              <a:buNone/>
            </a:pPr>
            <a:endParaRPr lang="en-US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tx2"/>
                </a:solidFill>
              </a:rPr>
              <a:t>occ_raw</a:t>
            </a:r>
            <a:r>
              <a:rPr lang="en-US" dirty="0">
                <a:solidFill>
                  <a:schemeClr val="tx2"/>
                </a:solidFill>
              </a:rPr>
              <a:t>[ , c("species", "</a:t>
            </a:r>
            <a:r>
              <a:rPr lang="en-US" dirty="0" err="1">
                <a:solidFill>
                  <a:schemeClr val="tx2"/>
                </a:solidFill>
              </a:rPr>
              <a:t>decimalLongitude</a:t>
            </a:r>
            <a:r>
              <a:rPr lang="en-US" dirty="0">
                <a:solidFill>
                  <a:schemeClr val="tx2"/>
                </a:solidFill>
              </a:rPr>
              <a:t>", "</a:t>
            </a:r>
            <a:r>
              <a:rPr lang="en-US" dirty="0" err="1">
                <a:solidFill>
                  <a:schemeClr val="tx2"/>
                </a:solidFill>
              </a:rPr>
              <a:t>decimalLatitude</a:t>
            </a:r>
            <a:r>
              <a:rPr lang="en-US" dirty="0">
                <a:solidFill>
                  <a:schemeClr val="tx2"/>
                </a:solidFill>
              </a:rPr>
              <a:t>")]</a:t>
            </a:r>
          </a:p>
          <a:p>
            <a:r>
              <a:rPr lang="en-US" dirty="0"/>
              <a:t>Selects all rows and only the named columns</a:t>
            </a:r>
          </a:p>
          <a:p>
            <a:pPr marL="0" indent="0">
              <a:buNone/>
            </a:pPr>
            <a:endParaRPr lang="en-US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tx2"/>
                </a:solidFill>
              </a:rPr>
              <a:t>occ_raw</a:t>
            </a:r>
            <a:r>
              <a:rPr lang="en-US" dirty="0">
                <a:solidFill>
                  <a:schemeClr val="tx2"/>
                </a:solidFill>
              </a:rPr>
              <a:t>[1:6, ]</a:t>
            </a:r>
          </a:p>
          <a:p>
            <a:r>
              <a:rPr lang="en-US" dirty="0"/>
              <a:t>Selects the first six rows and all columns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err="1">
                <a:solidFill>
                  <a:schemeClr val="tx2"/>
                </a:solidFill>
              </a:rPr>
              <a:t>occ_retained</a:t>
            </a:r>
            <a:r>
              <a:rPr lang="en-US" dirty="0">
                <a:solidFill>
                  <a:schemeClr val="tx2"/>
                </a:solidFill>
              </a:rPr>
              <a:t> &lt;- </a:t>
            </a:r>
            <a:r>
              <a:rPr lang="en-US" dirty="0" err="1">
                <a:solidFill>
                  <a:schemeClr val="tx2"/>
                </a:solidFill>
              </a:rPr>
              <a:t>occ_raw</a:t>
            </a:r>
            <a:r>
              <a:rPr lang="en-US" dirty="0">
                <a:solidFill>
                  <a:schemeClr val="tx2"/>
                </a:solidFill>
              </a:rPr>
              <a:t>[keep, ]</a:t>
            </a:r>
          </a:p>
          <a:p>
            <a:r>
              <a:rPr lang="en-US" dirty="0"/>
              <a:t>Selects only the rows where keep is TRUE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2052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DDEA8-6386-E4ED-9786-FF9FE8EF0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debug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AE55E-284A-4F2C-9277-C9C703940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When code throws an error: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Read the first error message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Identify the object or file R could not find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Rerun the line that should have created that object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Inspect it with head(), str(), or dim()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Fix one thing and retry</a:t>
            </a:r>
          </a:p>
        </p:txBody>
      </p:sp>
    </p:spTree>
    <p:extLst>
      <p:ext uri="{BB962C8B-B14F-4D97-AF65-F5344CB8AC3E}">
        <p14:creationId xmlns:p14="http://schemas.microsoft.com/office/powerpoint/2010/main" val="3669503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2ACA0-A5AE-1F70-B762-E9D9EB13B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01 Revise and Resubmit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E64F4-9258-ECD5-F490-ABF905753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 gave everyone something (even small) to revise, so you have something new to commit and push</a:t>
            </a:r>
          </a:p>
          <a:p>
            <a:endParaRPr lang="en-US" dirty="0"/>
          </a:p>
          <a:p>
            <a:r>
              <a:rPr lang="en-US" dirty="0"/>
              <a:t>Revise Lab 01</a:t>
            </a:r>
          </a:p>
          <a:p>
            <a:pPr lvl="1"/>
            <a:r>
              <a:rPr lang="en-US" dirty="0"/>
              <a:t>Check your GitHub online </a:t>
            </a:r>
          </a:p>
          <a:p>
            <a:pPr lvl="1"/>
            <a:r>
              <a:rPr lang="en-US" dirty="0"/>
              <a:t>Open your issue tracker</a:t>
            </a:r>
          </a:p>
          <a:p>
            <a:pPr lvl="1"/>
            <a:r>
              <a:rPr lang="en-US" dirty="0"/>
              <a:t>Read Lab 01 Feedback </a:t>
            </a:r>
          </a:p>
          <a:p>
            <a:pPr lvl="1"/>
            <a:r>
              <a:rPr lang="en-US" dirty="0"/>
              <a:t>Revise</a:t>
            </a:r>
          </a:p>
          <a:p>
            <a:pPr lvl="1"/>
            <a:r>
              <a:rPr lang="en-US" dirty="0"/>
              <a:t>Run</a:t>
            </a:r>
          </a:p>
          <a:p>
            <a:pPr lvl="1"/>
            <a:r>
              <a:rPr lang="en-US" dirty="0"/>
              <a:t>Commit</a:t>
            </a:r>
          </a:p>
          <a:p>
            <a:pPr lvl="1"/>
            <a:r>
              <a:rPr lang="en-US" dirty="0"/>
              <a:t>Push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9669FE-4B1F-EB01-9463-A5AD9977FC58}"/>
              </a:ext>
            </a:extLst>
          </p:cNvPr>
          <p:cNvSpPr txBox="1"/>
          <p:nvPr/>
        </p:nvSpPr>
        <p:spPr>
          <a:xfrm>
            <a:off x="5518300" y="5224926"/>
            <a:ext cx="342368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Homework</a:t>
            </a:r>
          </a:p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1. Revise and Resubmit Lab 01</a:t>
            </a:r>
          </a:p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2. Read Peterson Chapter 3 by Thursday start of class</a:t>
            </a:r>
          </a:p>
        </p:txBody>
      </p:sp>
    </p:spTree>
    <p:extLst>
      <p:ext uri="{BB962C8B-B14F-4D97-AF65-F5344CB8AC3E}">
        <p14:creationId xmlns:p14="http://schemas.microsoft.com/office/powerpoint/2010/main" val="1192318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F4386-CA81-98D9-93AB-3055D13D5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2799F-F8E9-F7C0-3D53-9235F2911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5207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A580449-4DBE-793E-47E9-0226D1CA1F41}"/>
              </a:ext>
            </a:extLst>
          </p:cNvPr>
          <p:cNvSpPr txBox="1">
            <a:spLocks/>
          </p:cNvSpPr>
          <p:nvPr/>
        </p:nvSpPr>
        <p:spPr>
          <a:xfrm>
            <a:off x="1222744" y="2857500"/>
            <a:ext cx="703875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rgbClr val="8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Niches and Geographic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81115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www.researchgate.net/profile/Carsten_Meyer/publication/303973249/figure/fig1/AS:373144356442112@1465975955922/Range-maps-point-occurrence-records-and-species-level-information-metrics-for-eight.png">
            <a:extLst>
              <a:ext uri="{FF2B5EF4-FFF2-40B4-BE49-F238E27FC236}">
                <a16:creationId xmlns:a16="http://schemas.microsoft.com/office/drawing/2014/main" id="{1864FD2C-8093-0742-987A-D6419E82F4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52" y="1566340"/>
            <a:ext cx="8408837" cy="4283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ADBDE27-C6D7-AA4B-9C59-78DF2BCBDFC0}"/>
              </a:ext>
            </a:extLst>
          </p:cNvPr>
          <p:cNvSpPr txBox="1"/>
          <p:nvPr/>
        </p:nvSpPr>
        <p:spPr>
          <a:xfrm>
            <a:off x="1003236" y="6211669"/>
            <a:ext cx="75257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Meyer et al. (2016) Range geometry and socio-economics dominate species-level biases in occurrence information. </a:t>
            </a:r>
            <a:r>
              <a:rPr lang="en-US" sz="1200" i="1" dirty="0"/>
              <a:t>Global Ecol. </a:t>
            </a:r>
            <a:r>
              <a:rPr lang="en-US" sz="1200" i="1" dirty="0" err="1"/>
              <a:t>Biogeogr</a:t>
            </a:r>
            <a:r>
              <a:rPr lang="en-US" sz="1200" i="1" dirty="0"/>
              <a:t>. </a:t>
            </a:r>
            <a:r>
              <a:rPr lang="en-US" sz="1200" dirty="0"/>
              <a:t>25: 1181-1193.</a:t>
            </a:r>
          </a:p>
          <a:p>
            <a:endParaRPr lang="en-US" sz="12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FBE3F-A164-8E40-6CCA-65A8A1EAC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276" y="430741"/>
            <a:ext cx="8151977" cy="1143000"/>
          </a:xfrm>
        </p:spPr>
        <p:txBody>
          <a:bodyPr>
            <a:normAutofit/>
          </a:bodyPr>
          <a:lstStyle/>
          <a:p>
            <a:r>
              <a:rPr lang="en-US" sz="2600" dirty="0">
                <a:solidFill>
                  <a:schemeClr val="accent2">
                    <a:lumMod val="50000"/>
                  </a:schemeClr>
                </a:solidFill>
              </a:rPr>
              <a:t>Observed records reflect sampling effort as well as biology</a:t>
            </a:r>
          </a:p>
        </p:txBody>
      </p:sp>
    </p:spTree>
    <p:extLst>
      <p:ext uri="{BB962C8B-B14F-4D97-AF65-F5344CB8AC3E}">
        <p14:creationId xmlns:p14="http://schemas.microsoft.com/office/powerpoint/2010/main" val="31390113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03EE2-3479-DA4D-45C8-E2BF164F3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Geographic 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2AF92-B9D1-927C-CC9B-8A070F842C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72388"/>
            <a:ext cx="4386943" cy="4353775"/>
          </a:xfrm>
        </p:spPr>
        <p:txBody>
          <a:bodyPr/>
          <a:lstStyle/>
          <a:p>
            <a:r>
              <a:rPr lang="en-US" sz="2300" dirty="0"/>
              <a:t>A lot of times people are thinking about range maps</a:t>
            </a:r>
          </a:p>
          <a:p>
            <a:r>
              <a:rPr lang="en-US" sz="2300" dirty="0"/>
              <a:t>Scale-dependent, coarse grain, broad extent</a:t>
            </a:r>
          </a:p>
          <a:p>
            <a:r>
              <a:rPr lang="en-US" sz="2300" dirty="0"/>
              <a:t>Presence of individuals, presence of reproductive populations, probability of detection within grid cells or polygons</a:t>
            </a:r>
          </a:p>
          <a:p>
            <a:endParaRPr lang="en-US" dirty="0"/>
          </a:p>
        </p:txBody>
      </p:sp>
      <p:pic>
        <p:nvPicPr>
          <p:cNvPr id="4" name="Picture 3" descr="Biogeography and species distribution patterns | Evolutionary Biology Class  Notes | Fiveable">
            <a:extLst>
              <a:ext uri="{FF2B5EF4-FFF2-40B4-BE49-F238E27FC236}">
                <a16:creationId xmlns:a16="http://schemas.microsoft.com/office/drawing/2014/main" id="{D8ABB233-EB10-C6AC-1EAD-025831CED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5103" y="2143125"/>
            <a:ext cx="3341250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963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A595F-EBDB-9F44-9A9E-B6E651894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Niches and Geographic 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80947-C9D4-9C42-9C1F-0F6867543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G-space</a:t>
            </a:r>
          </a:p>
          <a:p>
            <a:pPr lvl="1"/>
            <a:r>
              <a:rPr lang="en-US" dirty="0"/>
              <a:t>Geographic Space</a:t>
            </a:r>
          </a:p>
          <a:p>
            <a:pPr lvl="1"/>
            <a:r>
              <a:rPr lang="en-US" dirty="0"/>
              <a:t>Represented by points, grid cells, pixels, or polygons</a:t>
            </a:r>
          </a:p>
          <a:p>
            <a:pPr lvl="1"/>
            <a:r>
              <a:rPr lang="en-US" dirty="0"/>
              <a:t>Broad extent and coarse resolution, typically 1 km</a:t>
            </a:r>
            <a:r>
              <a:rPr lang="en-US" baseline="30000" dirty="0"/>
              <a:t>2</a:t>
            </a:r>
            <a:r>
              <a:rPr lang="en-US" dirty="0"/>
              <a:t> per cell or more</a:t>
            </a:r>
          </a:p>
          <a:p>
            <a:r>
              <a:rPr lang="en-US" dirty="0"/>
              <a:t>E-space</a:t>
            </a:r>
          </a:p>
          <a:p>
            <a:pPr lvl="1"/>
            <a:r>
              <a:rPr lang="en-US" dirty="0"/>
              <a:t>Environmental Space</a:t>
            </a:r>
          </a:p>
          <a:p>
            <a:pPr lvl="1"/>
            <a:r>
              <a:rPr lang="en-US" dirty="0"/>
              <a:t>Suite of environmental attributes, such as climate, solar radiation, topography, and so on</a:t>
            </a:r>
          </a:p>
          <a:p>
            <a:pPr lvl="1"/>
            <a:r>
              <a:rPr lang="en-US" dirty="0"/>
              <a:t>Generally characterized in relatively coarse environmental variables</a:t>
            </a:r>
          </a:p>
        </p:txBody>
      </p:sp>
    </p:spTree>
    <p:extLst>
      <p:ext uri="{BB962C8B-B14F-4D97-AF65-F5344CB8AC3E}">
        <p14:creationId xmlns:p14="http://schemas.microsoft.com/office/powerpoint/2010/main" val="14384557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8919133-BF21-0F20-BA1B-C2E6CAB98C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0635"/>
          <a:stretch>
            <a:fillRect/>
          </a:stretch>
        </p:blipFill>
        <p:spPr>
          <a:xfrm>
            <a:off x="163951" y="1491349"/>
            <a:ext cx="8472774" cy="18396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6FB802D-711A-06DC-418D-97B8674C45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594" b="59895"/>
          <a:stretch>
            <a:fillRect/>
          </a:stretch>
        </p:blipFill>
        <p:spPr>
          <a:xfrm>
            <a:off x="218381" y="3875314"/>
            <a:ext cx="8472774" cy="19485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D8429D-D791-D409-6A8E-4DAAB04CBBBE}"/>
              </a:ext>
            </a:extLst>
          </p:cNvPr>
          <p:cNvSpPr txBox="1"/>
          <p:nvPr/>
        </p:nvSpPr>
        <p:spPr>
          <a:xfrm>
            <a:off x="1003236" y="6211669"/>
            <a:ext cx="75257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Graham et al. (2025) Biodiversity Patterns Redefined in Environmental Space. </a:t>
            </a:r>
            <a:r>
              <a:rPr lang="en-US" sz="1200" i="1" dirty="0"/>
              <a:t>Ecology Letters. </a:t>
            </a:r>
            <a:r>
              <a:rPr lang="en-US" sz="1200" dirty="0"/>
              <a:t>28: e70008.</a:t>
            </a:r>
          </a:p>
          <a:p>
            <a:endParaRPr lang="en-US" sz="12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45FDB01-71C6-7467-989F-616C4CF29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951" y="348349"/>
            <a:ext cx="8229600" cy="1143000"/>
          </a:xfrm>
        </p:spPr>
        <p:txBody>
          <a:bodyPr>
            <a:normAutofit/>
          </a:bodyPr>
          <a:lstStyle/>
          <a:p>
            <a:r>
              <a:rPr lang="en-US" sz="2800" dirty="0"/>
              <a:t>Hutchinson’s Duality of spaces</a:t>
            </a:r>
          </a:p>
        </p:txBody>
      </p:sp>
    </p:spTree>
    <p:extLst>
      <p:ext uri="{BB962C8B-B14F-4D97-AF65-F5344CB8AC3E}">
        <p14:creationId xmlns:p14="http://schemas.microsoft.com/office/powerpoint/2010/main" val="3898966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26E62-EBD2-ABAD-1EFF-75171648B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8ADC4EA-73EB-C0B2-D2F2-345C67C1E1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127" t="40907" r="1127" b="19331"/>
          <a:stretch>
            <a:fillRect/>
          </a:stretch>
        </p:blipFill>
        <p:spPr>
          <a:xfrm>
            <a:off x="335613" y="1540328"/>
            <a:ext cx="8472774" cy="37773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AB99F6-E398-1F9B-FA6F-52EA180AF381}"/>
              </a:ext>
            </a:extLst>
          </p:cNvPr>
          <p:cNvSpPr txBox="1"/>
          <p:nvPr/>
        </p:nvSpPr>
        <p:spPr>
          <a:xfrm>
            <a:off x="1003236" y="6211669"/>
            <a:ext cx="75257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Graham et al. (2025) Biodiversity Patterns Redefined in Environmental Space. </a:t>
            </a:r>
            <a:r>
              <a:rPr lang="en-US" sz="1200" i="1" dirty="0"/>
              <a:t>Ecology Letters. </a:t>
            </a:r>
            <a:r>
              <a:rPr lang="en-US" sz="1200" dirty="0"/>
              <a:t>28: e70008.</a:t>
            </a:r>
          </a:p>
          <a:p>
            <a:endParaRPr lang="en-US" sz="1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05AF740-3F79-8926-A7BD-C1BA33B92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951" y="348349"/>
            <a:ext cx="8229600" cy="1143000"/>
          </a:xfrm>
        </p:spPr>
        <p:txBody>
          <a:bodyPr>
            <a:normAutofit/>
          </a:bodyPr>
          <a:lstStyle/>
          <a:p>
            <a:r>
              <a:rPr lang="en-US" sz="2800" dirty="0"/>
              <a:t>Hutchinson’s Duality of spaces</a:t>
            </a:r>
          </a:p>
        </p:txBody>
      </p:sp>
    </p:spTree>
    <p:extLst>
      <p:ext uri="{BB962C8B-B14F-4D97-AF65-F5344CB8AC3E}">
        <p14:creationId xmlns:p14="http://schemas.microsoft.com/office/powerpoint/2010/main" val="24226069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1DE53-7C3D-02BB-78AD-41D91DF6B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48B9115-EF56-4D61-5DCE-E4B7124D77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0154" b="-3243"/>
          <a:stretch>
            <a:fillRect/>
          </a:stretch>
        </p:blipFill>
        <p:spPr>
          <a:xfrm>
            <a:off x="335613" y="2144486"/>
            <a:ext cx="8472774" cy="219347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CE33390-FAD0-4273-D0FB-66AFDDAEF245}"/>
              </a:ext>
            </a:extLst>
          </p:cNvPr>
          <p:cNvSpPr txBox="1"/>
          <p:nvPr/>
        </p:nvSpPr>
        <p:spPr>
          <a:xfrm>
            <a:off x="1003236" y="6211669"/>
            <a:ext cx="75257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Graham et al. (2025) Biodiversity Patterns Redefined in Environmental Space. </a:t>
            </a:r>
            <a:r>
              <a:rPr lang="en-US" sz="1200" i="1" dirty="0"/>
              <a:t>Ecology Letters. </a:t>
            </a:r>
            <a:r>
              <a:rPr lang="en-US" sz="1200" dirty="0"/>
              <a:t>28: e70008.</a:t>
            </a:r>
          </a:p>
          <a:p>
            <a:endParaRPr lang="en-US" sz="12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F791C37-DA45-F9D1-20E6-A4A0721EC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951" y="348349"/>
            <a:ext cx="8229600" cy="1143000"/>
          </a:xfrm>
        </p:spPr>
        <p:txBody>
          <a:bodyPr>
            <a:normAutofit/>
          </a:bodyPr>
          <a:lstStyle/>
          <a:p>
            <a:r>
              <a:rPr lang="en-US" sz="2800" dirty="0"/>
              <a:t>Biodiversity Patterns in Environmental Space</a:t>
            </a:r>
          </a:p>
        </p:txBody>
      </p:sp>
    </p:spTree>
    <p:extLst>
      <p:ext uri="{BB962C8B-B14F-4D97-AF65-F5344CB8AC3E}">
        <p14:creationId xmlns:p14="http://schemas.microsoft.com/office/powerpoint/2010/main" val="30159132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301A5-0B56-CA48-9DC9-1671B4E99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947" y="184220"/>
            <a:ext cx="8229600" cy="1143000"/>
          </a:xfrm>
        </p:spPr>
        <p:txBody>
          <a:bodyPr>
            <a:normAutofit/>
          </a:bodyPr>
          <a:lstStyle/>
          <a:p>
            <a:r>
              <a:rPr lang="en-US" sz="2800" dirty="0"/>
              <a:t>Hutchinson’s Duality of spaces (Peterson el al. 2011)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8D7618-576E-464D-B2D9-F043FBBC2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702" y="1427429"/>
            <a:ext cx="6562089" cy="395924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5DCEF2B-D7B1-6543-ABB2-A831C529AF3A}"/>
              </a:ext>
            </a:extLst>
          </p:cNvPr>
          <p:cNvSpPr/>
          <p:nvPr/>
        </p:nvSpPr>
        <p:spPr>
          <a:xfrm>
            <a:off x="777043" y="5679394"/>
            <a:ext cx="29407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Spatial interpolation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Spatial transferability</a:t>
            </a:r>
          </a:p>
        </p:txBody>
      </p:sp>
    </p:spTree>
    <p:extLst>
      <p:ext uri="{BB962C8B-B14F-4D97-AF65-F5344CB8AC3E}">
        <p14:creationId xmlns:p14="http://schemas.microsoft.com/office/powerpoint/2010/main" val="14734157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42E43-DA69-954D-A956-AE30E630F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BAM Diagram (Figure 3.1)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1F75D3-FEF1-DF4A-AA55-970265D009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1350" y="1916018"/>
            <a:ext cx="5321300" cy="42291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1010B5-C053-994F-8AC3-928CC230181C}"/>
              </a:ext>
            </a:extLst>
          </p:cNvPr>
          <p:cNvSpPr txBox="1"/>
          <p:nvPr/>
        </p:nvSpPr>
        <p:spPr>
          <a:xfrm>
            <a:off x="6795546" y="2552430"/>
            <a:ext cx="21329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B</a:t>
            </a:r>
            <a:r>
              <a:rPr lang="en-US" dirty="0"/>
              <a:t> – Favorable Biotic </a:t>
            </a:r>
          </a:p>
          <a:p>
            <a:pPr algn="ctr"/>
            <a:r>
              <a:rPr lang="en-US" dirty="0"/>
              <a:t>Factors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E29863-AB87-954D-B3CC-C0BE3E3CF465}"/>
              </a:ext>
            </a:extLst>
          </p:cNvPr>
          <p:cNvSpPr txBox="1"/>
          <p:nvPr/>
        </p:nvSpPr>
        <p:spPr>
          <a:xfrm>
            <a:off x="6686512" y="4397532"/>
            <a:ext cx="236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</a:t>
            </a:r>
            <a:r>
              <a:rPr lang="en-US" dirty="0"/>
              <a:t> – Movement Factors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6C165E-D6EE-8E42-836B-D530703D30CF}"/>
              </a:ext>
            </a:extLst>
          </p:cNvPr>
          <p:cNvSpPr txBox="1"/>
          <p:nvPr/>
        </p:nvSpPr>
        <p:spPr>
          <a:xfrm>
            <a:off x="6826376" y="3512531"/>
            <a:ext cx="1925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</a:t>
            </a:r>
            <a:r>
              <a:rPr lang="en-US" dirty="0"/>
              <a:t> – Abiotic Factors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BC8A6A-0120-C544-A6BF-255DA316A4AB}"/>
              </a:ext>
            </a:extLst>
          </p:cNvPr>
          <p:cNvSpPr txBox="1"/>
          <p:nvPr/>
        </p:nvSpPr>
        <p:spPr>
          <a:xfrm>
            <a:off x="315066" y="2237820"/>
            <a:ext cx="16787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G</a:t>
            </a:r>
            <a:r>
              <a:rPr lang="en-US" dirty="0"/>
              <a:t> – Geographic </a:t>
            </a:r>
          </a:p>
          <a:p>
            <a:pPr algn="ctr"/>
            <a:r>
              <a:rPr lang="en-US" dirty="0"/>
              <a:t>Space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A99E87-8F39-9E46-BFF3-EA12E7D69C4A}"/>
              </a:ext>
            </a:extLst>
          </p:cNvPr>
          <p:cNvSpPr txBox="1"/>
          <p:nvPr/>
        </p:nvSpPr>
        <p:spPr>
          <a:xfrm>
            <a:off x="344914" y="3029762"/>
            <a:ext cx="16190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G</a:t>
            </a:r>
            <a:r>
              <a:rPr lang="en-US" i="1" baseline="-25000" dirty="0"/>
              <a:t>A</a:t>
            </a:r>
            <a:r>
              <a:rPr lang="en-US" dirty="0"/>
              <a:t> – Abiotically</a:t>
            </a:r>
          </a:p>
          <a:p>
            <a:pPr algn="ctr"/>
            <a:r>
              <a:rPr lang="en-US" dirty="0"/>
              <a:t>Suitable Area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B4BA8C-E0D6-5945-8521-8E4BBD0835AC}"/>
              </a:ext>
            </a:extLst>
          </p:cNvPr>
          <p:cNvSpPr txBox="1"/>
          <p:nvPr/>
        </p:nvSpPr>
        <p:spPr>
          <a:xfrm>
            <a:off x="180830" y="3821704"/>
            <a:ext cx="19472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G</a:t>
            </a:r>
            <a:r>
              <a:rPr lang="en-US" b="1" i="1" baseline="-25000" dirty="0"/>
              <a:t>I</a:t>
            </a:r>
            <a:r>
              <a:rPr lang="en-US" dirty="0"/>
              <a:t> – Invadable</a:t>
            </a:r>
          </a:p>
          <a:p>
            <a:pPr algn="ctr"/>
            <a:r>
              <a:rPr lang="en-US" dirty="0"/>
              <a:t>Distributional Area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5D6C01-1CF4-124A-BE2A-A6965C9D1B9E}"/>
              </a:ext>
            </a:extLst>
          </p:cNvPr>
          <p:cNvSpPr txBox="1"/>
          <p:nvPr/>
        </p:nvSpPr>
        <p:spPr>
          <a:xfrm>
            <a:off x="180830" y="4613646"/>
            <a:ext cx="19472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G</a:t>
            </a:r>
            <a:r>
              <a:rPr lang="en-US" b="1" i="1" baseline="-25000" dirty="0"/>
              <a:t>o</a:t>
            </a:r>
            <a:r>
              <a:rPr lang="en-US" dirty="0"/>
              <a:t> – Occupied</a:t>
            </a:r>
          </a:p>
          <a:p>
            <a:pPr algn="ctr"/>
            <a:r>
              <a:rPr lang="en-US" dirty="0"/>
              <a:t>Distributional Area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A6E94F1-C156-2F40-B205-C2D90D73FFD3}"/>
              </a:ext>
            </a:extLst>
          </p:cNvPr>
          <p:cNvSpPr/>
          <p:nvPr/>
        </p:nvSpPr>
        <p:spPr>
          <a:xfrm>
            <a:off x="6504367" y="1121754"/>
            <a:ext cx="182145" cy="19250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3CEA41B-BEB4-4545-9A57-7A3146236C38}"/>
              </a:ext>
            </a:extLst>
          </p:cNvPr>
          <p:cNvSpPr/>
          <p:nvPr/>
        </p:nvSpPr>
        <p:spPr>
          <a:xfrm>
            <a:off x="6504367" y="1439959"/>
            <a:ext cx="182145" cy="1925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3CC7D0-E408-094F-9BA9-E7A95306547D}"/>
              </a:ext>
            </a:extLst>
          </p:cNvPr>
          <p:cNvSpPr txBox="1"/>
          <p:nvPr/>
        </p:nvSpPr>
        <p:spPr>
          <a:xfrm>
            <a:off x="6749091" y="1036435"/>
            <a:ext cx="1036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Presence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DE9F4D-1FCD-D343-A610-9D9EC74003C9}"/>
              </a:ext>
            </a:extLst>
          </p:cNvPr>
          <p:cNvSpPr txBox="1"/>
          <p:nvPr/>
        </p:nvSpPr>
        <p:spPr>
          <a:xfrm>
            <a:off x="6749091" y="1357430"/>
            <a:ext cx="9786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Absence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A84559-3687-7149-949C-B03D905F3276}"/>
              </a:ext>
            </a:extLst>
          </p:cNvPr>
          <p:cNvSpPr txBox="1"/>
          <p:nvPr/>
        </p:nvSpPr>
        <p:spPr>
          <a:xfrm>
            <a:off x="63907" y="5355367"/>
            <a:ext cx="21810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/>
              <a:t>G</a:t>
            </a:r>
            <a:r>
              <a:rPr lang="en-US" b="1" i="1" baseline="-25000" dirty="0" err="1"/>
              <a:t>p</a:t>
            </a:r>
            <a:r>
              <a:rPr lang="en-US" b="1" i="1" baseline="-25000" dirty="0"/>
              <a:t> </a:t>
            </a:r>
            <a:r>
              <a:rPr lang="en-US" dirty="0"/>
              <a:t>– Potential </a:t>
            </a:r>
          </a:p>
          <a:p>
            <a:pPr algn="ctr"/>
            <a:r>
              <a:rPr lang="en-US" dirty="0"/>
              <a:t>Distribution (</a:t>
            </a:r>
            <a:r>
              <a:rPr lang="en-US" b="1" dirty="0"/>
              <a:t>G</a:t>
            </a:r>
            <a:r>
              <a:rPr lang="en-US" b="1" i="1" baseline="-25000" dirty="0"/>
              <a:t>I  </a:t>
            </a:r>
            <a:r>
              <a:rPr lang="en-US" b="1" i="1" dirty="0"/>
              <a:t>+ </a:t>
            </a:r>
            <a:r>
              <a:rPr lang="en-US" b="1" dirty="0"/>
              <a:t>G</a:t>
            </a:r>
            <a:r>
              <a:rPr lang="en-US" b="1" i="1" baseline="-25000" dirty="0"/>
              <a:t>o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84353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42E43-DA69-954D-A956-AE30E630F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G-space corresponds to E-space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AA08E2-1A16-7F40-9901-CA568DDD4FD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4892"/>
          <a:stretch/>
        </p:blipFill>
        <p:spPr>
          <a:xfrm>
            <a:off x="667843" y="2335801"/>
            <a:ext cx="7808313" cy="280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473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2107D-A96D-64AA-DA75-FA3E4A278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1213E-9BDF-A5F7-33F9-4D03DD5A94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3658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456A3-B9F3-C54D-B9F8-24A913A5C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Biotically reduced niche (equivalent to realized niche)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262FF76-0BB1-CB49-9E89-514E3CBA54BA}"/>
                  </a:ext>
                </a:extLst>
              </p:cNvPr>
              <p:cNvSpPr txBox="1"/>
              <p:nvPr/>
            </p:nvSpPr>
            <p:spPr>
              <a:xfrm>
                <a:off x="633024" y="5159137"/>
                <a:ext cx="787795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Competitive exclusion at local scales might not scale up to influence geographic distributions at broad spatial extents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 err="1"/>
                  <a:t>Eltonian</a:t>
                </a:r>
                <a:r>
                  <a:rPr lang="en-US" dirty="0"/>
                  <a:t> Noise Hypothesis (A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dirty="0"/>
                  <a:t>B)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262FF76-0BB1-CB49-9E89-514E3CBA54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024" y="5159137"/>
                <a:ext cx="7877952" cy="1200329"/>
              </a:xfrm>
              <a:prstGeom prst="rect">
                <a:avLst/>
              </a:prstGeom>
              <a:blipFill>
                <a:blip r:embed="rId2"/>
                <a:stretch>
                  <a:fillRect l="-322" t="-1042" r="-644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986E9E05-100B-D346-97C8-B690BD90DE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3767" y="1677741"/>
            <a:ext cx="5385564" cy="25235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E5F89AC-66DA-9842-9AFC-0EE42A608A19}"/>
              </a:ext>
            </a:extLst>
          </p:cNvPr>
          <p:cNvSpPr txBox="1"/>
          <p:nvPr/>
        </p:nvSpPr>
        <p:spPr>
          <a:xfrm>
            <a:off x="1802107" y="4217996"/>
            <a:ext cx="53085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3.3. BAM diagram redrawn to stress differences of spatial resolution in B versus A and M.</a:t>
            </a:r>
          </a:p>
        </p:txBody>
      </p:sp>
    </p:spTree>
    <p:extLst>
      <p:ext uri="{BB962C8B-B14F-4D97-AF65-F5344CB8AC3E}">
        <p14:creationId xmlns:p14="http://schemas.microsoft.com/office/powerpoint/2010/main" val="30193004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86AA2-A749-FC44-A9EA-9E035B5BE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600" dirty="0"/>
              <a:t>Estimating the fundamental niche, mechanistic niche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12713-3B8A-324B-8DA6-A0EF62A47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500" dirty="0"/>
              <a:t>Process-based physiological models</a:t>
            </a:r>
          </a:p>
          <a:p>
            <a:r>
              <a:rPr lang="en-US" sz="2500" dirty="0"/>
              <a:t>First principles of energy transfer and function to describe the ecological physiology of a species</a:t>
            </a:r>
          </a:p>
          <a:p>
            <a:r>
              <a:rPr lang="en-US" sz="2500" dirty="0"/>
              <a:t>Independent of correlative modeling approaches</a:t>
            </a:r>
          </a:p>
          <a:p>
            <a:r>
              <a:rPr lang="en-US" sz="2500" dirty="0"/>
              <a:t>Labor intensive laboratory work, so not readily available for a large number of species</a:t>
            </a:r>
          </a:p>
          <a:p>
            <a:r>
              <a:rPr lang="en-US" sz="2500" dirty="0"/>
              <a:t>Climate variables don’t always represent limiting physiological conditions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EEE76C-63EE-5D45-AB4E-BC0BF7CC0630}"/>
              </a:ext>
            </a:extLst>
          </p:cNvPr>
          <p:cNvSpPr txBox="1"/>
          <p:nvPr/>
        </p:nvSpPr>
        <p:spPr>
          <a:xfrm>
            <a:off x="192505" y="6352674"/>
            <a:ext cx="5693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Suggested Reading: Kearney and Porter 2004, Buckley 2008</a:t>
            </a:r>
          </a:p>
        </p:txBody>
      </p:sp>
    </p:spTree>
    <p:extLst>
      <p:ext uri="{BB962C8B-B14F-4D97-AF65-F5344CB8AC3E}">
        <p14:creationId xmlns:p14="http://schemas.microsoft.com/office/powerpoint/2010/main" val="18218060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86AA2-A749-FC44-A9EA-9E035B5BE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600" dirty="0"/>
              <a:t>Estimating the fundamental niche, correlative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12713-3B8A-324B-8DA6-A0EF62A47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500" dirty="0"/>
              <a:t>Estimate </a:t>
            </a:r>
            <a:r>
              <a:rPr lang="en-US" sz="2500" i="1" dirty="0"/>
              <a:t>existing</a:t>
            </a:r>
            <a:r>
              <a:rPr lang="en-US" sz="2500" dirty="0"/>
              <a:t> fundamental niche (E</a:t>
            </a:r>
            <a:r>
              <a:rPr lang="en-US" sz="2500" baseline="-25000" dirty="0"/>
              <a:t>A</a:t>
            </a:r>
            <a:r>
              <a:rPr lang="en-US" sz="2500" dirty="0"/>
              <a:t>) from observations of presence of a species in relation to environmental variation</a:t>
            </a:r>
          </a:p>
          <a:p>
            <a:r>
              <a:rPr lang="en-US" sz="2500" dirty="0"/>
              <a:t>Presence-only data</a:t>
            </a:r>
          </a:p>
          <a:p>
            <a:r>
              <a:rPr lang="en-US" sz="2500" dirty="0"/>
              <a:t>Occupied distribution may be reduced from biotic interactions and/or dispersal limitations</a:t>
            </a:r>
          </a:p>
          <a:p>
            <a:r>
              <a:rPr lang="en-US" sz="2500" dirty="0"/>
              <a:t>Thinking about the configuration of BAM is important</a:t>
            </a:r>
          </a:p>
        </p:txBody>
      </p:sp>
    </p:spTree>
    <p:extLst>
      <p:ext uri="{BB962C8B-B14F-4D97-AF65-F5344CB8AC3E}">
        <p14:creationId xmlns:p14="http://schemas.microsoft.com/office/powerpoint/2010/main" val="90954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12CD5-1CC0-8148-9952-E5BA14506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Different configurations of BAM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FDF74E-99B6-9240-980A-571CB497F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255" y="1772388"/>
            <a:ext cx="5592678" cy="46605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DB94E7-1CD7-D341-BE37-6B5324BBBE79}"/>
              </a:ext>
            </a:extLst>
          </p:cNvPr>
          <p:cNvSpPr txBox="1"/>
          <p:nvPr/>
        </p:nvSpPr>
        <p:spPr>
          <a:xfrm>
            <a:off x="635668" y="6356822"/>
            <a:ext cx="1111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Figure 3.5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678FB8-8DDE-2342-A578-A3588FB4E5B4}"/>
              </a:ext>
            </a:extLst>
          </p:cNvPr>
          <p:cNvSpPr txBox="1"/>
          <p:nvPr/>
        </p:nvSpPr>
        <p:spPr>
          <a:xfrm>
            <a:off x="7078478" y="2453722"/>
            <a:ext cx="18516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limits on </a:t>
            </a:r>
          </a:p>
          <a:p>
            <a:r>
              <a:rPr lang="en-US" dirty="0"/>
              <a:t>dispersal and</a:t>
            </a:r>
          </a:p>
          <a:p>
            <a:r>
              <a:rPr lang="en-US" dirty="0"/>
              <a:t>biotically reduced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5BFA5F-CF7F-8149-84A4-81C705AD829C}"/>
              </a:ext>
            </a:extLst>
          </p:cNvPr>
          <p:cNvSpPr txBox="1"/>
          <p:nvPr/>
        </p:nvSpPr>
        <p:spPr>
          <a:xfrm>
            <a:off x="166355" y="4645611"/>
            <a:ext cx="150810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limits on </a:t>
            </a:r>
          </a:p>
          <a:p>
            <a:r>
              <a:rPr lang="en-US" dirty="0"/>
              <a:t>dispersal and</a:t>
            </a:r>
          </a:p>
          <a:p>
            <a:r>
              <a:rPr lang="en-US" dirty="0" err="1"/>
              <a:t>Eltonian</a:t>
            </a:r>
            <a:r>
              <a:rPr lang="en-US" dirty="0"/>
              <a:t> noise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338D4B-4F3D-A14B-94D8-8359A4F613E2}"/>
              </a:ext>
            </a:extLst>
          </p:cNvPr>
          <p:cNvSpPr txBox="1"/>
          <p:nvPr/>
        </p:nvSpPr>
        <p:spPr>
          <a:xfrm>
            <a:off x="7116523" y="4645611"/>
            <a:ext cx="150810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Limits on </a:t>
            </a:r>
          </a:p>
          <a:p>
            <a:r>
              <a:rPr lang="en-US" dirty="0"/>
              <a:t>dispersal and</a:t>
            </a:r>
          </a:p>
          <a:p>
            <a:r>
              <a:rPr lang="en-US" dirty="0" err="1"/>
              <a:t>Eltonian</a:t>
            </a:r>
            <a:r>
              <a:rPr lang="en-US" dirty="0"/>
              <a:t> noise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A0BFA1-1566-B849-A96F-F95DF5750B91}"/>
              </a:ext>
            </a:extLst>
          </p:cNvPr>
          <p:cNvSpPr txBox="1"/>
          <p:nvPr/>
        </p:nvSpPr>
        <p:spPr>
          <a:xfrm>
            <a:off x="96242" y="2315223"/>
            <a:ext cx="19250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Limits on dispersal and biotically reduced</a:t>
            </a:r>
          </a:p>
        </p:txBody>
      </p:sp>
    </p:spTree>
    <p:extLst>
      <p:ext uri="{BB962C8B-B14F-4D97-AF65-F5344CB8AC3E}">
        <p14:creationId xmlns:p14="http://schemas.microsoft.com/office/powerpoint/2010/main" val="3552569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E41BE-F0D3-AC47-B8CD-664164EF0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52658"/>
            <a:ext cx="8229600" cy="1143000"/>
          </a:xfrm>
        </p:spPr>
        <p:txBody>
          <a:bodyPr>
            <a:normAutofit/>
          </a:bodyPr>
          <a:lstStyle/>
          <a:p>
            <a:r>
              <a:rPr lang="en-US" sz="2800" dirty="0"/>
              <a:t>Occurrence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CBE24-690F-6441-BC21-664B9A47DA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95658"/>
            <a:ext cx="8229600" cy="4353775"/>
          </a:xfrm>
        </p:spPr>
        <p:txBody>
          <a:bodyPr/>
          <a:lstStyle/>
          <a:p>
            <a:r>
              <a:rPr lang="en-US" sz="2600" dirty="0"/>
              <a:t>When “true” absences are known</a:t>
            </a:r>
          </a:p>
          <a:p>
            <a:pPr lvl="1"/>
            <a:r>
              <a:rPr lang="en-US" dirty="0"/>
              <a:t>Typical statistical methods</a:t>
            </a:r>
          </a:p>
          <a:p>
            <a:pPr lvl="2"/>
            <a:r>
              <a:rPr lang="en-US" dirty="0"/>
              <a:t>Generalized Linear Modeling (GLM)</a:t>
            </a:r>
          </a:p>
          <a:p>
            <a:pPr lvl="2"/>
            <a:r>
              <a:rPr lang="en-US" dirty="0"/>
              <a:t>Generalized Additive Modeling (GAM)</a:t>
            </a:r>
          </a:p>
          <a:p>
            <a:pPr lvl="2"/>
            <a:r>
              <a:rPr lang="en-US" dirty="0"/>
              <a:t>Regression Trees</a:t>
            </a:r>
          </a:p>
          <a:p>
            <a:pPr lvl="1"/>
            <a:r>
              <a:rPr lang="en-US" dirty="0"/>
              <a:t>Models calibrated with presence and absence data are Species Distribution Models (SDM)</a:t>
            </a:r>
          </a:p>
          <a:p>
            <a:r>
              <a:rPr lang="en-US" sz="2500" dirty="0"/>
              <a:t>Most biodiversity datasets are presence-only data</a:t>
            </a:r>
          </a:p>
          <a:p>
            <a:pPr lvl="1"/>
            <a:r>
              <a:rPr lang="en-US" dirty="0"/>
              <a:t>Finding similar E to occupied E (E</a:t>
            </a:r>
            <a:r>
              <a:rPr lang="en-US" baseline="-25000" dirty="0"/>
              <a:t>O</a:t>
            </a:r>
            <a:r>
              <a:rPr lang="en-US" dirty="0"/>
              <a:t>) in G-space</a:t>
            </a:r>
          </a:p>
          <a:p>
            <a:pPr lvl="1"/>
            <a:r>
              <a:rPr lang="en-US" dirty="0"/>
              <a:t>Ecological Niche Modeling (ENM)</a:t>
            </a:r>
          </a:p>
        </p:txBody>
      </p:sp>
    </p:spTree>
    <p:extLst>
      <p:ext uri="{BB962C8B-B14F-4D97-AF65-F5344CB8AC3E}">
        <p14:creationId xmlns:p14="http://schemas.microsoft.com/office/powerpoint/2010/main" val="566980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16125</TotalTime>
  <Words>1441</Words>
  <Application>Microsoft Macintosh PowerPoint</Application>
  <PresentationFormat>On-screen Show (4:3)</PresentationFormat>
  <Paragraphs>199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Cambria Math</vt:lpstr>
      <vt:lpstr>Office Theme</vt:lpstr>
      <vt:lpstr>Week 2. Niches and Distributions</vt:lpstr>
      <vt:lpstr>Welcome, hello, any announcements?</vt:lpstr>
      <vt:lpstr>Workshop Course</vt:lpstr>
      <vt:lpstr>Class Plan</vt:lpstr>
      <vt:lpstr>Git, GitHub Desktop, and GitHub</vt:lpstr>
      <vt:lpstr>The basic workflow</vt:lpstr>
      <vt:lpstr>Pulling</vt:lpstr>
      <vt:lpstr>RStudio</vt:lpstr>
      <vt:lpstr>Objects and functions</vt:lpstr>
      <vt:lpstr>Understanding the data content and structure</vt:lpstr>
      <vt:lpstr>QC is easiest as a logical TRUE/FALSE</vt:lpstr>
      <vt:lpstr>Subsetting (selecting part of a dataset)</vt:lpstr>
      <vt:lpstr>Subsetting</vt:lpstr>
      <vt:lpstr>How to debug</vt:lpstr>
      <vt:lpstr>Lab 01 Revise and Resubmit</vt:lpstr>
      <vt:lpstr>PowerPoint Presentation</vt:lpstr>
      <vt:lpstr>PowerPoint Presentation</vt:lpstr>
      <vt:lpstr>Observed records reflect sampling effort as well as biology</vt:lpstr>
      <vt:lpstr>Geographic distributions</vt:lpstr>
      <vt:lpstr>Niches and Geographic Distributions</vt:lpstr>
      <vt:lpstr>Hutchinson’s Duality of spaces</vt:lpstr>
      <vt:lpstr>Hutchinson’s Duality of spaces</vt:lpstr>
      <vt:lpstr>Biodiversity Patterns in Environmental Space</vt:lpstr>
      <vt:lpstr>Hutchinson’s Duality of spaces (Peterson el al. 2011)</vt:lpstr>
      <vt:lpstr>BAM Diagram (Figure 3.1)</vt:lpstr>
      <vt:lpstr>G-space corresponds to E-space</vt:lpstr>
      <vt:lpstr>PowerPoint Presentation</vt:lpstr>
      <vt:lpstr>Biotically reduced niche (equivalent to realized niche)</vt:lpstr>
      <vt:lpstr>Estimating the fundamental niche, mechanistic niche models</vt:lpstr>
      <vt:lpstr>Estimating the fundamental niche, correlative approach</vt:lpstr>
      <vt:lpstr>Different configurations of BAM</vt:lpstr>
      <vt:lpstr>Occurrence data</vt:lpstr>
    </vt:vector>
  </TitlesOfParts>
  <Company>TAMU - Spatial Sciences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 Projections</dc:title>
  <dc:creator>Michelle Lawing</dc:creator>
  <cp:lastModifiedBy>Michelle Lawing</cp:lastModifiedBy>
  <cp:revision>778</cp:revision>
  <dcterms:created xsi:type="dcterms:W3CDTF">2014-08-30T17:37:24Z</dcterms:created>
  <dcterms:modified xsi:type="dcterms:W3CDTF">2026-09-03T19:50:57Z</dcterms:modified>
</cp:coreProperties>
</file>