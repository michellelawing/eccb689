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handoutMasterIdLst>
    <p:handoutMasterId r:id="rId44"/>
  </p:handoutMasterIdLst>
  <p:sldIdLst>
    <p:sldId id="256" r:id="rId2"/>
    <p:sldId id="515" r:id="rId3"/>
    <p:sldId id="540" r:id="rId4"/>
    <p:sldId id="514" r:id="rId5"/>
    <p:sldId id="566" r:id="rId6"/>
    <p:sldId id="567" r:id="rId7"/>
    <p:sldId id="568" r:id="rId8"/>
    <p:sldId id="569" r:id="rId9"/>
    <p:sldId id="575" r:id="rId10"/>
    <p:sldId id="570" r:id="rId11"/>
    <p:sldId id="571" r:id="rId12"/>
    <p:sldId id="572" r:id="rId13"/>
    <p:sldId id="573" r:id="rId14"/>
    <p:sldId id="589" r:id="rId15"/>
    <p:sldId id="577" r:id="rId16"/>
    <p:sldId id="582" r:id="rId17"/>
    <p:sldId id="580" r:id="rId18"/>
    <p:sldId id="578" r:id="rId19"/>
    <p:sldId id="588" r:id="rId20"/>
    <p:sldId id="587" r:id="rId21"/>
    <p:sldId id="583" r:id="rId22"/>
    <p:sldId id="579" r:id="rId23"/>
    <p:sldId id="585" r:id="rId24"/>
    <p:sldId id="586" r:id="rId25"/>
    <p:sldId id="584" r:id="rId26"/>
    <p:sldId id="574" r:id="rId27"/>
    <p:sldId id="590" r:id="rId28"/>
    <p:sldId id="609" r:id="rId29"/>
    <p:sldId id="591" r:id="rId30"/>
    <p:sldId id="610" r:id="rId31"/>
    <p:sldId id="595" r:id="rId32"/>
    <p:sldId id="594" r:id="rId33"/>
    <p:sldId id="593" r:id="rId34"/>
    <p:sldId id="592" r:id="rId35"/>
    <p:sldId id="598" r:id="rId36"/>
    <p:sldId id="597" r:id="rId37"/>
    <p:sldId id="596" r:id="rId38"/>
    <p:sldId id="602" r:id="rId39"/>
    <p:sldId id="601" r:id="rId40"/>
    <p:sldId id="600" r:id="rId41"/>
    <p:sldId id="604" r:id="rId4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6E93F3-11AD-C848-9581-61FF99ABE858}">
          <p14:sldIdLst>
            <p14:sldId id="256"/>
            <p14:sldId id="515"/>
            <p14:sldId id="540"/>
            <p14:sldId id="514"/>
            <p14:sldId id="566"/>
            <p14:sldId id="567"/>
            <p14:sldId id="568"/>
            <p14:sldId id="569"/>
            <p14:sldId id="575"/>
            <p14:sldId id="570"/>
            <p14:sldId id="571"/>
            <p14:sldId id="572"/>
            <p14:sldId id="573"/>
            <p14:sldId id="589"/>
            <p14:sldId id="577"/>
            <p14:sldId id="582"/>
            <p14:sldId id="580"/>
            <p14:sldId id="578"/>
            <p14:sldId id="588"/>
            <p14:sldId id="587"/>
            <p14:sldId id="583"/>
            <p14:sldId id="579"/>
            <p14:sldId id="585"/>
            <p14:sldId id="586"/>
            <p14:sldId id="584"/>
            <p14:sldId id="574"/>
            <p14:sldId id="590"/>
            <p14:sldId id="609"/>
            <p14:sldId id="591"/>
            <p14:sldId id="610"/>
            <p14:sldId id="595"/>
            <p14:sldId id="594"/>
            <p14:sldId id="593"/>
            <p14:sldId id="592"/>
            <p14:sldId id="598"/>
            <p14:sldId id="597"/>
            <p14:sldId id="596"/>
            <p14:sldId id="602"/>
            <p14:sldId id="601"/>
            <p14:sldId id="600"/>
            <p14:sldId id="604"/>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na Law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4589"/>
  </p:normalViewPr>
  <p:slideViewPr>
    <p:cSldViewPr snapToGrid="0" snapToObjects="1">
      <p:cViewPr varScale="1">
        <p:scale>
          <a:sx n="134" d="100"/>
          <a:sy n="134" d="100"/>
        </p:scale>
        <p:origin x="184" y="600"/>
      </p:cViewPr>
      <p:guideLst>
        <p:guide orient="horz" pos="1620"/>
        <p:guide pos="2880"/>
      </p:guideLst>
    </p:cSldViewPr>
  </p:slideViewPr>
  <p:notesTextViewPr>
    <p:cViewPr>
      <p:scale>
        <a:sx n="100" d="100"/>
        <a:sy n="100" d="100"/>
      </p:scale>
      <p:origin x="0" y="0"/>
    </p:cViewPr>
  </p:notesTextViewPr>
  <p:notesViewPr>
    <p:cSldViewPr snapToGrid="0" snapToObjects="1">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2D4AE1-BD9C-1741-B132-ACC4FD870A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C52F900-87CF-6E4F-9FCE-F0A8E37B2F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8404FB-D815-9B49-9DBC-B684E3C0E790}" type="datetimeFigureOut">
              <a:rPr lang="en-US" smtClean="0"/>
              <a:t>9/29/26</a:t>
            </a:fld>
            <a:endParaRPr lang="en-US"/>
          </a:p>
        </p:txBody>
      </p:sp>
      <p:sp>
        <p:nvSpPr>
          <p:cNvPr id="4" name="Footer Placeholder 3">
            <a:extLst>
              <a:ext uri="{FF2B5EF4-FFF2-40B4-BE49-F238E27FC236}">
                <a16:creationId xmlns:a16="http://schemas.microsoft.com/office/drawing/2014/main" id="{749167D0-463A-4043-821F-310E6E0480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1556C2-9555-094A-9761-17FDE74E66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95A322-2EE7-5046-A0D8-D3FF3645CA32}" type="slidenum">
              <a:rPr lang="en-US" smtClean="0"/>
              <a:t>‹#›</a:t>
            </a:fld>
            <a:endParaRPr lang="en-US"/>
          </a:p>
        </p:txBody>
      </p:sp>
    </p:spTree>
    <p:extLst>
      <p:ext uri="{BB962C8B-B14F-4D97-AF65-F5344CB8AC3E}">
        <p14:creationId xmlns:p14="http://schemas.microsoft.com/office/powerpoint/2010/main" val="36596563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AC5A93-540D-2443-A380-5679C155FF14}" type="datetimeFigureOut">
              <a:rPr lang="en-US" smtClean="0"/>
              <a:t>9/29/26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0A90D5-3B1D-1149-800E-15EBB2932B0B}" type="slidenum">
              <a:rPr lang="en-US" smtClean="0"/>
              <a:t>‹#›</a:t>
            </a:fld>
            <a:endParaRPr lang="en-US"/>
          </a:p>
        </p:txBody>
      </p:sp>
    </p:spTree>
    <p:extLst>
      <p:ext uri="{BB962C8B-B14F-4D97-AF65-F5344CB8AC3E}">
        <p14:creationId xmlns:p14="http://schemas.microsoft.com/office/powerpoint/2010/main" val="17853657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44079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06069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4120590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499436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8" name="Footer Placeholder 7"/>
          <p:cNvSpPr>
            <a:spLocks noGrp="1"/>
          </p:cNvSpPr>
          <p:nvPr>
            <p:ph type="ftr" sz="quarter" idx="11"/>
          </p:nvPr>
        </p:nvSpPr>
        <p:spPr>
          <a:xfrm>
            <a:off x="87432" y="69057"/>
            <a:ext cx="3417621"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39190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4" name="Footer Placeholder 3"/>
          <p:cNvSpPr>
            <a:spLocks noGrp="1"/>
          </p:cNvSpPr>
          <p:nvPr>
            <p:ph type="ftr" sz="quarter" idx="11"/>
          </p:nvPr>
        </p:nvSpPr>
        <p:spPr>
          <a:xfrm>
            <a:off x="87432" y="69057"/>
            <a:ext cx="3417621"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339236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3" name="Footer Placeholder 2"/>
          <p:cNvSpPr>
            <a:spLocks noGrp="1"/>
          </p:cNvSpPr>
          <p:nvPr>
            <p:ph type="ftr" sz="quarter" idx="11"/>
          </p:nvPr>
        </p:nvSpPr>
        <p:spPr>
          <a:xfrm>
            <a:off x="87432" y="69057"/>
            <a:ext cx="3417621" cy="273844"/>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2294834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139741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251650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4159324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528596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72041"/>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29292"/>
            <a:ext cx="8229600" cy="326533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EE7B1D5-5050-0D43-BD0C-41769CA1EAB2}" type="slidenum">
              <a:rPr lang="en-US" smtClean="0"/>
              <a:t>‹#›</a:t>
            </a:fld>
            <a:endParaRPr lang="en-US"/>
          </a:p>
        </p:txBody>
      </p:sp>
      <p:sp>
        <p:nvSpPr>
          <p:cNvPr id="7" name="Footer Placeholder 4"/>
          <p:cNvSpPr txBox="1">
            <a:spLocks/>
          </p:cNvSpPr>
          <p:nvPr userDrawn="1"/>
        </p:nvSpPr>
        <p:spPr>
          <a:xfrm>
            <a:off x="6768856" y="69057"/>
            <a:ext cx="2368925" cy="273844"/>
          </a:xfrm>
          <a:prstGeom prst="rect">
            <a:avLst/>
          </a:prstGeom>
        </p:spPr>
        <p:txBody>
          <a:bodyPr vert="horz" lIns="68580" tIns="34290" rIns="68580" bIns="34290" rtlCol="0" anchor="ctr"/>
          <a:lstStyle>
            <a:defPPr>
              <a:defRPr lang="en-US"/>
            </a:defPPr>
            <a:lvl1pPr marL="0" algn="l" defTabSz="457200" rtl="0" eaLnBrk="1" latinLnBrk="0" hangingPunct="1">
              <a:defRPr sz="1000" kern="1200">
                <a:solidFill>
                  <a:schemeClr val="tx1">
                    <a:tint val="75000"/>
                  </a:schemeClr>
                </a:solidFill>
                <a:latin typeface="Calibri"/>
                <a:ea typeface="+mn-ea"/>
                <a:cs typeface="Calibri"/>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lumMod val="50000"/>
                  </a:schemeClr>
                </a:solidFill>
              </a:rPr>
              <a:t>ECCB</a:t>
            </a:r>
            <a:r>
              <a:rPr lang="en-US" sz="1100" baseline="0" dirty="0">
                <a:solidFill>
                  <a:schemeClr val="bg1">
                    <a:lumMod val="50000"/>
                  </a:schemeClr>
                </a:solidFill>
              </a:rPr>
              <a:t> 689 Modeling Ecological Niches</a:t>
            </a:r>
          </a:p>
          <a:p>
            <a:r>
              <a:rPr lang="en-US" sz="1100" baseline="0" dirty="0">
                <a:solidFill>
                  <a:schemeClr val="bg1">
                    <a:lumMod val="50000"/>
                  </a:schemeClr>
                </a:solidFill>
              </a:rPr>
              <a:t>and Species’ Geographic Distributions</a:t>
            </a:r>
            <a:endParaRPr lang="en-US" sz="1100" dirty="0">
              <a:solidFill>
                <a:schemeClr val="bg1">
                  <a:lumMod val="50000"/>
                </a:schemeClr>
              </a:solidFill>
            </a:endParaRPr>
          </a:p>
        </p:txBody>
      </p:sp>
      <p:sp>
        <p:nvSpPr>
          <p:cNvPr id="9" name="Footer Placeholder 4"/>
          <p:cNvSpPr txBox="1">
            <a:spLocks/>
          </p:cNvSpPr>
          <p:nvPr userDrawn="1"/>
        </p:nvSpPr>
        <p:spPr>
          <a:xfrm>
            <a:off x="94237" y="69057"/>
            <a:ext cx="3735891" cy="273844"/>
          </a:xfrm>
          <a:prstGeom prst="rect">
            <a:avLst/>
          </a:prstGeom>
        </p:spPr>
        <p:txBody>
          <a:bodyPr vert="horz" lIns="68580" tIns="34290" rIns="68580" bIns="34290" rtlCol="0" anchor="ctr"/>
          <a:lstStyle>
            <a:defPPr>
              <a:defRPr lang="en-US"/>
            </a:defPPr>
            <a:lvl1pPr marL="0" algn="l" defTabSz="457200" rtl="0" eaLnBrk="1" latinLnBrk="0" hangingPunct="1">
              <a:defRPr sz="1000" kern="1200">
                <a:solidFill>
                  <a:schemeClr val="tx1">
                    <a:tint val="75000"/>
                  </a:schemeClr>
                </a:solidFill>
                <a:latin typeface="Calibri"/>
                <a:ea typeface="+mn-ea"/>
                <a:cs typeface="Calibri"/>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lumMod val="50000"/>
                  </a:schemeClr>
                </a:solidFill>
              </a:rPr>
              <a:t>Ecology and Conservation Biology | </a:t>
            </a:r>
            <a:r>
              <a:rPr lang="en-US" sz="1100" dirty="0">
                <a:solidFill>
                  <a:srgbClr val="800000"/>
                </a:solidFill>
              </a:rPr>
              <a:t>Texas A&amp;M University</a:t>
            </a:r>
          </a:p>
        </p:txBody>
      </p:sp>
    </p:spTree>
    <p:extLst>
      <p:ext uri="{BB962C8B-B14F-4D97-AF65-F5344CB8AC3E}">
        <p14:creationId xmlns:p14="http://schemas.microsoft.com/office/powerpoint/2010/main" val="1907738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2700" kern="1200">
          <a:solidFill>
            <a:srgbClr val="800000"/>
          </a:solidFill>
          <a:latin typeface="+mj-lt"/>
          <a:ea typeface="+mj-ea"/>
          <a:cs typeface="+mj-cs"/>
        </a:defRPr>
      </a:lvl1pPr>
    </p:titleStyle>
    <p:bodyStyle>
      <a:lvl1pPr marL="257175" indent="-257175" algn="l" defTabSz="342900" rtl="0" eaLnBrk="1" latinLnBrk="0" hangingPunct="1">
        <a:spcBef>
          <a:spcPct val="20000"/>
        </a:spcBef>
        <a:buFont typeface="Arial"/>
        <a:buChar char="•"/>
        <a:defRPr sz="21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18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5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35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35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4589" y="1469231"/>
            <a:ext cx="7158247" cy="1102519"/>
          </a:xfrm>
        </p:spPr>
        <p:txBody>
          <a:bodyPr>
            <a:normAutofit/>
          </a:bodyPr>
          <a:lstStyle/>
          <a:p>
            <a:r>
              <a:rPr lang="en-US" sz="2800" dirty="0"/>
              <a:t>Week 5. Robustness, Models, Environments</a:t>
            </a:r>
          </a:p>
        </p:txBody>
      </p:sp>
      <p:sp>
        <p:nvSpPr>
          <p:cNvPr id="3" name="Subtitle 2"/>
          <p:cNvSpPr>
            <a:spLocks noGrp="1"/>
          </p:cNvSpPr>
          <p:nvPr>
            <p:ph type="subTitle" idx="1"/>
          </p:nvPr>
        </p:nvSpPr>
        <p:spPr>
          <a:xfrm>
            <a:off x="3408812" y="2826129"/>
            <a:ext cx="2326373" cy="1001825"/>
          </a:xfrm>
        </p:spPr>
        <p:txBody>
          <a:bodyPr>
            <a:normAutofit fontScale="85000" lnSpcReduction="10000"/>
          </a:bodyPr>
          <a:lstStyle/>
          <a:p>
            <a:r>
              <a:rPr lang="en-US" sz="1600" dirty="0">
                <a:solidFill>
                  <a:srgbClr val="800000"/>
                </a:solidFill>
              </a:rPr>
              <a:t>A. Michelle Lawing, PhD</a:t>
            </a:r>
          </a:p>
          <a:p>
            <a:pPr>
              <a:spcBef>
                <a:spcPts val="0"/>
              </a:spcBef>
            </a:pPr>
            <a:r>
              <a:rPr lang="en-US" sz="1200" dirty="0">
                <a:solidFill>
                  <a:schemeClr val="tx1"/>
                </a:solidFill>
              </a:rPr>
              <a:t>Associate Professor</a:t>
            </a:r>
          </a:p>
          <a:p>
            <a:pPr>
              <a:spcBef>
                <a:spcPts val="0"/>
              </a:spcBef>
            </a:pPr>
            <a:r>
              <a:rPr lang="en-US" sz="1200" dirty="0">
                <a:solidFill>
                  <a:schemeClr val="tx1"/>
                </a:solidFill>
              </a:rPr>
              <a:t>Paleobiology, Evolution, and Climate Lab</a:t>
            </a:r>
          </a:p>
          <a:p>
            <a:pPr>
              <a:spcBef>
                <a:spcPts val="0"/>
              </a:spcBef>
            </a:pPr>
            <a:r>
              <a:rPr lang="en-US" sz="1200" dirty="0">
                <a:solidFill>
                  <a:schemeClr val="tx1"/>
                </a:solidFill>
              </a:rPr>
              <a:t>Ecology and Conservation Biology</a:t>
            </a:r>
          </a:p>
          <a:p>
            <a:pPr>
              <a:spcBef>
                <a:spcPts val="0"/>
              </a:spcBef>
            </a:pPr>
            <a:r>
              <a:rPr lang="en-US" sz="1200" dirty="0">
                <a:solidFill>
                  <a:schemeClr val="tx1"/>
                </a:solidFill>
              </a:rPr>
              <a:t>Texas A&amp;M University</a:t>
            </a:r>
          </a:p>
          <a:p>
            <a:pPr>
              <a:spcBef>
                <a:spcPts val="0"/>
              </a:spcBef>
            </a:pPr>
            <a:r>
              <a:rPr lang="en-US" sz="1200" dirty="0" err="1">
                <a:solidFill>
                  <a:schemeClr val="tx1"/>
                </a:solidFill>
              </a:rPr>
              <a:t>alawing@tamu.edu</a:t>
            </a:r>
            <a:endParaRPr lang="en-US" sz="1200" dirty="0">
              <a:solidFill>
                <a:schemeClr val="tx1"/>
              </a:solidFill>
            </a:endParaRPr>
          </a:p>
          <a:p>
            <a:endParaRPr lang="en-US" sz="1200" dirty="0"/>
          </a:p>
        </p:txBody>
      </p:sp>
    </p:spTree>
    <p:extLst>
      <p:ext uri="{BB962C8B-B14F-4D97-AF65-F5344CB8AC3E}">
        <p14:creationId xmlns:p14="http://schemas.microsoft.com/office/powerpoint/2010/main" val="310477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0A04-CC46-81EB-10DB-8BF42B54283C}"/>
              </a:ext>
            </a:extLst>
          </p:cNvPr>
          <p:cNvSpPr>
            <a:spLocks noGrp="1"/>
          </p:cNvSpPr>
          <p:nvPr>
            <p:ph type="title"/>
          </p:nvPr>
        </p:nvSpPr>
        <p:spPr>
          <a:xfrm>
            <a:off x="1824487" y="1979975"/>
            <a:ext cx="5495026" cy="857250"/>
          </a:xfrm>
        </p:spPr>
        <p:txBody>
          <a:bodyPr>
            <a:normAutofit/>
          </a:bodyPr>
          <a:lstStyle/>
          <a:p>
            <a:r>
              <a:rPr lang="en-US" dirty="0"/>
              <a:t>Welcome, hello, any announcements?</a:t>
            </a:r>
          </a:p>
        </p:txBody>
      </p:sp>
    </p:spTree>
    <p:extLst>
      <p:ext uri="{BB962C8B-B14F-4D97-AF65-F5344CB8AC3E}">
        <p14:creationId xmlns:p14="http://schemas.microsoft.com/office/powerpoint/2010/main" val="1826526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529E7-D049-043B-4B15-5DABF32E1E99}"/>
              </a:ext>
            </a:extLst>
          </p:cNvPr>
          <p:cNvSpPr>
            <a:spLocks noGrp="1"/>
          </p:cNvSpPr>
          <p:nvPr>
            <p:ph type="title"/>
          </p:nvPr>
        </p:nvSpPr>
        <p:spPr>
          <a:xfrm>
            <a:off x="212757" y="272864"/>
            <a:ext cx="8229600" cy="857250"/>
          </a:xfrm>
        </p:spPr>
        <p:txBody>
          <a:bodyPr/>
          <a:lstStyle/>
          <a:p>
            <a:r>
              <a:rPr lang="en-US" dirty="0"/>
              <a:t>Project Milestones</a:t>
            </a:r>
          </a:p>
        </p:txBody>
      </p:sp>
      <p:graphicFrame>
        <p:nvGraphicFramePr>
          <p:cNvPr id="6" name="Content Placeholder 5">
            <a:extLst>
              <a:ext uri="{FF2B5EF4-FFF2-40B4-BE49-F238E27FC236}">
                <a16:creationId xmlns:a16="http://schemas.microsoft.com/office/drawing/2014/main" id="{ECC3541F-8F94-C67C-3731-7CA5648C4ECE}"/>
              </a:ext>
            </a:extLst>
          </p:cNvPr>
          <p:cNvGraphicFramePr>
            <a:graphicFrameLocks noGrp="1"/>
          </p:cNvGraphicFramePr>
          <p:nvPr>
            <p:ph idx="1"/>
            <p:extLst>
              <p:ext uri="{D42A27DB-BD31-4B8C-83A1-F6EECF244321}">
                <p14:modId xmlns:p14="http://schemas.microsoft.com/office/powerpoint/2010/main" val="3275758146"/>
              </p:ext>
            </p:extLst>
          </p:nvPr>
        </p:nvGraphicFramePr>
        <p:xfrm>
          <a:off x="1454356" y="1062036"/>
          <a:ext cx="5944607" cy="3808600"/>
        </p:xfrm>
        <a:graphic>
          <a:graphicData uri="http://schemas.openxmlformats.org/drawingml/2006/table">
            <a:tbl>
              <a:tblPr>
                <a:tableStyleId>{5C22544A-7EE6-4342-B048-85BDC9FD1C3A}</a:tableStyleId>
              </a:tblPr>
              <a:tblGrid>
                <a:gridCol w="3054173">
                  <a:extLst>
                    <a:ext uri="{9D8B030D-6E8A-4147-A177-3AD203B41FA5}">
                      <a16:colId xmlns:a16="http://schemas.microsoft.com/office/drawing/2014/main" val="4005966982"/>
                    </a:ext>
                  </a:extLst>
                </a:gridCol>
                <a:gridCol w="2890434">
                  <a:extLst>
                    <a:ext uri="{9D8B030D-6E8A-4147-A177-3AD203B41FA5}">
                      <a16:colId xmlns:a16="http://schemas.microsoft.com/office/drawing/2014/main" val="262250381"/>
                    </a:ext>
                  </a:extLst>
                </a:gridCol>
              </a:tblGrid>
              <a:tr h="394594">
                <a:tc>
                  <a:txBody>
                    <a:bodyPr/>
                    <a:lstStyle/>
                    <a:p>
                      <a:pPr>
                        <a:buNone/>
                      </a:pPr>
                      <a:r>
                        <a:rPr lang="en-US" sz="2000" b="1" dirty="0"/>
                        <a:t>Date</a:t>
                      </a:r>
                    </a:p>
                  </a:txBody>
                  <a:tcPr anchor="ctr"/>
                </a:tc>
                <a:tc>
                  <a:txBody>
                    <a:bodyPr/>
                    <a:lstStyle/>
                    <a:p>
                      <a:pPr>
                        <a:buNone/>
                      </a:pPr>
                      <a:r>
                        <a:rPr lang="en-US" sz="2000" b="1" dirty="0"/>
                        <a:t>Milestone</a:t>
                      </a:r>
                    </a:p>
                  </a:txBody>
                  <a:tcPr anchor="ctr"/>
                </a:tc>
                <a:extLst>
                  <a:ext uri="{0D108BD9-81ED-4DB2-BD59-A6C34878D82A}">
                    <a16:rowId xmlns:a16="http://schemas.microsoft.com/office/drawing/2014/main" val="3994071243"/>
                  </a:ext>
                </a:extLst>
              </a:tr>
              <a:tr h="563180">
                <a:tc>
                  <a:txBody>
                    <a:bodyPr/>
                    <a:lstStyle/>
                    <a:p>
                      <a:pPr>
                        <a:buNone/>
                      </a:pPr>
                      <a:r>
                        <a:rPr lang="en-US" sz="2000"/>
                        <a:t>Sept. 11</a:t>
                      </a:r>
                    </a:p>
                  </a:txBody>
                  <a:tcPr anchor="ctr"/>
                </a:tc>
                <a:tc>
                  <a:txBody>
                    <a:bodyPr/>
                    <a:lstStyle/>
                    <a:p>
                      <a:pPr>
                        <a:buNone/>
                      </a:pPr>
                      <a:r>
                        <a:rPr lang="en-US" sz="2000" dirty="0"/>
                        <a:t>Project topic</a:t>
                      </a:r>
                    </a:p>
                  </a:txBody>
                  <a:tcPr anchor="ctr"/>
                </a:tc>
                <a:extLst>
                  <a:ext uri="{0D108BD9-81ED-4DB2-BD59-A6C34878D82A}">
                    <a16:rowId xmlns:a16="http://schemas.microsoft.com/office/drawing/2014/main" val="4026119000"/>
                  </a:ext>
                </a:extLst>
              </a:tr>
              <a:tr h="332788">
                <a:tc>
                  <a:txBody>
                    <a:bodyPr/>
                    <a:lstStyle/>
                    <a:p>
                      <a:pPr>
                        <a:buNone/>
                      </a:pPr>
                      <a:r>
                        <a:rPr lang="en-US" sz="2000"/>
                        <a:t>Oct. 2</a:t>
                      </a:r>
                    </a:p>
                  </a:txBody>
                  <a:tcPr anchor="ctr"/>
                </a:tc>
                <a:tc>
                  <a:txBody>
                    <a:bodyPr/>
                    <a:lstStyle/>
                    <a:p>
                      <a:pPr>
                        <a:buNone/>
                      </a:pPr>
                      <a:r>
                        <a:rPr lang="en-US" sz="2000" dirty="0"/>
                        <a:t>Data plan</a:t>
                      </a:r>
                    </a:p>
                  </a:txBody>
                  <a:tcPr anchor="ctr"/>
                </a:tc>
                <a:extLst>
                  <a:ext uri="{0D108BD9-81ED-4DB2-BD59-A6C34878D82A}">
                    <a16:rowId xmlns:a16="http://schemas.microsoft.com/office/drawing/2014/main" val="3059392885"/>
                  </a:ext>
                </a:extLst>
              </a:tr>
              <a:tr h="332788">
                <a:tc>
                  <a:txBody>
                    <a:bodyPr/>
                    <a:lstStyle/>
                    <a:p>
                      <a:pPr>
                        <a:buNone/>
                      </a:pPr>
                      <a:r>
                        <a:rPr lang="en-US" sz="2000" dirty="0"/>
                        <a:t>Oct. 23</a:t>
                      </a:r>
                    </a:p>
                  </a:txBody>
                  <a:tcPr anchor="ctr"/>
                </a:tc>
                <a:tc>
                  <a:txBody>
                    <a:bodyPr/>
                    <a:lstStyle/>
                    <a:p>
                      <a:pPr>
                        <a:buNone/>
                      </a:pPr>
                      <a:r>
                        <a:rPr lang="en-US" sz="2000"/>
                        <a:t>Modeling plan</a:t>
                      </a:r>
                    </a:p>
                  </a:txBody>
                  <a:tcPr anchor="ctr"/>
                </a:tc>
                <a:extLst>
                  <a:ext uri="{0D108BD9-81ED-4DB2-BD59-A6C34878D82A}">
                    <a16:rowId xmlns:a16="http://schemas.microsoft.com/office/drawing/2014/main" val="2365707035"/>
                  </a:ext>
                </a:extLst>
              </a:tr>
              <a:tr h="332788">
                <a:tc>
                  <a:txBody>
                    <a:bodyPr/>
                    <a:lstStyle/>
                    <a:p>
                      <a:pPr>
                        <a:buNone/>
                      </a:pPr>
                      <a:r>
                        <a:rPr lang="en-US" sz="2000" dirty="0"/>
                        <a:t>Nov. 6</a:t>
                      </a:r>
                    </a:p>
                  </a:txBody>
                  <a:tcPr anchor="ctr"/>
                </a:tc>
                <a:tc>
                  <a:txBody>
                    <a:bodyPr/>
                    <a:lstStyle/>
                    <a:p>
                      <a:pPr>
                        <a:buNone/>
                      </a:pPr>
                      <a:r>
                        <a:rPr lang="en-US" sz="2000" dirty="0"/>
                        <a:t>Preliminary results</a:t>
                      </a:r>
                    </a:p>
                  </a:txBody>
                  <a:tcPr anchor="ctr"/>
                </a:tc>
                <a:extLst>
                  <a:ext uri="{0D108BD9-81ED-4DB2-BD59-A6C34878D82A}">
                    <a16:rowId xmlns:a16="http://schemas.microsoft.com/office/drawing/2014/main" val="2603199924"/>
                  </a:ext>
                </a:extLst>
              </a:tr>
              <a:tr h="332788">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2000" dirty="0">
                          <a:solidFill>
                            <a:schemeClr val="accent2">
                              <a:lumMod val="75000"/>
                            </a:schemeClr>
                          </a:solidFill>
                        </a:rPr>
                        <a:t>Dec. 1 (optional)</a:t>
                      </a:r>
                    </a:p>
                  </a:txBody>
                  <a:tcPr anchor="ctr"/>
                </a:tc>
                <a:tc>
                  <a:txBody>
                    <a:bodyPr/>
                    <a:lstStyle/>
                    <a:p>
                      <a:pPr>
                        <a:buNone/>
                      </a:pPr>
                      <a:r>
                        <a:rPr lang="en-US" sz="2000" dirty="0">
                          <a:solidFill>
                            <a:schemeClr val="accent2">
                              <a:lumMod val="75000"/>
                            </a:schemeClr>
                          </a:solidFill>
                        </a:rPr>
                        <a:t>Full final draft due</a:t>
                      </a:r>
                    </a:p>
                  </a:txBody>
                  <a:tcPr anchor="ctr"/>
                </a:tc>
                <a:extLst>
                  <a:ext uri="{0D108BD9-81ED-4DB2-BD59-A6C34878D82A}">
                    <a16:rowId xmlns:a16="http://schemas.microsoft.com/office/drawing/2014/main" val="1177244458"/>
                  </a:ext>
                </a:extLst>
              </a:tr>
              <a:tr h="332788">
                <a:tc>
                  <a:txBody>
                    <a:bodyPr/>
                    <a:lstStyle/>
                    <a:p>
                      <a:pPr>
                        <a:buNone/>
                      </a:pPr>
                      <a:r>
                        <a:rPr lang="en-US" sz="2000" strike="sngStrike" dirty="0"/>
                        <a:t>Dec. 1</a:t>
                      </a:r>
                      <a:r>
                        <a:rPr lang="en-US" sz="2000" strike="noStrike" dirty="0"/>
                        <a:t> (redefined day)</a:t>
                      </a:r>
                    </a:p>
                    <a:p>
                      <a:pPr>
                        <a:buNone/>
                      </a:pPr>
                      <a:r>
                        <a:rPr lang="en-US" sz="2000" strike="noStrike" dirty="0"/>
                        <a:t>Dec. 10 1-3 pm (finals slot)</a:t>
                      </a:r>
                      <a:endParaRPr lang="en-US" sz="2000" strike="sngStrike" dirty="0"/>
                    </a:p>
                  </a:txBody>
                  <a:tcPr anchor="ctr"/>
                </a:tc>
                <a:tc>
                  <a:txBody>
                    <a:bodyPr/>
                    <a:lstStyle/>
                    <a:p>
                      <a:pPr>
                        <a:buNone/>
                      </a:pPr>
                      <a:r>
                        <a:rPr lang="en-US" sz="2000" dirty="0"/>
                        <a:t>Presentation</a:t>
                      </a:r>
                    </a:p>
                  </a:txBody>
                  <a:tcPr anchor="ctr"/>
                </a:tc>
                <a:extLst>
                  <a:ext uri="{0D108BD9-81ED-4DB2-BD59-A6C34878D82A}">
                    <a16:rowId xmlns:a16="http://schemas.microsoft.com/office/drawing/2014/main" val="2890838770"/>
                  </a:ext>
                </a:extLst>
              </a:tr>
              <a:tr h="563180">
                <a:tc>
                  <a:txBody>
                    <a:bodyPr/>
                    <a:lstStyle/>
                    <a:p>
                      <a:pPr>
                        <a:buNone/>
                      </a:pPr>
                      <a:r>
                        <a:rPr lang="en-US" sz="2000"/>
                        <a:t>Dec. 11</a:t>
                      </a:r>
                    </a:p>
                  </a:txBody>
                  <a:tcPr anchor="ctr"/>
                </a:tc>
                <a:tc>
                  <a:txBody>
                    <a:bodyPr/>
                    <a:lstStyle/>
                    <a:p>
                      <a:pPr>
                        <a:buNone/>
                      </a:pPr>
                      <a:r>
                        <a:rPr lang="en-US" sz="2000" dirty="0"/>
                        <a:t>Final paper</a:t>
                      </a:r>
                    </a:p>
                  </a:txBody>
                  <a:tcPr anchor="ctr"/>
                </a:tc>
                <a:extLst>
                  <a:ext uri="{0D108BD9-81ED-4DB2-BD59-A6C34878D82A}">
                    <a16:rowId xmlns:a16="http://schemas.microsoft.com/office/drawing/2014/main" val="1254816444"/>
                  </a:ext>
                </a:extLst>
              </a:tr>
            </a:tbl>
          </a:graphicData>
        </a:graphic>
      </p:graphicFrame>
    </p:spTree>
    <p:extLst>
      <p:ext uri="{BB962C8B-B14F-4D97-AF65-F5344CB8AC3E}">
        <p14:creationId xmlns:p14="http://schemas.microsoft.com/office/powerpoint/2010/main" val="800322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3A30-1780-5937-E856-89F2E8552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A0307-79AE-61F3-A7AF-66C33C0C23A3}"/>
              </a:ext>
            </a:extLst>
          </p:cNvPr>
          <p:cNvSpPr>
            <a:spLocks noGrp="1"/>
          </p:cNvSpPr>
          <p:nvPr>
            <p:ph type="title"/>
          </p:nvPr>
        </p:nvSpPr>
        <p:spPr/>
        <p:txBody>
          <a:bodyPr/>
          <a:lstStyle/>
          <a:p>
            <a:r>
              <a:rPr lang="en-US" dirty="0"/>
              <a:t>Class Plan</a:t>
            </a:r>
          </a:p>
        </p:txBody>
      </p:sp>
      <p:sp>
        <p:nvSpPr>
          <p:cNvPr id="3" name="Content Placeholder 2">
            <a:extLst>
              <a:ext uri="{FF2B5EF4-FFF2-40B4-BE49-F238E27FC236}">
                <a16:creationId xmlns:a16="http://schemas.microsoft.com/office/drawing/2014/main" id="{D737468E-DFB5-9223-01DC-321D344FD275}"/>
              </a:ext>
            </a:extLst>
          </p:cNvPr>
          <p:cNvSpPr>
            <a:spLocks noGrp="1"/>
          </p:cNvSpPr>
          <p:nvPr>
            <p:ph idx="1"/>
          </p:nvPr>
        </p:nvSpPr>
        <p:spPr/>
        <p:txBody>
          <a:bodyPr/>
          <a:lstStyle/>
          <a:p>
            <a:r>
              <a:rPr lang="en-US" dirty="0"/>
              <a:t>Review Lab 03</a:t>
            </a:r>
          </a:p>
          <a:p>
            <a:pPr lvl="1"/>
            <a:r>
              <a:rPr lang="en-US" dirty="0"/>
              <a:t>Check and update interpretations (commit)</a:t>
            </a:r>
          </a:p>
          <a:p>
            <a:pPr lvl="1"/>
            <a:r>
              <a:rPr lang="en-US" dirty="0"/>
              <a:t>Check and update repeatability (commit)</a:t>
            </a:r>
          </a:p>
          <a:p>
            <a:pPr lvl="1"/>
            <a:r>
              <a:rPr lang="en-US" dirty="0"/>
              <a:t>Push</a:t>
            </a:r>
          </a:p>
          <a:p>
            <a:r>
              <a:rPr lang="en-US" dirty="0"/>
              <a:t>Preview presence-background models</a:t>
            </a:r>
          </a:p>
          <a:p>
            <a:r>
              <a:rPr lang="en-US" dirty="0"/>
              <a:t>Overview of questions these models can address</a:t>
            </a:r>
          </a:p>
          <a:p>
            <a:r>
              <a:rPr lang="en-US" dirty="0"/>
              <a:t>Read Peterson Chapter 6 for Thursday class preparation</a:t>
            </a:r>
          </a:p>
        </p:txBody>
      </p:sp>
    </p:spTree>
    <p:extLst>
      <p:ext uri="{BB962C8B-B14F-4D97-AF65-F5344CB8AC3E}">
        <p14:creationId xmlns:p14="http://schemas.microsoft.com/office/powerpoint/2010/main" val="135870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B5B77-7A3E-3B88-7DDA-82E1C87C8937}"/>
              </a:ext>
            </a:extLst>
          </p:cNvPr>
          <p:cNvSpPr>
            <a:spLocks noGrp="1"/>
          </p:cNvSpPr>
          <p:nvPr>
            <p:ph type="title"/>
          </p:nvPr>
        </p:nvSpPr>
        <p:spPr/>
        <p:txBody>
          <a:bodyPr/>
          <a:lstStyle/>
          <a:p>
            <a:r>
              <a:rPr lang="en-US" dirty="0"/>
              <a:t>Lab 03 Debrief</a:t>
            </a:r>
          </a:p>
        </p:txBody>
      </p:sp>
      <p:sp>
        <p:nvSpPr>
          <p:cNvPr id="3" name="Content Placeholder 2">
            <a:extLst>
              <a:ext uri="{FF2B5EF4-FFF2-40B4-BE49-F238E27FC236}">
                <a16:creationId xmlns:a16="http://schemas.microsoft.com/office/drawing/2014/main" id="{87A47427-7479-CDD5-8147-77D8A044E00C}"/>
              </a:ext>
            </a:extLst>
          </p:cNvPr>
          <p:cNvSpPr>
            <a:spLocks noGrp="1"/>
          </p:cNvSpPr>
          <p:nvPr>
            <p:ph idx="1"/>
          </p:nvPr>
        </p:nvSpPr>
        <p:spPr/>
        <p:txBody>
          <a:bodyPr/>
          <a:lstStyle/>
          <a:p>
            <a:pPr lvl="0"/>
            <a:r>
              <a:rPr lang="en-US" dirty="0"/>
              <a:t>Distinguish background, absence, and suitable habitat</a:t>
            </a:r>
          </a:p>
          <a:p>
            <a:pPr lvl="0"/>
            <a:r>
              <a:rPr lang="en-US" dirty="0"/>
              <a:t>Interpret M as an accessibility hypothesis</a:t>
            </a:r>
          </a:p>
          <a:p>
            <a:pPr lvl="0"/>
            <a:r>
              <a:rPr lang="en-US" dirty="0"/>
              <a:t>Evaluate whether an ecological interpretation is stable given a change in M</a:t>
            </a:r>
          </a:p>
          <a:p>
            <a:pPr lvl="0"/>
            <a:r>
              <a:rPr lang="en-US" dirty="0"/>
              <a:t>Make the analysis reproducible before fitting a model</a:t>
            </a:r>
          </a:p>
        </p:txBody>
      </p:sp>
    </p:spTree>
    <p:extLst>
      <p:ext uri="{BB962C8B-B14F-4D97-AF65-F5344CB8AC3E}">
        <p14:creationId xmlns:p14="http://schemas.microsoft.com/office/powerpoint/2010/main" val="462283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0C0A0-5C5E-0BA7-7ADE-BE44F1825158}"/>
              </a:ext>
            </a:extLst>
          </p:cNvPr>
          <p:cNvSpPr>
            <a:spLocks noGrp="1"/>
          </p:cNvSpPr>
          <p:nvPr>
            <p:ph type="title"/>
          </p:nvPr>
        </p:nvSpPr>
        <p:spPr/>
        <p:txBody>
          <a:bodyPr/>
          <a:lstStyle/>
          <a:p>
            <a:r>
              <a:rPr lang="en-US" dirty="0"/>
              <a:t>Class progress</a:t>
            </a:r>
          </a:p>
        </p:txBody>
      </p:sp>
      <p:sp>
        <p:nvSpPr>
          <p:cNvPr id="3" name="Content Placeholder 2">
            <a:extLst>
              <a:ext uri="{FF2B5EF4-FFF2-40B4-BE49-F238E27FC236}">
                <a16:creationId xmlns:a16="http://schemas.microsoft.com/office/drawing/2014/main" id="{31EB511E-BA47-A9AB-CA66-D8C2F9A69416}"/>
              </a:ext>
            </a:extLst>
          </p:cNvPr>
          <p:cNvSpPr>
            <a:spLocks noGrp="1"/>
          </p:cNvSpPr>
          <p:nvPr>
            <p:ph idx="1"/>
          </p:nvPr>
        </p:nvSpPr>
        <p:spPr/>
        <p:txBody>
          <a:bodyPr/>
          <a:lstStyle/>
          <a:p>
            <a:pPr lvl="0"/>
            <a:r>
              <a:rPr lang="en-US" dirty="0"/>
              <a:t>Everyone connected occurrences to environmental variables</a:t>
            </a:r>
          </a:p>
          <a:p>
            <a:pPr lvl="0"/>
            <a:r>
              <a:rPr lang="en-US" dirty="0"/>
              <a:t>Everyone produced an environmental-space comparison</a:t>
            </a:r>
          </a:p>
          <a:p>
            <a:pPr lvl="0"/>
            <a:r>
              <a:rPr lang="en-US" dirty="0"/>
              <a:t>Most students correctly recognized that background points are not confirmed absences</a:t>
            </a:r>
          </a:p>
          <a:p>
            <a:pPr lvl="0"/>
            <a:r>
              <a:rPr lang="en-US" dirty="0"/>
              <a:t>The main difficulty was explaining what “stable” or “conditional” means</a:t>
            </a:r>
          </a:p>
          <a:p>
            <a:endParaRPr lang="en-US" dirty="0"/>
          </a:p>
        </p:txBody>
      </p:sp>
    </p:spTree>
    <p:extLst>
      <p:ext uri="{BB962C8B-B14F-4D97-AF65-F5344CB8AC3E}">
        <p14:creationId xmlns:p14="http://schemas.microsoft.com/office/powerpoint/2010/main" val="348644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5192D-AD96-2DFC-8683-BCABE60A43D9}"/>
              </a:ext>
            </a:extLst>
          </p:cNvPr>
          <p:cNvSpPr>
            <a:spLocks noGrp="1"/>
          </p:cNvSpPr>
          <p:nvPr>
            <p:ph type="title"/>
          </p:nvPr>
        </p:nvSpPr>
        <p:spPr/>
        <p:txBody>
          <a:bodyPr/>
          <a:lstStyle/>
          <a:p>
            <a:r>
              <a:rPr lang="en-US" dirty="0"/>
              <a:t>Background, absence, and suitability</a:t>
            </a:r>
          </a:p>
        </p:txBody>
      </p:sp>
      <p:sp>
        <p:nvSpPr>
          <p:cNvPr id="3" name="Content Placeholder 2">
            <a:extLst>
              <a:ext uri="{FF2B5EF4-FFF2-40B4-BE49-F238E27FC236}">
                <a16:creationId xmlns:a16="http://schemas.microsoft.com/office/drawing/2014/main" id="{CA9A213F-802B-D0C8-E94C-AB5D1D58DDF7}"/>
              </a:ext>
            </a:extLst>
          </p:cNvPr>
          <p:cNvSpPr>
            <a:spLocks noGrp="1"/>
          </p:cNvSpPr>
          <p:nvPr>
            <p:ph idx="1"/>
          </p:nvPr>
        </p:nvSpPr>
        <p:spPr/>
        <p:txBody>
          <a:bodyPr>
            <a:normAutofit lnSpcReduction="10000"/>
          </a:bodyPr>
          <a:lstStyle/>
          <a:p>
            <a:r>
              <a:rPr lang="en-US" dirty="0"/>
              <a:t>A background point represents a sampled environmental condition available within the assumed M</a:t>
            </a:r>
          </a:p>
          <a:p>
            <a:r>
              <a:rPr lang="en-US" dirty="0"/>
              <a:t>A background point does not establish:</a:t>
            </a:r>
          </a:p>
          <a:p>
            <a:pPr lvl="1"/>
            <a:r>
              <a:rPr lang="en-US" dirty="0"/>
              <a:t>Species absence</a:t>
            </a:r>
          </a:p>
          <a:p>
            <a:pPr lvl="1"/>
            <a:r>
              <a:rPr lang="en-US" dirty="0"/>
              <a:t>Habitat suitability</a:t>
            </a:r>
          </a:p>
          <a:p>
            <a:pPr lvl="1"/>
            <a:r>
              <a:rPr lang="en-US" dirty="0"/>
              <a:t>Survey effort</a:t>
            </a:r>
          </a:p>
          <a:p>
            <a:pPr lvl="1"/>
            <a:r>
              <a:rPr lang="en-US" dirty="0"/>
              <a:t>Failure to detect the species</a:t>
            </a:r>
          </a:p>
          <a:p>
            <a:r>
              <a:rPr lang="en-US" dirty="0"/>
              <a:t>A location represented by a background point may contain the species, lack the species, or be inaccessible for reasons outside the selected predictors</a:t>
            </a:r>
          </a:p>
          <a:p>
            <a:endParaRPr lang="en-US" dirty="0"/>
          </a:p>
        </p:txBody>
      </p:sp>
    </p:spTree>
    <p:extLst>
      <p:ext uri="{BB962C8B-B14F-4D97-AF65-F5344CB8AC3E}">
        <p14:creationId xmlns:p14="http://schemas.microsoft.com/office/powerpoint/2010/main" val="531942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91F5C-5424-2DC7-0D91-F9042304E2FE}"/>
              </a:ext>
            </a:extLst>
          </p:cNvPr>
          <p:cNvSpPr>
            <a:spLocks noGrp="1"/>
          </p:cNvSpPr>
          <p:nvPr>
            <p:ph type="title"/>
          </p:nvPr>
        </p:nvSpPr>
        <p:spPr/>
        <p:txBody>
          <a:bodyPr/>
          <a:lstStyle/>
          <a:p>
            <a:r>
              <a:rPr lang="en-US" dirty="0"/>
              <a:t>M as an accessibility hypothesis</a:t>
            </a:r>
          </a:p>
        </p:txBody>
      </p:sp>
      <p:sp>
        <p:nvSpPr>
          <p:cNvPr id="3" name="Content Placeholder 2">
            <a:extLst>
              <a:ext uri="{FF2B5EF4-FFF2-40B4-BE49-F238E27FC236}">
                <a16:creationId xmlns:a16="http://schemas.microsoft.com/office/drawing/2014/main" id="{AD826610-EAFA-3144-6737-36CCCD81E7D4}"/>
              </a:ext>
            </a:extLst>
          </p:cNvPr>
          <p:cNvSpPr>
            <a:spLocks noGrp="1"/>
          </p:cNvSpPr>
          <p:nvPr>
            <p:ph idx="1"/>
          </p:nvPr>
        </p:nvSpPr>
        <p:spPr/>
        <p:txBody>
          <a:bodyPr>
            <a:normAutofit/>
          </a:bodyPr>
          <a:lstStyle/>
          <a:p>
            <a:r>
              <a:rPr lang="en-US" dirty="0"/>
              <a:t>M represents the area the species could have accessed during the relevant period</a:t>
            </a:r>
          </a:p>
          <a:p>
            <a:r>
              <a:rPr lang="en-US" dirty="0"/>
              <a:t>A distance buffer is a simplified hypothesis about M. It is not:</a:t>
            </a:r>
          </a:p>
          <a:p>
            <a:pPr lvl="1"/>
            <a:r>
              <a:rPr lang="en-US" dirty="0"/>
              <a:t>An individual home range</a:t>
            </a:r>
          </a:p>
          <a:p>
            <a:pPr lvl="1"/>
            <a:r>
              <a:rPr lang="en-US" dirty="0"/>
              <a:t>A maximum movement distance</a:t>
            </a:r>
          </a:p>
          <a:p>
            <a:pPr lvl="1"/>
            <a:r>
              <a:rPr lang="en-US" dirty="0"/>
              <a:t>Suitable habitat</a:t>
            </a:r>
          </a:p>
          <a:p>
            <a:pPr lvl="1"/>
            <a:r>
              <a:rPr lang="en-US" dirty="0"/>
              <a:t>The true species range</a:t>
            </a:r>
          </a:p>
          <a:p>
            <a:r>
              <a:rPr lang="en-US" dirty="0"/>
              <a:t>A defensible M may require information about dispersal history, barriers, elevation, connectivity, or biogeographic regions</a:t>
            </a:r>
          </a:p>
          <a:p>
            <a:endParaRPr lang="en-US" dirty="0"/>
          </a:p>
        </p:txBody>
      </p:sp>
    </p:spTree>
    <p:extLst>
      <p:ext uri="{BB962C8B-B14F-4D97-AF65-F5344CB8AC3E}">
        <p14:creationId xmlns:p14="http://schemas.microsoft.com/office/powerpoint/2010/main" val="3355138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19A37-1876-59D9-27C8-04F09F8DF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5F914-CB87-32BA-9C0E-6C289E8F4EAC}"/>
              </a:ext>
            </a:extLst>
          </p:cNvPr>
          <p:cNvSpPr>
            <a:spLocks noGrp="1"/>
          </p:cNvSpPr>
          <p:nvPr>
            <p:ph type="title"/>
          </p:nvPr>
        </p:nvSpPr>
        <p:spPr/>
        <p:txBody>
          <a:bodyPr/>
          <a:lstStyle/>
          <a:p>
            <a:r>
              <a:rPr lang="en-US" dirty="0"/>
              <a:t>Robustness of interpretations</a:t>
            </a:r>
          </a:p>
        </p:txBody>
      </p:sp>
      <p:sp>
        <p:nvSpPr>
          <p:cNvPr id="3" name="Content Placeholder 2">
            <a:extLst>
              <a:ext uri="{FF2B5EF4-FFF2-40B4-BE49-F238E27FC236}">
                <a16:creationId xmlns:a16="http://schemas.microsoft.com/office/drawing/2014/main" id="{6D6D47EC-1F66-A683-FEDD-387056643961}"/>
              </a:ext>
            </a:extLst>
          </p:cNvPr>
          <p:cNvSpPr>
            <a:spLocks noGrp="1"/>
          </p:cNvSpPr>
          <p:nvPr>
            <p:ph idx="1"/>
          </p:nvPr>
        </p:nvSpPr>
        <p:spPr/>
        <p:txBody>
          <a:bodyPr/>
          <a:lstStyle/>
          <a:p>
            <a:pPr lvl="0"/>
            <a:r>
              <a:rPr lang="en-US" b="1" dirty="0"/>
              <a:t>Stable:</a:t>
            </a:r>
            <a:r>
              <a:rPr lang="en-US" dirty="0"/>
              <a:t> substantively unchanged across plausible scenarios</a:t>
            </a:r>
          </a:p>
          <a:p>
            <a:pPr lvl="0"/>
            <a:endParaRPr lang="en-US" dirty="0"/>
          </a:p>
          <a:p>
            <a:pPr lvl="0"/>
            <a:r>
              <a:rPr lang="en-US" b="1" dirty="0"/>
              <a:t>Conditional:</a:t>
            </a:r>
            <a:r>
              <a:rPr lang="en-US" dirty="0"/>
              <a:t> valid only under specified assumptions</a:t>
            </a:r>
          </a:p>
          <a:p>
            <a:pPr lvl="0"/>
            <a:endParaRPr lang="en-US" b="1" dirty="0"/>
          </a:p>
          <a:p>
            <a:pPr lvl="0"/>
            <a:r>
              <a:rPr lang="en-US" b="1" dirty="0"/>
              <a:t>Not robust/unstable:</a:t>
            </a:r>
            <a:r>
              <a:rPr lang="en-US" dirty="0"/>
              <a:t> disappears or reverses under plausible alternatives</a:t>
            </a:r>
          </a:p>
        </p:txBody>
      </p:sp>
    </p:spTree>
    <p:extLst>
      <p:ext uri="{BB962C8B-B14F-4D97-AF65-F5344CB8AC3E}">
        <p14:creationId xmlns:p14="http://schemas.microsoft.com/office/powerpoint/2010/main" val="2417202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3D049-63E5-88D6-7373-9CDA0CB5DD63}"/>
              </a:ext>
            </a:extLst>
          </p:cNvPr>
          <p:cNvSpPr>
            <a:spLocks noGrp="1"/>
          </p:cNvSpPr>
          <p:nvPr>
            <p:ph type="title"/>
          </p:nvPr>
        </p:nvSpPr>
        <p:spPr/>
        <p:txBody>
          <a:bodyPr/>
          <a:lstStyle/>
          <a:p>
            <a:r>
              <a:rPr lang="en-US" dirty="0"/>
              <a:t>Robustness refers to an interpretation</a:t>
            </a:r>
          </a:p>
        </p:txBody>
      </p:sp>
      <p:graphicFrame>
        <p:nvGraphicFramePr>
          <p:cNvPr id="4" name="Table 3">
            <a:extLst>
              <a:ext uri="{FF2B5EF4-FFF2-40B4-BE49-F238E27FC236}">
                <a16:creationId xmlns:a16="http://schemas.microsoft.com/office/drawing/2014/main" id="{AF80090F-3FD8-B819-B27A-B78B11B81F6B}"/>
              </a:ext>
            </a:extLst>
          </p:cNvPr>
          <p:cNvGraphicFramePr>
            <a:graphicFrameLocks noGrp="1"/>
          </p:cNvGraphicFramePr>
          <p:nvPr>
            <p:extLst>
              <p:ext uri="{D42A27DB-BD31-4B8C-83A1-F6EECF244321}">
                <p14:modId xmlns:p14="http://schemas.microsoft.com/office/powerpoint/2010/main" val="3127002363"/>
              </p:ext>
            </p:extLst>
          </p:nvPr>
        </p:nvGraphicFramePr>
        <p:xfrm>
          <a:off x="1218334" y="1329291"/>
          <a:ext cx="6249266" cy="1463040"/>
        </p:xfrm>
        <a:graphic>
          <a:graphicData uri="http://schemas.openxmlformats.org/drawingml/2006/table">
            <a:tbl>
              <a:tblPr>
                <a:tableStyleId>{5C22544A-7EE6-4342-B048-85BDC9FD1C3A}</a:tableStyleId>
              </a:tblPr>
              <a:tblGrid>
                <a:gridCol w="2549237">
                  <a:extLst>
                    <a:ext uri="{9D8B030D-6E8A-4147-A177-3AD203B41FA5}">
                      <a16:colId xmlns:a16="http://schemas.microsoft.com/office/drawing/2014/main" val="3534451194"/>
                    </a:ext>
                  </a:extLst>
                </a:gridCol>
                <a:gridCol w="3700029">
                  <a:extLst>
                    <a:ext uri="{9D8B030D-6E8A-4147-A177-3AD203B41FA5}">
                      <a16:colId xmlns:a16="http://schemas.microsoft.com/office/drawing/2014/main" val="4059080900"/>
                    </a:ext>
                  </a:extLst>
                </a:gridCol>
              </a:tblGrid>
              <a:tr h="0">
                <a:tc>
                  <a:txBody>
                    <a:bodyPr/>
                    <a:lstStyle/>
                    <a:p>
                      <a:pPr>
                        <a:buNone/>
                      </a:pPr>
                      <a:r>
                        <a:rPr lang="en-US" sz="1800" b="1" dirty="0"/>
                        <a:t>Sample</a:t>
                      </a:r>
                    </a:p>
                  </a:txBody>
                  <a:tcPr anchor="ctr"/>
                </a:tc>
                <a:tc>
                  <a:txBody>
                    <a:bodyPr/>
                    <a:lstStyle/>
                    <a:p>
                      <a:pPr>
                        <a:buNone/>
                      </a:pPr>
                      <a:r>
                        <a:rPr lang="en-US" sz="1800" b="1" dirty="0"/>
                        <a:t>Average mean annual temperature</a:t>
                      </a:r>
                    </a:p>
                  </a:txBody>
                  <a:tcPr anchor="ctr"/>
                </a:tc>
                <a:extLst>
                  <a:ext uri="{0D108BD9-81ED-4DB2-BD59-A6C34878D82A}">
                    <a16:rowId xmlns:a16="http://schemas.microsoft.com/office/drawing/2014/main" val="3550623963"/>
                  </a:ext>
                </a:extLst>
              </a:tr>
              <a:tr h="0">
                <a:tc>
                  <a:txBody>
                    <a:bodyPr/>
                    <a:lstStyle/>
                    <a:p>
                      <a:pPr>
                        <a:buNone/>
                      </a:pPr>
                      <a:r>
                        <a:rPr lang="en-US" sz="1800" dirty="0"/>
                        <a:t>Occurrences</a:t>
                      </a:r>
                    </a:p>
                  </a:txBody>
                  <a:tcPr anchor="ctr"/>
                </a:tc>
                <a:tc>
                  <a:txBody>
                    <a:bodyPr/>
                    <a:lstStyle/>
                    <a:p>
                      <a:pPr>
                        <a:buNone/>
                      </a:pPr>
                      <a:r>
                        <a:rPr lang="en-US" sz="1800" dirty="0"/>
                        <a:t>13.82°C</a:t>
                      </a:r>
                    </a:p>
                  </a:txBody>
                  <a:tcPr anchor="ctr"/>
                </a:tc>
                <a:extLst>
                  <a:ext uri="{0D108BD9-81ED-4DB2-BD59-A6C34878D82A}">
                    <a16:rowId xmlns:a16="http://schemas.microsoft.com/office/drawing/2014/main" val="3906594517"/>
                  </a:ext>
                </a:extLst>
              </a:tr>
              <a:tr h="0">
                <a:tc>
                  <a:txBody>
                    <a:bodyPr/>
                    <a:lstStyle/>
                    <a:p>
                      <a:pPr>
                        <a:buNone/>
                      </a:pPr>
                      <a:r>
                        <a:rPr lang="en-US" sz="1800"/>
                        <a:t>50-km background</a:t>
                      </a:r>
                    </a:p>
                  </a:txBody>
                  <a:tcPr anchor="ctr"/>
                </a:tc>
                <a:tc>
                  <a:txBody>
                    <a:bodyPr/>
                    <a:lstStyle/>
                    <a:p>
                      <a:pPr>
                        <a:buNone/>
                      </a:pPr>
                      <a:r>
                        <a:rPr lang="en-US" sz="1800" dirty="0"/>
                        <a:t>18.13°C</a:t>
                      </a:r>
                    </a:p>
                  </a:txBody>
                  <a:tcPr anchor="ctr"/>
                </a:tc>
                <a:extLst>
                  <a:ext uri="{0D108BD9-81ED-4DB2-BD59-A6C34878D82A}">
                    <a16:rowId xmlns:a16="http://schemas.microsoft.com/office/drawing/2014/main" val="1924156701"/>
                  </a:ext>
                </a:extLst>
              </a:tr>
              <a:tr h="0">
                <a:tc>
                  <a:txBody>
                    <a:bodyPr/>
                    <a:lstStyle/>
                    <a:p>
                      <a:pPr>
                        <a:buNone/>
                      </a:pPr>
                      <a:r>
                        <a:rPr lang="en-US" sz="1800"/>
                        <a:t>200-km background</a:t>
                      </a:r>
                    </a:p>
                  </a:txBody>
                  <a:tcPr anchor="ctr"/>
                </a:tc>
                <a:tc>
                  <a:txBody>
                    <a:bodyPr/>
                    <a:lstStyle/>
                    <a:p>
                      <a:pPr>
                        <a:buNone/>
                      </a:pPr>
                      <a:r>
                        <a:rPr lang="en-US" sz="1800" dirty="0"/>
                        <a:t>19.33°C</a:t>
                      </a:r>
                    </a:p>
                  </a:txBody>
                  <a:tcPr anchor="ctr"/>
                </a:tc>
                <a:extLst>
                  <a:ext uri="{0D108BD9-81ED-4DB2-BD59-A6C34878D82A}">
                    <a16:rowId xmlns:a16="http://schemas.microsoft.com/office/drawing/2014/main" val="229798231"/>
                  </a:ext>
                </a:extLst>
              </a:tr>
            </a:tbl>
          </a:graphicData>
        </a:graphic>
      </p:graphicFrame>
      <p:sp>
        <p:nvSpPr>
          <p:cNvPr id="6" name="TextBox 5">
            <a:extLst>
              <a:ext uri="{FF2B5EF4-FFF2-40B4-BE49-F238E27FC236}">
                <a16:creationId xmlns:a16="http://schemas.microsoft.com/office/drawing/2014/main" id="{FE934419-1F95-4D33-05BA-069E008127FC}"/>
              </a:ext>
            </a:extLst>
          </p:cNvPr>
          <p:cNvSpPr txBox="1"/>
          <p:nvPr/>
        </p:nvSpPr>
        <p:spPr>
          <a:xfrm>
            <a:off x="580592" y="3123736"/>
            <a:ext cx="8001866" cy="1754326"/>
          </a:xfrm>
          <a:prstGeom prst="rect">
            <a:avLst/>
          </a:prstGeom>
          <a:noFill/>
        </p:spPr>
        <p:txBody>
          <a:bodyPr wrap="square">
            <a:spAutoFit/>
          </a:bodyPr>
          <a:lstStyle/>
          <a:p>
            <a:pPr>
              <a:buNone/>
            </a:pPr>
            <a:r>
              <a:rPr lang="en-US" b="1" dirty="0"/>
              <a:t>Interpretation:</a:t>
            </a:r>
            <a:r>
              <a:rPr lang="en-US" dirty="0"/>
              <a:t> Occurrences represent cooler environments than the sampled background under both M assumptions.</a:t>
            </a:r>
          </a:p>
          <a:p>
            <a:pPr marL="342900" lvl="0" indent="-342900">
              <a:buFont typeface="Arial" panose="020B0604020202020204" pitchFamily="34" charset="0"/>
              <a:buChar char="•"/>
            </a:pPr>
            <a:r>
              <a:rPr lang="en-US" b="1" dirty="0"/>
              <a:t>Direction:</a:t>
            </a:r>
            <a:r>
              <a:rPr lang="en-US" dirty="0"/>
              <a:t> stable</a:t>
            </a:r>
          </a:p>
          <a:p>
            <a:pPr marL="342900" lvl="0" indent="-342900">
              <a:buFont typeface="Arial" panose="020B0604020202020204" pitchFamily="34" charset="0"/>
              <a:buChar char="•"/>
            </a:pPr>
            <a:r>
              <a:rPr lang="en-US" b="1" dirty="0"/>
              <a:t>Magnitude:</a:t>
            </a:r>
            <a:r>
              <a:rPr lang="en-US" dirty="0"/>
              <a:t> conditional on M</a:t>
            </a:r>
          </a:p>
          <a:p>
            <a:pPr>
              <a:buNone/>
            </a:pPr>
            <a:r>
              <a:rPr lang="en-US" dirty="0"/>
              <a:t>We evaluate the robustness of the ecological conclusion, not whether one buffer or figure looks more stable</a:t>
            </a:r>
          </a:p>
        </p:txBody>
      </p:sp>
    </p:spTree>
    <p:extLst>
      <p:ext uri="{BB962C8B-B14F-4D97-AF65-F5344CB8AC3E}">
        <p14:creationId xmlns:p14="http://schemas.microsoft.com/office/powerpoint/2010/main" val="3497348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25EC6-D44B-FD26-1311-AA17603F04B9}"/>
              </a:ext>
            </a:extLst>
          </p:cNvPr>
          <p:cNvSpPr>
            <a:spLocks noGrp="1"/>
          </p:cNvSpPr>
          <p:nvPr>
            <p:ph type="title"/>
          </p:nvPr>
        </p:nvSpPr>
        <p:spPr/>
        <p:txBody>
          <a:bodyPr/>
          <a:lstStyle/>
          <a:p>
            <a:r>
              <a:rPr lang="en-US" dirty="0"/>
              <a:t>Common interpretation errors</a:t>
            </a:r>
          </a:p>
        </p:txBody>
      </p:sp>
      <p:sp>
        <p:nvSpPr>
          <p:cNvPr id="3" name="Content Placeholder 2">
            <a:extLst>
              <a:ext uri="{FF2B5EF4-FFF2-40B4-BE49-F238E27FC236}">
                <a16:creationId xmlns:a16="http://schemas.microsoft.com/office/drawing/2014/main" id="{74547E48-CDE1-E512-04BB-D0A69375E03F}"/>
              </a:ext>
            </a:extLst>
          </p:cNvPr>
          <p:cNvSpPr>
            <a:spLocks noGrp="1"/>
          </p:cNvSpPr>
          <p:nvPr>
            <p:ph idx="1"/>
          </p:nvPr>
        </p:nvSpPr>
        <p:spPr/>
        <p:txBody>
          <a:bodyPr>
            <a:normAutofit fontScale="92500" lnSpcReduction="20000"/>
          </a:bodyPr>
          <a:lstStyle/>
          <a:p>
            <a:r>
              <a:rPr lang="en-US" b="1" dirty="0"/>
              <a:t>“Background points are suitable but unoccupied habitat.”</a:t>
            </a:r>
          </a:p>
          <a:p>
            <a:pPr marL="342900" lvl="1" indent="0">
              <a:buNone/>
            </a:pPr>
            <a:r>
              <a:rPr lang="en-US" dirty="0"/>
              <a:t>Background describes availability, not confirmed suitability or occupancy.</a:t>
            </a:r>
          </a:p>
          <a:p>
            <a:pPr marL="342900" lvl="1" indent="0">
              <a:buNone/>
            </a:pPr>
            <a:endParaRPr lang="en-US" dirty="0"/>
          </a:p>
          <a:p>
            <a:r>
              <a:rPr lang="en-US" b="1" dirty="0"/>
              <a:t>“The 150-km M is more stable.”</a:t>
            </a:r>
            <a:br>
              <a:rPr lang="en-US" dirty="0"/>
            </a:br>
            <a:r>
              <a:rPr lang="en-US" dirty="0"/>
              <a:t>Stable describes an interpretation across assumptions, not an M value.</a:t>
            </a:r>
          </a:p>
          <a:p>
            <a:endParaRPr lang="en-US" dirty="0"/>
          </a:p>
          <a:p>
            <a:r>
              <a:rPr lang="en-US" b="1" dirty="0"/>
              <a:t>“The broader M produced more background points.”</a:t>
            </a:r>
            <a:br>
              <a:rPr lang="en-US" dirty="0"/>
            </a:br>
            <a:r>
              <a:rPr lang="en-US" dirty="0"/>
              <a:t>Both scenarios sampled 1,000 points. The environmental range changed.</a:t>
            </a:r>
          </a:p>
          <a:p>
            <a:endParaRPr lang="en-US" dirty="0"/>
          </a:p>
          <a:p>
            <a:r>
              <a:rPr lang="en-US" b="1" dirty="0"/>
              <a:t>“White space inside the buffer means unsuitable habitat.”</a:t>
            </a:r>
            <a:br>
              <a:rPr lang="en-US" dirty="0"/>
            </a:br>
            <a:r>
              <a:rPr lang="en-US" dirty="0"/>
              <a:t>White cells usually contain no raster value, often because the buffer extends over water.</a:t>
            </a:r>
          </a:p>
          <a:p>
            <a:endParaRPr lang="en-US" dirty="0"/>
          </a:p>
        </p:txBody>
      </p:sp>
    </p:spTree>
    <p:extLst>
      <p:ext uri="{BB962C8B-B14F-4D97-AF65-F5344CB8AC3E}">
        <p14:creationId xmlns:p14="http://schemas.microsoft.com/office/powerpoint/2010/main" val="260928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67BB-0BD1-20AF-8F52-A77BA04E8B54}"/>
              </a:ext>
            </a:extLst>
          </p:cNvPr>
          <p:cNvSpPr>
            <a:spLocks noGrp="1"/>
          </p:cNvSpPr>
          <p:nvPr>
            <p:ph type="title"/>
          </p:nvPr>
        </p:nvSpPr>
        <p:spPr/>
        <p:txBody>
          <a:bodyPr/>
          <a:lstStyle/>
          <a:p>
            <a:r>
              <a:rPr lang="en-US" dirty="0"/>
              <a:t>Repair the interpretation</a:t>
            </a:r>
          </a:p>
        </p:txBody>
      </p:sp>
      <p:sp>
        <p:nvSpPr>
          <p:cNvPr id="3" name="Content Placeholder 2">
            <a:extLst>
              <a:ext uri="{FF2B5EF4-FFF2-40B4-BE49-F238E27FC236}">
                <a16:creationId xmlns:a16="http://schemas.microsoft.com/office/drawing/2014/main" id="{0E6ECC87-9A12-37A7-EF71-0E99E6675506}"/>
              </a:ext>
            </a:extLst>
          </p:cNvPr>
          <p:cNvSpPr>
            <a:spLocks noGrp="1"/>
          </p:cNvSpPr>
          <p:nvPr>
            <p:ph idx="1"/>
          </p:nvPr>
        </p:nvSpPr>
        <p:spPr/>
        <p:txBody>
          <a:bodyPr>
            <a:normAutofit/>
          </a:bodyPr>
          <a:lstStyle/>
          <a:p>
            <a:pPr marL="0" indent="0">
              <a:buNone/>
            </a:pPr>
            <a:r>
              <a:rPr lang="en-US" dirty="0"/>
              <a:t>Choose one environmental variable:</a:t>
            </a:r>
          </a:p>
          <a:p>
            <a:pPr marL="757238" lvl="1" indent="-457200">
              <a:buFont typeface="+mj-lt"/>
              <a:buAutoNum type="arabicPeriod"/>
            </a:pPr>
            <a:r>
              <a:rPr lang="en-US" dirty="0"/>
              <a:t>Compare occurrences with background under each M.</a:t>
            </a:r>
          </a:p>
          <a:p>
            <a:pPr marL="757238" lvl="1" indent="-457200">
              <a:buFont typeface="+mj-lt"/>
              <a:buAutoNum type="arabicPeriod"/>
            </a:pPr>
            <a:r>
              <a:rPr lang="en-US" dirty="0"/>
              <a:t>Write(rewrite) one ecological interpretation/conclusion.</a:t>
            </a:r>
          </a:p>
          <a:p>
            <a:pPr marL="757238" lvl="1" indent="-457200">
              <a:buFont typeface="+mj-lt"/>
              <a:buAutoNum type="arabicPeriod"/>
            </a:pPr>
            <a:r>
              <a:rPr lang="en-US" dirty="0"/>
              <a:t>Classify the interpretation/conclusion as stable, conditional, or unstable.</a:t>
            </a:r>
          </a:p>
          <a:p>
            <a:pPr marL="757238" lvl="1" indent="-457200">
              <a:buFont typeface="+mj-lt"/>
              <a:buAutoNum type="arabicPeriod"/>
            </a:pPr>
            <a:r>
              <a:rPr lang="en-US" dirty="0"/>
              <a:t>Cite numbers or a visible pattern as evidence.</a:t>
            </a:r>
          </a:p>
          <a:p>
            <a:pPr marL="757238" lvl="1" indent="-457200">
              <a:buFont typeface="+mj-lt"/>
              <a:buAutoNum type="arabicPeriod"/>
            </a:pPr>
            <a:r>
              <a:rPr lang="en-US" dirty="0"/>
              <a:t>Save your updated script and ReadMe</a:t>
            </a:r>
          </a:p>
          <a:p>
            <a:pPr marL="757238" lvl="1" indent="-457200">
              <a:buFont typeface="+mj-lt"/>
              <a:buAutoNum type="arabicPeriod"/>
            </a:pPr>
            <a:r>
              <a:rPr lang="en-US" dirty="0"/>
              <a:t>Commit your changes (wait to push)</a:t>
            </a:r>
          </a:p>
          <a:p>
            <a:pPr marL="757238" lvl="1" indent="-457200">
              <a:buFont typeface="+mj-lt"/>
              <a:buAutoNum type="arabicPeriod"/>
            </a:pPr>
            <a:endParaRPr lang="en-US" dirty="0"/>
          </a:p>
        </p:txBody>
      </p:sp>
    </p:spTree>
    <p:extLst>
      <p:ext uri="{BB962C8B-B14F-4D97-AF65-F5344CB8AC3E}">
        <p14:creationId xmlns:p14="http://schemas.microsoft.com/office/powerpoint/2010/main" val="466043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BE5BE-A57C-B570-3DB5-D8657B011520}"/>
              </a:ext>
            </a:extLst>
          </p:cNvPr>
          <p:cNvSpPr>
            <a:spLocks noGrp="1"/>
          </p:cNvSpPr>
          <p:nvPr>
            <p:ph type="title"/>
          </p:nvPr>
        </p:nvSpPr>
        <p:spPr/>
        <p:txBody>
          <a:bodyPr/>
          <a:lstStyle/>
          <a:p>
            <a:r>
              <a:rPr lang="en-US" dirty="0"/>
              <a:t>Reproducibility check</a:t>
            </a:r>
          </a:p>
        </p:txBody>
      </p:sp>
      <p:sp>
        <p:nvSpPr>
          <p:cNvPr id="3" name="Content Placeholder 2">
            <a:extLst>
              <a:ext uri="{FF2B5EF4-FFF2-40B4-BE49-F238E27FC236}">
                <a16:creationId xmlns:a16="http://schemas.microsoft.com/office/drawing/2014/main" id="{382D2681-A6E8-62F1-4259-ABB1DD23CB7F}"/>
              </a:ext>
            </a:extLst>
          </p:cNvPr>
          <p:cNvSpPr>
            <a:spLocks noGrp="1"/>
          </p:cNvSpPr>
          <p:nvPr>
            <p:ph idx="1"/>
          </p:nvPr>
        </p:nvSpPr>
        <p:spPr/>
        <p:txBody>
          <a:bodyPr>
            <a:normAutofit fontScale="92500" lnSpcReduction="10000"/>
          </a:bodyPr>
          <a:lstStyle/>
          <a:p>
            <a:r>
              <a:rPr lang="en-US" dirty="0"/>
              <a:t>Restart R and run the script from the project root</a:t>
            </a:r>
          </a:p>
          <a:p>
            <a:r>
              <a:rPr lang="en-US" dirty="0"/>
              <a:t>Remove any hard-coded commands</a:t>
            </a:r>
          </a:p>
          <a:p>
            <a:r>
              <a:rPr lang="en-US" dirty="0"/>
              <a:t>Confirm that the script recreates both figures and saves them to the output folder</a:t>
            </a:r>
          </a:p>
          <a:p>
            <a:r>
              <a:rPr lang="en-US" dirty="0"/>
              <a:t>Confirm that all of your choices in the script match the README and figure labels</a:t>
            </a:r>
          </a:p>
          <a:p>
            <a:r>
              <a:rPr lang="en-US" dirty="0"/>
              <a:t>Check the order of your scripting output and that functions are defined before they are called</a:t>
            </a:r>
          </a:p>
          <a:p>
            <a:r>
              <a:rPr lang="en-US" dirty="0"/>
              <a:t>Save your updated script</a:t>
            </a:r>
          </a:p>
          <a:p>
            <a:r>
              <a:rPr lang="en-US" dirty="0"/>
              <a:t>Commit your changes and push</a:t>
            </a:r>
          </a:p>
        </p:txBody>
      </p:sp>
    </p:spTree>
    <p:extLst>
      <p:ext uri="{BB962C8B-B14F-4D97-AF65-F5344CB8AC3E}">
        <p14:creationId xmlns:p14="http://schemas.microsoft.com/office/powerpoint/2010/main" val="59167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C299-F8F1-6DAC-ADCE-A7A85F27D6D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D15C488-0A23-AF89-3946-6656A595D00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36517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318D0-6364-5E48-D6D7-52020B2A4834}"/>
              </a:ext>
            </a:extLst>
          </p:cNvPr>
          <p:cNvSpPr>
            <a:spLocks noGrp="1"/>
          </p:cNvSpPr>
          <p:nvPr>
            <p:ph type="title"/>
          </p:nvPr>
        </p:nvSpPr>
        <p:spPr>
          <a:xfrm>
            <a:off x="228600" y="262491"/>
            <a:ext cx="8229600" cy="857250"/>
          </a:xfrm>
        </p:spPr>
        <p:txBody>
          <a:bodyPr/>
          <a:lstStyle/>
          <a:p>
            <a:r>
              <a:rPr lang="en-US" dirty="0"/>
              <a:t>Presence-Background Models</a:t>
            </a:r>
          </a:p>
        </p:txBody>
      </p:sp>
      <p:graphicFrame>
        <p:nvGraphicFramePr>
          <p:cNvPr id="4" name="Table 3">
            <a:extLst>
              <a:ext uri="{FF2B5EF4-FFF2-40B4-BE49-F238E27FC236}">
                <a16:creationId xmlns:a16="http://schemas.microsoft.com/office/drawing/2014/main" id="{6A22A756-CCDA-34BA-1D36-8EE052513343}"/>
              </a:ext>
            </a:extLst>
          </p:cNvPr>
          <p:cNvGraphicFramePr>
            <a:graphicFrameLocks noGrp="1"/>
          </p:cNvGraphicFramePr>
          <p:nvPr>
            <p:extLst>
              <p:ext uri="{D42A27DB-BD31-4B8C-83A1-F6EECF244321}">
                <p14:modId xmlns:p14="http://schemas.microsoft.com/office/powerpoint/2010/main" val="947439433"/>
              </p:ext>
            </p:extLst>
          </p:nvPr>
        </p:nvGraphicFramePr>
        <p:xfrm>
          <a:off x="390524" y="2995417"/>
          <a:ext cx="8362951" cy="1915848"/>
        </p:xfrm>
        <a:graphic>
          <a:graphicData uri="http://schemas.openxmlformats.org/drawingml/2006/table">
            <a:tbl>
              <a:tblPr>
                <a:tableStyleId>{5C22544A-7EE6-4342-B048-85BDC9FD1C3A}</a:tableStyleId>
              </a:tblPr>
              <a:tblGrid>
                <a:gridCol w="1466850">
                  <a:extLst>
                    <a:ext uri="{9D8B030D-6E8A-4147-A177-3AD203B41FA5}">
                      <a16:colId xmlns:a16="http://schemas.microsoft.com/office/drawing/2014/main" val="1899927598"/>
                    </a:ext>
                  </a:extLst>
                </a:gridCol>
                <a:gridCol w="1952625">
                  <a:extLst>
                    <a:ext uri="{9D8B030D-6E8A-4147-A177-3AD203B41FA5}">
                      <a16:colId xmlns:a16="http://schemas.microsoft.com/office/drawing/2014/main" val="2276815839"/>
                    </a:ext>
                  </a:extLst>
                </a:gridCol>
                <a:gridCol w="4943476">
                  <a:extLst>
                    <a:ext uri="{9D8B030D-6E8A-4147-A177-3AD203B41FA5}">
                      <a16:colId xmlns:a16="http://schemas.microsoft.com/office/drawing/2014/main" val="4034250234"/>
                    </a:ext>
                  </a:extLst>
                </a:gridCol>
              </a:tblGrid>
              <a:tr h="95250">
                <a:tc>
                  <a:txBody>
                    <a:bodyPr/>
                    <a:lstStyle/>
                    <a:p>
                      <a:pPr>
                        <a:buNone/>
                      </a:pPr>
                      <a:r>
                        <a:rPr lang="en-US" sz="1000" b="1" dirty="0"/>
                        <a:t>Model type</a:t>
                      </a:r>
                    </a:p>
                  </a:txBody>
                  <a:tcPr marL="60472" marR="60472" marT="30236" marB="30236" anchor="ctr"/>
                </a:tc>
                <a:tc>
                  <a:txBody>
                    <a:bodyPr/>
                    <a:lstStyle/>
                    <a:p>
                      <a:pPr>
                        <a:buNone/>
                      </a:pPr>
                      <a:r>
                        <a:rPr lang="en-US" sz="1000" b="1" dirty="0"/>
                        <a:t>Example</a:t>
                      </a:r>
                    </a:p>
                  </a:txBody>
                  <a:tcPr marL="60472" marR="60472" marT="30236" marB="30236" anchor="ctr"/>
                </a:tc>
                <a:tc>
                  <a:txBody>
                    <a:bodyPr/>
                    <a:lstStyle/>
                    <a:p>
                      <a:pPr>
                        <a:buNone/>
                      </a:pPr>
                      <a:r>
                        <a:rPr lang="en-US" sz="1000" b="1" dirty="0"/>
                        <a:t>Typical use</a:t>
                      </a:r>
                    </a:p>
                  </a:txBody>
                  <a:tcPr marL="60472" marR="60472" marT="30236" marB="30236" anchor="ctr"/>
                </a:tc>
                <a:extLst>
                  <a:ext uri="{0D108BD9-81ED-4DB2-BD59-A6C34878D82A}">
                    <a16:rowId xmlns:a16="http://schemas.microsoft.com/office/drawing/2014/main" val="2216772049"/>
                  </a:ext>
                </a:extLst>
              </a:tr>
              <a:tr h="95250">
                <a:tc>
                  <a:txBody>
                    <a:bodyPr/>
                    <a:lstStyle/>
                    <a:p>
                      <a:pPr>
                        <a:buNone/>
                      </a:pPr>
                      <a:r>
                        <a:rPr lang="en-US" sz="1000" dirty="0">
                          <a:solidFill>
                            <a:srgbClr val="C00000"/>
                          </a:solidFill>
                        </a:rPr>
                        <a:t>Maximum entropy</a:t>
                      </a:r>
                    </a:p>
                  </a:txBody>
                  <a:tcPr marL="60472" marR="60472" marT="30236" marB="30236" anchor="ctr"/>
                </a:tc>
                <a:tc>
                  <a:txBody>
                    <a:bodyPr/>
                    <a:lstStyle/>
                    <a:p>
                      <a:pPr>
                        <a:buNone/>
                      </a:pPr>
                      <a:r>
                        <a:rPr lang="en-US" sz="1000" dirty="0">
                          <a:solidFill>
                            <a:srgbClr val="C00000"/>
                          </a:solidFill>
                        </a:rPr>
                        <a:t>Maxent, </a:t>
                      </a:r>
                      <a:r>
                        <a:rPr lang="en-US" sz="1000" dirty="0" err="1">
                          <a:solidFill>
                            <a:srgbClr val="C00000"/>
                          </a:solidFill>
                        </a:rPr>
                        <a:t>maxnet</a:t>
                      </a:r>
                      <a:endParaRPr lang="en-US" sz="1000" dirty="0">
                        <a:solidFill>
                          <a:srgbClr val="C00000"/>
                        </a:solidFill>
                      </a:endParaRPr>
                    </a:p>
                  </a:txBody>
                  <a:tcPr marL="60472" marR="60472" marT="30236" marB="30236" anchor="ctr"/>
                </a:tc>
                <a:tc>
                  <a:txBody>
                    <a:bodyPr/>
                    <a:lstStyle/>
                    <a:p>
                      <a:pPr>
                        <a:buNone/>
                      </a:pPr>
                      <a:r>
                        <a:rPr lang="en-US" sz="1000" dirty="0"/>
                        <a:t>Estimate relative suitability from occurrences and background environments</a:t>
                      </a:r>
                    </a:p>
                  </a:txBody>
                  <a:tcPr marL="60472" marR="60472" marT="30236" marB="30236" anchor="ctr"/>
                </a:tc>
                <a:extLst>
                  <a:ext uri="{0D108BD9-81ED-4DB2-BD59-A6C34878D82A}">
                    <a16:rowId xmlns:a16="http://schemas.microsoft.com/office/drawing/2014/main" val="620249176"/>
                  </a:ext>
                </a:extLst>
              </a:tr>
              <a:tr h="95250">
                <a:tc>
                  <a:txBody>
                    <a:bodyPr/>
                    <a:lstStyle/>
                    <a:p>
                      <a:pPr>
                        <a:buNone/>
                      </a:pPr>
                      <a:r>
                        <a:rPr lang="en-US" sz="1000" dirty="0"/>
                        <a:t>Point-process model</a:t>
                      </a:r>
                    </a:p>
                  </a:txBody>
                  <a:tcPr marL="60472" marR="60472" marT="30236" marB="30236" anchor="ctr"/>
                </a:tc>
                <a:tc>
                  <a:txBody>
                    <a:bodyPr/>
                    <a:lstStyle/>
                    <a:p>
                      <a:pPr>
                        <a:buNone/>
                      </a:pPr>
                      <a:r>
                        <a:rPr lang="en-US" sz="1000" dirty="0"/>
                        <a:t>Poisson point-process model</a:t>
                      </a:r>
                    </a:p>
                  </a:txBody>
                  <a:tcPr marL="60472" marR="60472" marT="30236" marB="30236" anchor="ctr"/>
                </a:tc>
                <a:tc>
                  <a:txBody>
                    <a:bodyPr/>
                    <a:lstStyle/>
                    <a:p>
                      <a:pPr>
                        <a:buNone/>
                      </a:pPr>
                      <a:r>
                        <a:rPr lang="en-US" sz="1000" dirty="0"/>
                        <a:t>Model the relative intensity of occurrence locations across space</a:t>
                      </a:r>
                    </a:p>
                  </a:txBody>
                  <a:tcPr marL="60472" marR="60472" marT="30236" marB="30236" anchor="ctr"/>
                </a:tc>
                <a:extLst>
                  <a:ext uri="{0D108BD9-81ED-4DB2-BD59-A6C34878D82A}">
                    <a16:rowId xmlns:a16="http://schemas.microsoft.com/office/drawing/2014/main" val="2328496231"/>
                  </a:ext>
                </a:extLst>
              </a:tr>
              <a:tr h="95250">
                <a:tc>
                  <a:txBody>
                    <a:bodyPr/>
                    <a:lstStyle/>
                    <a:p>
                      <a:pPr>
                        <a:buNone/>
                      </a:pPr>
                      <a:r>
                        <a:rPr lang="en-US" sz="1000" dirty="0"/>
                        <a:t>Resource-selection model</a:t>
                      </a:r>
                    </a:p>
                  </a:txBody>
                  <a:tcPr marL="60472" marR="60472" marT="30236" marB="30236" anchor="ctr"/>
                </a:tc>
                <a:tc>
                  <a:txBody>
                    <a:bodyPr/>
                    <a:lstStyle/>
                    <a:p>
                      <a:pPr>
                        <a:buNone/>
                      </a:pPr>
                      <a:r>
                        <a:rPr lang="en-US" sz="1000" dirty="0"/>
                        <a:t>Resource selection function, or RSF</a:t>
                      </a:r>
                    </a:p>
                  </a:txBody>
                  <a:tcPr marL="60472" marR="60472" marT="30236" marB="30236" anchor="ctr"/>
                </a:tc>
                <a:tc>
                  <a:txBody>
                    <a:bodyPr/>
                    <a:lstStyle/>
                    <a:p>
                      <a:pPr>
                        <a:buNone/>
                      </a:pPr>
                      <a:r>
                        <a:rPr lang="en-US" sz="1000" dirty="0"/>
                        <a:t>Compare locations used by organisms with available locations</a:t>
                      </a:r>
                    </a:p>
                  </a:txBody>
                  <a:tcPr marL="60472" marR="60472" marT="30236" marB="30236" anchor="ctr"/>
                </a:tc>
                <a:extLst>
                  <a:ext uri="{0D108BD9-81ED-4DB2-BD59-A6C34878D82A}">
                    <a16:rowId xmlns:a16="http://schemas.microsoft.com/office/drawing/2014/main" val="141802892"/>
                  </a:ext>
                </a:extLst>
              </a:tr>
              <a:tr h="95250">
                <a:tc>
                  <a:txBody>
                    <a:bodyPr/>
                    <a:lstStyle/>
                    <a:p>
                      <a:pPr>
                        <a:buNone/>
                      </a:pPr>
                      <a:r>
                        <a:rPr lang="en-US" sz="1000" dirty="0">
                          <a:solidFill>
                            <a:srgbClr val="C00000"/>
                          </a:solidFill>
                        </a:rPr>
                        <a:t>Regression</a:t>
                      </a:r>
                    </a:p>
                  </a:txBody>
                  <a:tcPr marL="60472" marR="60472" marT="30236" marB="30236" anchor="ctr"/>
                </a:tc>
                <a:tc>
                  <a:txBody>
                    <a:bodyPr/>
                    <a:lstStyle/>
                    <a:p>
                      <a:pPr>
                        <a:buNone/>
                      </a:pPr>
                      <a:r>
                        <a:rPr lang="en-US" sz="1000" dirty="0">
                          <a:solidFill>
                            <a:srgbClr val="C00000"/>
                          </a:solidFill>
                        </a:rPr>
                        <a:t>Logistic regression, GAM</a:t>
                      </a:r>
                    </a:p>
                  </a:txBody>
                  <a:tcPr marL="60472" marR="60472" marT="30236" marB="30236" anchor="ctr"/>
                </a:tc>
                <a:tc>
                  <a:txBody>
                    <a:bodyPr/>
                    <a:lstStyle/>
                    <a:p>
                      <a:pPr>
                        <a:buNone/>
                      </a:pPr>
                      <a:r>
                        <a:rPr lang="en-US" sz="1000" dirty="0"/>
                        <a:t>Estimate environmental associations using occurrences coded 1 and background coded 0</a:t>
                      </a:r>
                    </a:p>
                  </a:txBody>
                  <a:tcPr marL="60472" marR="60472" marT="30236" marB="30236" anchor="ctr"/>
                </a:tc>
                <a:extLst>
                  <a:ext uri="{0D108BD9-81ED-4DB2-BD59-A6C34878D82A}">
                    <a16:rowId xmlns:a16="http://schemas.microsoft.com/office/drawing/2014/main" val="658276708"/>
                  </a:ext>
                </a:extLst>
              </a:tr>
              <a:tr h="95250">
                <a:tc>
                  <a:txBody>
                    <a:bodyPr/>
                    <a:lstStyle/>
                    <a:p>
                      <a:pPr>
                        <a:buNone/>
                      </a:pPr>
                      <a:r>
                        <a:rPr lang="en-US" sz="1000" dirty="0">
                          <a:solidFill>
                            <a:srgbClr val="C00000"/>
                          </a:solidFill>
                        </a:rPr>
                        <a:t>Tree-based model</a:t>
                      </a:r>
                    </a:p>
                  </a:txBody>
                  <a:tcPr marL="60472" marR="60472" marT="30236" marB="30236" anchor="ctr"/>
                </a:tc>
                <a:tc>
                  <a:txBody>
                    <a:bodyPr/>
                    <a:lstStyle/>
                    <a:p>
                      <a:pPr>
                        <a:buNone/>
                      </a:pPr>
                      <a:r>
                        <a:rPr lang="en-US" sz="1000" dirty="0">
                          <a:solidFill>
                            <a:srgbClr val="C00000"/>
                          </a:solidFill>
                        </a:rPr>
                        <a:t>Boosted regression trees</a:t>
                      </a:r>
                    </a:p>
                  </a:txBody>
                  <a:tcPr marL="60472" marR="60472" marT="30236" marB="30236" anchor="ctr"/>
                </a:tc>
                <a:tc>
                  <a:txBody>
                    <a:bodyPr/>
                    <a:lstStyle/>
                    <a:p>
                      <a:pPr>
                        <a:buNone/>
                      </a:pPr>
                      <a:r>
                        <a:rPr lang="en-US" sz="1000" dirty="0"/>
                        <a:t>Fit nonlinear relationships and interactions</a:t>
                      </a:r>
                    </a:p>
                  </a:txBody>
                  <a:tcPr marL="60472" marR="60472" marT="30236" marB="30236" anchor="ctr"/>
                </a:tc>
                <a:extLst>
                  <a:ext uri="{0D108BD9-81ED-4DB2-BD59-A6C34878D82A}">
                    <a16:rowId xmlns:a16="http://schemas.microsoft.com/office/drawing/2014/main" val="3368765509"/>
                  </a:ext>
                </a:extLst>
              </a:tr>
              <a:tr h="95250">
                <a:tc>
                  <a:txBody>
                    <a:bodyPr/>
                    <a:lstStyle/>
                    <a:p>
                      <a:pPr>
                        <a:buNone/>
                      </a:pPr>
                      <a:r>
                        <a:rPr lang="en-US" sz="1000" dirty="0">
                          <a:solidFill>
                            <a:srgbClr val="C00000"/>
                          </a:solidFill>
                        </a:rPr>
                        <a:t>Machine learning</a:t>
                      </a:r>
                    </a:p>
                  </a:txBody>
                  <a:tcPr marL="60472" marR="60472" marT="30236" marB="30236" anchor="ctr"/>
                </a:tc>
                <a:tc>
                  <a:txBody>
                    <a:bodyPr/>
                    <a:lstStyle/>
                    <a:p>
                      <a:pPr>
                        <a:buNone/>
                      </a:pPr>
                      <a:r>
                        <a:rPr lang="en-US" sz="1000" dirty="0">
                          <a:solidFill>
                            <a:srgbClr val="C00000"/>
                          </a:solidFill>
                        </a:rPr>
                        <a:t>Random forest</a:t>
                      </a:r>
                    </a:p>
                  </a:txBody>
                  <a:tcPr marL="60472" marR="60472" marT="30236" marB="30236" anchor="ctr"/>
                </a:tc>
                <a:tc>
                  <a:txBody>
                    <a:bodyPr/>
                    <a:lstStyle/>
                    <a:p>
                      <a:pPr>
                        <a:buNone/>
                      </a:pPr>
                      <a:r>
                        <a:rPr lang="en-US" sz="1000" dirty="0"/>
                        <a:t>Classify occurrences relative to sampled background</a:t>
                      </a:r>
                    </a:p>
                  </a:txBody>
                  <a:tcPr marL="60472" marR="60472" marT="30236" marB="30236" anchor="ctr"/>
                </a:tc>
                <a:extLst>
                  <a:ext uri="{0D108BD9-81ED-4DB2-BD59-A6C34878D82A}">
                    <a16:rowId xmlns:a16="http://schemas.microsoft.com/office/drawing/2014/main" val="2197504641"/>
                  </a:ext>
                </a:extLst>
              </a:tr>
              <a:tr h="95250">
                <a:tc>
                  <a:txBody>
                    <a:bodyPr/>
                    <a:lstStyle/>
                    <a:p>
                      <a:pPr>
                        <a:buNone/>
                      </a:pPr>
                      <a:r>
                        <a:rPr lang="en-US" sz="1000"/>
                        <a:t>Ecological-factor analysis</a:t>
                      </a:r>
                    </a:p>
                  </a:txBody>
                  <a:tcPr marL="60472" marR="60472" marT="30236" marB="30236" anchor="ctr"/>
                </a:tc>
                <a:tc>
                  <a:txBody>
                    <a:bodyPr/>
                    <a:lstStyle/>
                    <a:p>
                      <a:pPr>
                        <a:buNone/>
                      </a:pPr>
                      <a:r>
                        <a:rPr lang="en-US" sz="1000"/>
                        <a:t>ENFA</a:t>
                      </a:r>
                    </a:p>
                  </a:txBody>
                  <a:tcPr marL="60472" marR="60472" marT="30236" marB="30236" anchor="ctr"/>
                </a:tc>
                <a:tc>
                  <a:txBody>
                    <a:bodyPr/>
                    <a:lstStyle/>
                    <a:p>
                      <a:pPr>
                        <a:buNone/>
                      </a:pPr>
                      <a:r>
                        <a:rPr lang="en-US" sz="1000" dirty="0"/>
                        <a:t>Compare the environments used by a species with the environments available</a:t>
                      </a:r>
                    </a:p>
                  </a:txBody>
                  <a:tcPr marL="60472" marR="60472" marT="30236" marB="30236" anchor="ctr"/>
                </a:tc>
                <a:extLst>
                  <a:ext uri="{0D108BD9-81ED-4DB2-BD59-A6C34878D82A}">
                    <a16:rowId xmlns:a16="http://schemas.microsoft.com/office/drawing/2014/main" val="632011118"/>
                  </a:ext>
                </a:extLst>
              </a:tr>
              <a:tr h="95250">
                <a:tc>
                  <a:txBody>
                    <a:bodyPr/>
                    <a:lstStyle/>
                    <a:p>
                      <a:pPr>
                        <a:buNone/>
                      </a:pPr>
                      <a:r>
                        <a:rPr lang="en-US" sz="1000" dirty="0">
                          <a:solidFill>
                            <a:srgbClr val="C00000"/>
                          </a:solidFill>
                        </a:rPr>
                        <a:t>Ensemble model</a:t>
                      </a:r>
                    </a:p>
                  </a:txBody>
                  <a:tcPr marL="60472" marR="60472" marT="30236" marB="30236" anchor="ctr"/>
                </a:tc>
                <a:tc>
                  <a:txBody>
                    <a:bodyPr/>
                    <a:lstStyle/>
                    <a:p>
                      <a:pPr>
                        <a:buNone/>
                      </a:pPr>
                      <a:r>
                        <a:rPr lang="en-US" sz="1000" dirty="0">
                          <a:solidFill>
                            <a:srgbClr val="C00000"/>
                          </a:solidFill>
                        </a:rPr>
                        <a:t>biomod2 ensemble</a:t>
                      </a:r>
                    </a:p>
                  </a:txBody>
                  <a:tcPr marL="60472" marR="60472" marT="30236" marB="30236" anchor="ctr"/>
                </a:tc>
                <a:tc>
                  <a:txBody>
                    <a:bodyPr/>
                    <a:lstStyle/>
                    <a:p>
                      <a:pPr>
                        <a:buNone/>
                      </a:pPr>
                      <a:r>
                        <a:rPr lang="en-US" sz="1000" dirty="0"/>
                        <a:t>Combine predictions from several presence-background algorithms</a:t>
                      </a:r>
                    </a:p>
                  </a:txBody>
                  <a:tcPr marL="60472" marR="60472" marT="30236" marB="30236" anchor="ctr"/>
                </a:tc>
                <a:extLst>
                  <a:ext uri="{0D108BD9-81ED-4DB2-BD59-A6C34878D82A}">
                    <a16:rowId xmlns:a16="http://schemas.microsoft.com/office/drawing/2014/main" val="2362452221"/>
                  </a:ext>
                </a:extLst>
              </a:tr>
            </a:tbl>
          </a:graphicData>
        </a:graphic>
      </p:graphicFrame>
      <p:sp>
        <p:nvSpPr>
          <p:cNvPr id="5" name="TextBox 4">
            <a:extLst>
              <a:ext uri="{FF2B5EF4-FFF2-40B4-BE49-F238E27FC236}">
                <a16:creationId xmlns:a16="http://schemas.microsoft.com/office/drawing/2014/main" id="{58EC5807-0BD9-2B41-492D-0BA3C0FAA5B2}"/>
              </a:ext>
            </a:extLst>
          </p:cNvPr>
          <p:cNvSpPr txBox="1"/>
          <p:nvPr/>
        </p:nvSpPr>
        <p:spPr>
          <a:xfrm>
            <a:off x="497542" y="1065952"/>
            <a:ext cx="7570694" cy="923330"/>
          </a:xfrm>
          <a:prstGeom prst="rect">
            <a:avLst/>
          </a:prstGeom>
          <a:noFill/>
        </p:spPr>
        <p:txBody>
          <a:bodyPr wrap="square">
            <a:spAutoFit/>
          </a:bodyPr>
          <a:lstStyle/>
          <a:p>
            <a:pPr>
              <a:buNone/>
            </a:pPr>
            <a:r>
              <a:rPr lang="en-US" dirty="0"/>
              <a:t>These models compare environmental conditions at occurrence locations with conditions available within M. They differ mainly in their structure and complexity.</a:t>
            </a:r>
          </a:p>
        </p:txBody>
      </p:sp>
      <p:pic>
        <p:nvPicPr>
          <p:cNvPr id="6" name="Picture 5">
            <a:extLst>
              <a:ext uri="{FF2B5EF4-FFF2-40B4-BE49-F238E27FC236}">
                <a16:creationId xmlns:a16="http://schemas.microsoft.com/office/drawing/2014/main" id="{4E69E5F4-946B-07B4-4A41-7498E3807514}"/>
              </a:ext>
            </a:extLst>
          </p:cNvPr>
          <p:cNvPicPr>
            <a:picLocks noChangeAspect="1"/>
          </p:cNvPicPr>
          <p:nvPr/>
        </p:nvPicPr>
        <p:blipFill>
          <a:blip r:embed="rId2"/>
          <a:srcRect t="25844" b="30981"/>
          <a:stretch>
            <a:fillRect/>
          </a:stretch>
        </p:blipFill>
        <p:spPr>
          <a:xfrm>
            <a:off x="3400054" y="1745389"/>
            <a:ext cx="3860297" cy="1250028"/>
          </a:xfrm>
          <a:prstGeom prst="rect">
            <a:avLst/>
          </a:prstGeom>
        </p:spPr>
      </p:pic>
    </p:spTree>
    <p:extLst>
      <p:ext uri="{BB962C8B-B14F-4D97-AF65-F5344CB8AC3E}">
        <p14:creationId xmlns:p14="http://schemas.microsoft.com/office/powerpoint/2010/main" val="3689011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4338-D493-20B5-3FA9-18CC0CE2F838}"/>
              </a:ext>
            </a:extLst>
          </p:cNvPr>
          <p:cNvSpPr>
            <a:spLocks noGrp="1"/>
          </p:cNvSpPr>
          <p:nvPr>
            <p:ph type="title"/>
          </p:nvPr>
        </p:nvSpPr>
        <p:spPr>
          <a:xfrm>
            <a:off x="457200" y="2143125"/>
            <a:ext cx="8229600" cy="857250"/>
          </a:xfrm>
        </p:spPr>
        <p:txBody>
          <a:bodyPr/>
          <a:lstStyle/>
          <a:p>
            <a:r>
              <a:rPr lang="en-US" dirty="0"/>
              <a:t>Questions that presence-background models can answer</a:t>
            </a:r>
          </a:p>
        </p:txBody>
      </p:sp>
    </p:spTree>
    <p:extLst>
      <p:ext uri="{BB962C8B-B14F-4D97-AF65-F5344CB8AC3E}">
        <p14:creationId xmlns:p14="http://schemas.microsoft.com/office/powerpoint/2010/main" val="2186344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FC64-4190-8B12-CF71-A18AAFB1C352}"/>
              </a:ext>
            </a:extLst>
          </p:cNvPr>
          <p:cNvSpPr>
            <a:spLocks noGrp="1"/>
          </p:cNvSpPr>
          <p:nvPr>
            <p:ph type="title"/>
          </p:nvPr>
        </p:nvSpPr>
        <p:spPr>
          <a:xfrm>
            <a:off x="457200" y="693713"/>
            <a:ext cx="8229600" cy="857250"/>
          </a:xfrm>
        </p:spPr>
        <p:txBody>
          <a:bodyPr>
            <a:normAutofit fontScale="90000"/>
          </a:bodyPr>
          <a:lstStyle/>
          <a:p>
            <a:r>
              <a:rPr lang="en-US" dirty="0"/>
              <a:t>Within the environments a species could access, where are occurrences concentrated more than expected from availability?</a:t>
            </a:r>
          </a:p>
        </p:txBody>
      </p:sp>
      <p:pic>
        <p:nvPicPr>
          <p:cNvPr id="5" name="Picture 4">
            <a:extLst>
              <a:ext uri="{FF2B5EF4-FFF2-40B4-BE49-F238E27FC236}">
                <a16:creationId xmlns:a16="http://schemas.microsoft.com/office/drawing/2014/main" id="{AA2D8E93-EA48-5235-B103-4B62D63F4538}"/>
              </a:ext>
            </a:extLst>
          </p:cNvPr>
          <p:cNvPicPr>
            <a:picLocks noChangeAspect="1"/>
          </p:cNvPicPr>
          <p:nvPr/>
        </p:nvPicPr>
        <p:blipFill>
          <a:blip r:embed="rId2"/>
          <a:stretch>
            <a:fillRect/>
          </a:stretch>
        </p:blipFill>
        <p:spPr>
          <a:xfrm>
            <a:off x="5650547" y="1766455"/>
            <a:ext cx="2931222" cy="2931222"/>
          </a:xfrm>
          <a:prstGeom prst="rect">
            <a:avLst/>
          </a:prstGeom>
        </p:spPr>
      </p:pic>
      <p:sp>
        <p:nvSpPr>
          <p:cNvPr id="4" name="TextBox 3">
            <a:extLst>
              <a:ext uri="{FF2B5EF4-FFF2-40B4-BE49-F238E27FC236}">
                <a16:creationId xmlns:a16="http://schemas.microsoft.com/office/drawing/2014/main" id="{F98774A0-A9F8-964F-066B-3138A06FC67A}"/>
              </a:ext>
            </a:extLst>
          </p:cNvPr>
          <p:cNvSpPr txBox="1"/>
          <p:nvPr/>
        </p:nvSpPr>
        <p:spPr>
          <a:xfrm>
            <a:off x="457200" y="1766455"/>
            <a:ext cx="4827496" cy="2893100"/>
          </a:xfrm>
          <a:prstGeom prst="rect">
            <a:avLst/>
          </a:prstGeom>
          <a:noFill/>
        </p:spPr>
        <p:txBody>
          <a:bodyPr wrap="square">
            <a:spAutoFit/>
          </a:bodyPr>
          <a:lstStyle/>
          <a:p>
            <a:pPr>
              <a:buNone/>
            </a:pPr>
            <a:r>
              <a:rPr lang="en-US" sz="1400" dirty="0"/>
              <a:t>A salamander may occur mainly in cool, moist ravines even though warmer slopes were also accessible. This suggests an environmental association with cool, moist places.</a:t>
            </a:r>
          </a:p>
          <a:p>
            <a:pPr>
              <a:buNone/>
            </a:pPr>
            <a:endParaRPr lang="en-US" sz="1400" dirty="0"/>
          </a:p>
          <a:p>
            <a:pPr>
              <a:buNone/>
            </a:pPr>
            <a:r>
              <a:rPr lang="en-US" sz="1400" dirty="0"/>
              <a:t>It matters because:</a:t>
            </a:r>
          </a:p>
          <a:p>
            <a:pPr marL="342900" lvl="0" indent="-342900">
              <a:buFont typeface="Arial" panose="020B0604020202020204" pitchFamily="34" charset="0"/>
              <a:buChar char="•"/>
            </a:pPr>
            <a:r>
              <a:rPr lang="en-US" sz="1400" dirty="0"/>
              <a:t>It tests whether the predictors contain an ecological signal</a:t>
            </a:r>
          </a:p>
          <a:p>
            <a:pPr marL="342900" lvl="0" indent="-342900">
              <a:buFont typeface="Arial" panose="020B0604020202020204" pitchFamily="34" charset="0"/>
              <a:buChar char="•"/>
            </a:pPr>
            <a:r>
              <a:rPr lang="en-US" sz="1400" dirty="0"/>
              <a:t>It describes environmental selection relative to what was available</a:t>
            </a:r>
          </a:p>
          <a:p>
            <a:pPr marL="342900" lvl="0" indent="-342900">
              <a:buFont typeface="Arial" panose="020B0604020202020204" pitchFamily="34" charset="0"/>
              <a:buChar char="•"/>
            </a:pPr>
            <a:r>
              <a:rPr lang="en-US" sz="1400" dirty="0"/>
              <a:t>It avoids treating background locations as confirmed absences</a:t>
            </a:r>
          </a:p>
          <a:p>
            <a:pPr>
              <a:buNone/>
            </a:pPr>
            <a:endParaRPr lang="en-US" sz="1400" dirty="0"/>
          </a:p>
          <a:p>
            <a:pPr>
              <a:buNone/>
            </a:pPr>
            <a:r>
              <a:rPr lang="en-US" sz="1400" dirty="0"/>
              <a:t>Important limitation: The pattern shows association, not physiological causation</a:t>
            </a:r>
          </a:p>
        </p:txBody>
      </p:sp>
      <p:sp>
        <p:nvSpPr>
          <p:cNvPr id="6" name="TextBox 5">
            <a:extLst>
              <a:ext uri="{FF2B5EF4-FFF2-40B4-BE49-F238E27FC236}">
                <a16:creationId xmlns:a16="http://schemas.microsoft.com/office/drawing/2014/main" id="{A902E476-8A4A-2482-2DF0-9AD5B1F51FB3}"/>
              </a:ext>
            </a:extLst>
          </p:cNvPr>
          <p:cNvSpPr txBox="1"/>
          <p:nvPr/>
        </p:nvSpPr>
        <p:spPr>
          <a:xfrm>
            <a:off x="7511008" y="3790881"/>
            <a:ext cx="1436612" cy="400110"/>
          </a:xfrm>
          <a:prstGeom prst="rect">
            <a:avLst/>
          </a:prstGeom>
          <a:noFill/>
        </p:spPr>
        <p:txBody>
          <a:bodyPr wrap="none" rtlCol="0">
            <a:spAutoFit/>
          </a:bodyPr>
          <a:lstStyle/>
          <a:p>
            <a:r>
              <a:rPr lang="en-US" sz="1000" dirty="0"/>
              <a:t>Occurrence points black</a:t>
            </a:r>
          </a:p>
          <a:p>
            <a:r>
              <a:rPr lang="en-US" sz="1000" dirty="0"/>
              <a:t>Background points gray</a:t>
            </a:r>
          </a:p>
        </p:txBody>
      </p:sp>
    </p:spTree>
    <p:extLst>
      <p:ext uri="{BB962C8B-B14F-4D97-AF65-F5344CB8AC3E}">
        <p14:creationId xmlns:p14="http://schemas.microsoft.com/office/powerpoint/2010/main" val="3168458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A5BF1-C05C-9BD3-9848-DB4390FAABD1}"/>
              </a:ext>
            </a:extLst>
          </p:cNvPr>
          <p:cNvSpPr>
            <a:spLocks noGrp="1"/>
          </p:cNvSpPr>
          <p:nvPr>
            <p:ph type="title"/>
          </p:nvPr>
        </p:nvSpPr>
        <p:spPr>
          <a:xfrm>
            <a:off x="457200" y="727535"/>
            <a:ext cx="8229600" cy="857250"/>
          </a:xfrm>
        </p:spPr>
        <p:txBody>
          <a:bodyPr>
            <a:normAutofit fontScale="90000"/>
          </a:bodyPr>
          <a:lstStyle/>
          <a:p>
            <a:r>
              <a:rPr lang="en-US" dirty="0"/>
              <a:t>Where is relative environmental suitability higher or lower within the modeled region?</a:t>
            </a:r>
          </a:p>
        </p:txBody>
      </p:sp>
      <p:pic>
        <p:nvPicPr>
          <p:cNvPr id="4" name="Picture 3">
            <a:extLst>
              <a:ext uri="{FF2B5EF4-FFF2-40B4-BE49-F238E27FC236}">
                <a16:creationId xmlns:a16="http://schemas.microsoft.com/office/drawing/2014/main" id="{9526F554-9CDD-42C6-9A9B-64134C436A23}"/>
              </a:ext>
            </a:extLst>
          </p:cNvPr>
          <p:cNvPicPr>
            <a:picLocks noChangeAspect="1"/>
          </p:cNvPicPr>
          <p:nvPr/>
        </p:nvPicPr>
        <p:blipFill>
          <a:blip r:embed="rId2"/>
          <a:stretch>
            <a:fillRect/>
          </a:stretch>
        </p:blipFill>
        <p:spPr>
          <a:xfrm>
            <a:off x="4355162" y="1374955"/>
            <a:ext cx="3768545" cy="3768545"/>
          </a:xfrm>
          <a:prstGeom prst="rect">
            <a:avLst/>
          </a:prstGeom>
        </p:spPr>
      </p:pic>
      <p:sp>
        <p:nvSpPr>
          <p:cNvPr id="5" name="TextBox 4">
            <a:extLst>
              <a:ext uri="{FF2B5EF4-FFF2-40B4-BE49-F238E27FC236}">
                <a16:creationId xmlns:a16="http://schemas.microsoft.com/office/drawing/2014/main" id="{5E855BE0-FB14-BB8D-9595-A97CB88B6759}"/>
              </a:ext>
            </a:extLst>
          </p:cNvPr>
          <p:cNvSpPr txBox="1"/>
          <p:nvPr/>
        </p:nvSpPr>
        <p:spPr>
          <a:xfrm>
            <a:off x="847165" y="1957703"/>
            <a:ext cx="3334871" cy="923330"/>
          </a:xfrm>
          <a:prstGeom prst="rect">
            <a:avLst/>
          </a:prstGeom>
          <a:noFill/>
        </p:spPr>
        <p:txBody>
          <a:bodyPr wrap="square">
            <a:spAutoFit/>
          </a:bodyPr>
          <a:lstStyle/>
          <a:p>
            <a:pPr lvl="0"/>
            <a:r>
              <a:rPr lang="en-US" dirty="0"/>
              <a:t>This type of question is useful for ranking survey, conservation, or restoration areas.</a:t>
            </a:r>
          </a:p>
        </p:txBody>
      </p:sp>
    </p:spTree>
    <p:extLst>
      <p:ext uri="{BB962C8B-B14F-4D97-AF65-F5344CB8AC3E}">
        <p14:creationId xmlns:p14="http://schemas.microsoft.com/office/powerpoint/2010/main" val="695898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F8C9-FAFF-97DB-8597-1E55F1822853}"/>
              </a:ext>
            </a:extLst>
          </p:cNvPr>
          <p:cNvSpPr>
            <a:spLocks noGrp="1"/>
          </p:cNvSpPr>
          <p:nvPr>
            <p:ph type="title"/>
          </p:nvPr>
        </p:nvSpPr>
        <p:spPr>
          <a:xfrm>
            <a:off x="457200" y="606511"/>
            <a:ext cx="8229600" cy="857250"/>
          </a:xfrm>
        </p:spPr>
        <p:txBody>
          <a:bodyPr>
            <a:normAutofit fontScale="90000"/>
          </a:bodyPr>
          <a:lstStyle/>
          <a:p>
            <a:r>
              <a:rPr lang="en-US" dirty="0"/>
              <a:t>How does the predicted suitability pattern change under alternative definitions of M?</a:t>
            </a:r>
          </a:p>
        </p:txBody>
      </p:sp>
      <p:pic>
        <p:nvPicPr>
          <p:cNvPr id="6" name="Picture 5">
            <a:extLst>
              <a:ext uri="{FF2B5EF4-FFF2-40B4-BE49-F238E27FC236}">
                <a16:creationId xmlns:a16="http://schemas.microsoft.com/office/drawing/2014/main" id="{14AC74B4-8617-2F68-D5E2-577A8734CF1D}"/>
              </a:ext>
            </a:extLst>
          </p:cNvPr>
          <p:cNvPicPr>
            <a:picLocks noChangeAspect="1"/>
          </p:cNvPicPr>
          <p:nvPr/>
        </p:nvPicPr>
        <p:blipFill>
          <a:blip r:embed="rId2"/>
          <a:stretch>
            <a:fillRect/>
          </a:stretch>
        </p:blipFill>
        <p:spPr>
          <a:xfrm>
            <a:off x="3928985" y="900666"/>
            <a:ext cx="4165023" cy="4165023"/>
          </a:xfrm>
          <a:prstGeom prst="rect">
            <a:avLst/>
          </a:prstGeom>
        </p:spPr>
      </p:pic>
      <p:sp>
        <p:nvSpPr>
          <p:cNvPr id="4" name="TextBox 3">
            <a:extLst>
              <a:ext uri="{FF2B5EF4-FFF2-40B4-BE49-F238E27FC236}">
                <a16:creationId xmlns:a16="http://schemas.microsoft.com/office/drawing/2014/main" id="{93DDD33C-4E86-2B46-C95E-80BAFABAC510}"/>
              </a:ext>
            </a:extLst>
          </p:cNvPr>
          <p:cNvSpPr txBox="1"/>
          <p:nvPr/>
        </p:nvSpPr>
        <p:spPr>
          <a:xfrm>
            <a:off x="820270" y="1918464"/>
            <a:ext cx="2958354" cy="1477328"/>
          </a:xfrm>
          <a:prstGeom prst="rect">
            <a:avLst/>
          </a:prstGeom>
          <a:noFill/>
        </p:spPr>
        <p:txBody>
          <a:bodyPr wrap="square">
            <a:spAutoFit/>
          </a:bodyPr>
          <a:lstStyle/>
          <a:p>
            <a:pPr lvl="0"/>
            <a:r>
              <a:rPr lang="en-US" dirty="0"/>
              <a:t>This type of question tests whether conclusions depend on assumptions about dispersal history and accessibility.</a:t>
            </a:r>
          </a:p>
        </p:txBody>
      </p:sp>
    </p:spTree>
    <p:extLst>
      <p:ext uri="{BB962C8B-B14F-4D97-AF65-F5344CB8AC3E}">
        <p14:creationId xmlns:p14="http://schemas.microsoft.com/office/powerpoint/2010/main" val="2036617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1FEE-ABF7-AE52-4AF9-28043DD97365}"/>
              </a:ext>
            </a:extLst>
          </p:cNvPr>
          <p:cNvSpPr>
            <a:spLocks noGrp="1"/>
          </p:cNvSpPr>
          <p:nvPr>
            <p:ph type="title"/>
          </p:nvPr>
        </p:nvSpPr>
        <p:spPr/>
        <p:txBody>
          <a:bodyPr>
            <a:normAutofit fontScale="90000"/>
          </a:bodyPr>
          <a:lstStyle/>
          <a:p>
            <a:r>
              <a:rPr lang="en-US" dirty="0"/>
              <a:t>Which unsampled areas have environments similar to known occurrence locations?</a:t>
            </a:r>
          </a:p>
        </p:txBody>
      </p:sp>
      <p:pic>
        <p:nvPicPr>
          <p:cNvPr id="4" name="Picture 3">
            <a:extLst>
              <a:ext uri="{FF2B5EF4-FFF2-40B4-BE49-F238E27FC236}">
                <a16:creationId xmlns:a16="http://schemas.microsoft.com/office/drawing/2014/main" id="{D46E56DB-7BE6-F06A-9BDF-76FE1D3E4A9C}"/>
              </a:ext>
            </a:extLst>
          </p:cNvPr>
          <p:cNvPicPr>
            <a:picLocks noChangeAspect="1"/>
          </p:cNvPicPr>
          <p:nvPr/>
        </p:nvPicPr>
        <p:blipFill>
          <a:blip r:embed="rId2"/>
          <a:stretch>
            <a:fillRect/>
          </a:stretch>
        </p:blipFill>
        <p:spPr>
          <a:xfrm>
            <a:off x="4783079" y="1329291"/>
            <a:ext cx="3430732" cy="3430732"/>
          </a:xfrm>
          <a:prstGeom prst="rect">
            <a:avLst/>
          </a:prstGeom>
        </p:spPr>
      </p:pic>
      <p:sp>
        <p:nvSpPr>
          <p:cNvPr id="5" name="TextBox 4">
            <a:extLst>
              <a:ext uri="{FF2B5EF4-FFF2-40B4-BE49-F238E27FC236}">
                <a16:creationId xmlns:a16="http://schemas.microsoft.com/office/drawing/2014/main" id="{227C0E8F-FBE1-2123-26F4-0C6C7BC571B0}"/>
              </a:ext>
            </a:extLst>
          </p:cNvPr>
          <p:cNvSpPr txBox="1"/>
          <p:nvPr/>
        </p:nvSpPr>
        <p:spPr>
          <a:xfrm>
            <a:off x="719111" y="1940028"/>
            <a:ext cx="3641811" cy="1754326"/>
          </a:xfrm>
          <a:prstGeom prst="rect">
            <a:avLst/>
          </a:prstGeom>
          <a:noFill/>
        </p:spPr>
        <p:txBody>
          <a:bodyPr wrap="square">
            <a:spAutoFit/>
          </a:bodyPr>
          <a:lstStyle/>
          <a:p>
            <a:r>
              <a:rPr lang="en-US" dirty="0"/>
              <a:t>This type of question helps answer where else we should survey.</a:t>
            </a:r>
            <a:br>
              <a:rPr lang="en-US" dirty="0"/>
            </a:br>
            <a:endParaRPr lang="en-US" dirty="0"/>
          </a:p>
          <a:p>
            <a:r>
              <a:rPr lang="en-US" dirty="0"/>
              <a:t>Example: finding unsurveyed limestone areas similar to locations occupied by a rare plant.</a:t>
            </a:r>
          </a:p>
        </p:txBody>
      </p:sp>
    </p:spTree>
    <p:extLst>
      <p:ext uri="{BB962C8B-B14F-4D97-AF65-F5344CB8AC3E}">
        <p14:creationId xmlns:p14="http://schemas.microsoft.com/office/powerpoint/2010/main" val="3388121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967C0-CD69-E9C8-9A90-3A9B5AB03337}"/>
              </a:ext>
            </a:extLst>
          </p:cNvPr>
          <p:cNvSpPr>
            <a:spLocks noGrp="1"/>
          </p:cNvSpPr>
          <p:nvPr>
            <p:ph type="title"/>
          </p:nvPr>
        </p:nvSpPr>
        <p:spPr>
          <a:xfrm>
            <a:off x="457200" y="619958"/>
            <a:ext cx="8229600" cy="857250"/>
          </a:xfrm>
        </p:spPr>
        <p:txBody>
          <a:bodyPr>
            <a:normAutofit fontScale="90000"/>
          </a:bodyPr>
          <a:lstStyle/>
          <a:p>
            <a:r>
              <a:rPr lang="en-US" dirty="0"/>
              <a:t>Which predictors have the strongest associations with occurrence locations?</a:t>
            </a:r>
          </a:p>
        </p:txBody>
      </p:sp>
      <p:pic>
        <p:nvPicPr>
          <p:cNvPr id="5" name="Picture 4">
            <a:extLst>
              <a:ext uri="{FF2B5EF4-FFF2-40B4-BE49-F238E27FC236}">
                <a16:creationId xmlns:a16="http://schemas.microsoft.com/office/drawing/2014/main" id="{4EB3EB0F-8EE0-5836-F6CD-1C191457BD49}"/>
              </a:ext>
            </a:extLst>
          </p:cNvPr>
          <p:cNvPicPr>
            <a:picLocks noChangeAspect="1"/>
          </p:cNvPicPr>
          <p:nvPr/>
        </p:nvPicPr>
        <p:blipFill>
          <a:blip r:embed="rId2"/>
          <a:stretch>
            <a:fillRect/>
          </a:stretch>
        </p:blipFill>
        <p:spPr>
          <a:xfrm>
            <a:off x="4889432" y="1453299"/>
            <a:ext cx="2973533" cy="2973533"/>
          </a:xfrm>
          <a:prstGeom prst="rect">
            <a:avLst/>
          </a:prstGeom>
        </p:spPr>
      </p:pic>
      <p:sp>
        <p:nvSpPr>
          <p:cNvPr id="4" name="TextBox 3">
            <a:extLst>
              <a:ext uri="{FF2B5EF4-FFF2-40B4-BE49-F238E27FC236}">
                <a16:creationId xmlns:a16="http://schemas.microsoft.com/office/drawing/2014/main" id="{B3CA0EAF-B1E2-BAF8-8FB7-8B2C4A9AAB8F}"/>
              </a:ext>
            </a:extLst>
          </p:cNvPr>
          <p:cNvSpPr txBox="1"/>
          <p:nvPr/>
        </p:nvSpPr>
        <p:spPr>
          <a:xfrm>
            <a:off x="1102658" y="2218442"/>
            <a:ext cx="2973533" cy="1477328"/>
          </a:xfrm>
          <a:prstGeom prst="rect">
            <a:avLst/>
          </a:prstGeom>
          <a:noFill/>
        </p:spPr>
        <p:txBody>
          <a:bodyPr wrap="square">
            <a:spAutoFit/>
          </a:bodyPr>
          <a:lstStyle/>
          <a:p>
            <a:pPr lvl="0"/>
            <a:r>
              <a:rPr lang="en-US" dirty="0"/>
              <a:t>This type of question helps prioritize ecological hypotheses, but importance does not </a:t>
            </a:r>
            <a:r>
              <a:rPr lang="en-US" strike="sngStrike" dirty="0"/>
              <a:t>prove</a:t>
            </a:r>
            <a:r>
              <a:rPr lang="en-US" dirty="0"/>
              <a:t> show causation.</a:t>
            </a:r>
          </a:p>
        </p:txBody>
      </p:sp>
    </p:spTree>
    <p:extLst>
      <p:ext uri="{BB962C8B-B14F-4D97-AF65-F5344CB8AC3E}">
        <p14:creationId xmlns:p14="http://schemas.microsoft.com/office/powerpoint/2010/main" val="4257848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19A4-FCA3-505B-9A22-8D03126CBD2E}"/>
              </a:ext>
            </a:extLst>
          </p:cNvPr>
          <p:cNvSpPr>
            <a:spLocks noGrp="1"/>
          </p:cNvSpPr>
          <p:nvPr>
            <p:ph type="title"/>
          </p:nvPr>
        </p:nvSpPr>
        <p:spPr>
          <a:xfrm>
            <a:off x="457200" y="832260"/>
            <a:ext cx="8229600" cy="857250"/>
          </a:xfrm>
        </p:spPr>
        <p:txBody>
          <a:bodyPr>
            <a:normAutofit fontScale="90000"/>
          </a:bodyPr>
          <a:lstStyle/>
          <a:p>
            <a:pPr lvl="0"/>
            <a:r>
              <a:rPr lang="en-US" dirty="0"/>
              <a:t>What is the shape of the association with temperature, precipitation, elevation, or other predictors?</a:t>
            </a:r>
          </a:p>
        </p:txBody>
      </p:sp>
      <p:pic>
        <p:nvPicPr>
          <p:cNvPr id="5" name="Picture 4">
            <a:extLst>
              <a:ext uri="{FF2B5EF4-FFF2-40B4-BE49-F238E27FC236}">
                <a16:creationId xmlns:a16="http://schemas.microsoft.com/office/drawing/2014/main" id="{31C92449-B650-2683-A183-3A8A893AD242}"/>
              </a:ext>
            </a:extLst>
          </p:cNvPr>
          <p:cNvPicPr>
            <a:picLocks noChangeAspect="1"/>
          </p:cNvPicPr>
          <p:nvPr/>
        </p:nvPicPr>
        <p:blipFill>
          <a:blip r:embed="rId2"/>
          <a:stretch>
            <a:fillRect/>
          </a:stretch>
        </p:blipFill>
        <p:spPr>
          <a:xfrm>
            <a:off x="5002306" y="1784893"/>
            <a:ext cx="2793015" cy="2793015"/>
          </a:xfrm>
          <a:prstGeom prst="rect">
            <a:avLst/>
          </a:prstGeom>
        </p:spPr>
      </p:pic>
      <p:sp>
        <p:nvSpPr>
          <p:cNvPr id="4" name="TextBox 3">
            <a:extLst>
              <a:ext uri="{FF2B5EF4-FFF2-40B4-BE49-F238E27FC236}">
                <a16:creationId xmlns:a16="http://schemas.microsoft.com/office/drawing/2014/main" id="{8E94C2EB-A470-47A4-73CF-05CD9007EF20}"/>
              </a:ext>
            </a:extLst>
          </p:cNvPr>
          <p:cNvSpPr txBox="1"/>
          <p:nvPr/>
        </p:nvSpPr>
        <p:spPr>
          <a:xfrm>
            <a:off x="941295" y="2530661"/>
            <a:ext cx="3079376" cy="923330"/>
          </a:xfrm>
          <a:prstGeom prst="rect">
            <a:avLst/>
          </a:prstGeom>
          <a:noFill/>
        </p:spPr>
        <p:txBody>
          <a:bodyPr wrap="square">
            <a:spAutoFit/>
          </a:bodyPr>
          <a:lstStyle/>
          <a:p>
            <a:pPr lvl="0"/>
            <a:r>
              <a:rPr lang="en-US" dirty="0"/>
              <a:t>This type of question can reveal an optimum, threshold, or limiting condition.</a:t>
            </a:r>
          </a:p>
        </p:txBody>
      </p:sp>
    </p:spTree>
    <p:extLst>
      <p:ext uri="{BB962C8B-B14F-4D97-AF65-F5344CB8AC3E}">
        <p14:creationId xmlns:p14="http://schemas.microsoft.com/office/powerpoint/2010/main" val="2750069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EF57-F223-2C4E-39AD-B9500B47080C}"/>
              </a:ext>
            </a:extLst>
          </p:cNvPr>
          <p:cNvSpPr>
            <a:spLocks noGrp="1"/>
          </p:cNvSpPr>
          <p:nvPr>
            <p:ph type="title"/>
          </p:nvPr>
        </p:nvSpPr>
        <p:spPr>
          <a:xfrm>
            <a:off x="457199" y="887678"/>
            <a:ext cx="8229600" cy="857250"/>
          </a:xfrm>
        </p:spPr>
        <p:txBody>
          <a:bodyPr>
            <a:normAutofit fontScale="90000"/>
          </a:bodyPr>
          <a:lstStyle/>
          <a:p>
            <a:r>
              <a:rPr lang="en-US" dirty="0"/>
              <a:t>Does a model calibrated in one region or period transfer well to another?</a:t>
            </a:r>
          </a:p>
        </p:txBody>
      </p:sp>
      <p:pic>
        <p:nvPicPr>
          <p:cNvPr id="4" name="Picture 3">
            <a:extLst>
              <a:ext uri="{FF2B5EF4-FFF2-40B4-BE49-F238E27FC236}">
                <a16:creationId xmlns:a16="http://schemas.microsoft.com/office/drawing/2014/main" id="{2316C3E8-89FF-6005-7B8A-2613128FA91B}"/>
              </a:ext>
            </a:extLst>
          </p:cNvPr>
          <p:cNvPicPr>
            <a:picLocks noChangeAspect="1"/>
          </p:cNvPicPr>
          <p:nvPr/>
        </p:nvPicPr>
        <p:blipFill>
          <a:blip r:embed="rId2"/>
          <a:stretch>
            <a:fillRect/>
          </a:stretch>
        </p:blipFill>
        <p:spPr>
          <a:xfrm>
            <a:off x="5070508" y="1598691"/>
            <a:ext cx="3361459" cy="3361459"/>
          </a:xfrm>
          <a:prstGeom prst="rect">
            <a:avLst/>
          </a:prstGeom>
        </p:spPr>
      </p:pic>
      <p:sp>
        <p:nvSpPr>
          <p:cNvPr id="5" name="TextBox 4">
            <a:extLst>
              <a:ext uri="{FF2B5EF4-FFF2-40B4-BE49-F238E27FC236}">
                <a16:creationId xmlns:a16="http://schemas.microsoft.com/office/drawing/2014/main" id="{6C5D02BC-D6FE-A260-2B84-02291DB6735F}"/>
              </a:ext>
            </a:extLst>
          </p:cNvPr>
          <p:cNvSpPr txBox="1"/>
          <p:nvPr/>
        </p:nvSpPr>
        <p:spPr>
          <a:xfrm>
            <a:off x="913739" y="2408007"/>
            <a:ext cx="3361459" cy="1477328"/>
          </a:xfrm>
          <a:prstGeom prst="rect">
            <a:avLst/>
          </a:prstGeom>
          <a:noFill/>
        </p:spPr>
        <p:txBody>
          <a:bodyPr wrap="square">
            <a:spAutoFit/>
          </a:bodyPr>
          <a:lstStyle/>
          <a:p>
            <a:pPr lvl="0"/>
            <a:r>
              <a:rPr lang="en-US" dirty="0"/>
              <a:t>This type of question is relevant when transferring from native to invaded ranges or from one region to another or from one time period to another.</a:t>
            </a:r>
          </a:p>
        </p:txBody>
      </p:sp>
    </p:spTree>
    <p:extLst>
      <p:ext uri="{BB962C8B-B14F-4D97-AF65-F5344CB8AC3E}">
        <p14:creationId xmlns:p14="http://schemas.microsoft.com/office/powerpoint/2010/main" val="2512394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1F4DB-B502-937E-CBB7-DC2640186C92}"/>
              </a:ext>
            </a:extLst>
          </p:cNvPr>
          <p:cNvSpPr>
            <a:spLocks noGrp="1"/>
          </p:cNvSpPr>
          <p:nvPr>
            <p:ph type="title"/>
          </p:nvPr>
        </p:nvSpPr>
        <p:spPr>
          <a:xfrm>
            <a:off x="457200" y="741766"/>
            <a:ext cx="8229600" cy="857250"/>
          </a:xfrm>
        </p:spPr>
        <p:txBody>
          <a:bodyPr>
            <a:normAutofit fontScale="90000"/>
          </a:bodyPr>
          <a:lstStyle/>
          <a:p>
            <a:r>
              <a:rPr lang="en-US" dirty="0"/>
              <a:t>How might relative suitability shift under a future or past climate scenario?</a:t>
            </a:r>
          </a:p>
        </p:txBody>
      </p:sp>
      <p:pic>
        <p:nvPicPr>
          <p:cNvPr id="4" name="Picture 3">
            <a:extLst>
              <a:ext uri="{FF2B5EF4-FFF2-40B4-BE49-F238E27FC236}">
                <a16:creationId xmlns:a16="http://schemas.microsoft.com/office/drawing/2014/main" id="{98508A7C-B56F-FC33-3A8F-855FDFC940F6}"/>
              </a:ext>
            </a:extLst>
          </p:cNvPr>
          <p:cNvPicPr>
            <a:picLocks noChangeAspect="1"/>
          </p:cNvPicPr>
          <p:nvPr/>
        </p:nvPicPr>
        <p:blipFill>
          <a:blip r:embed="rId2"/>
          <a:stretch>
            <a:fillRect/>
          </a:stretch>
        </p:blipFill>
        <p:spPr>
          <a:xfrm>
            <a:off x="4900842" y="1170391"/>
            <a:ext cx="3583132" cy="3583132"/>
          </a:xfrm>
          <a:prstGeom prst="rect">
            <a:avLst/>
          </a:prstGeom>
        </p:spPr>
      </p:pic>
      <p:sp>
        <p:nvSpPr>
          <p:cNvPr id="5" name="TextBox 4">
            <a:extLst>
              <a:ext uri="{FF2B5EF4-FFF2-40B4-BE49-F238E27FC236}">
                <a16:creationId xmlns:a16="http://schemas.microsoft.com/office/drawing/2014/main" id="{7FBFBFD1-6642-8253-D228-4DFBCCFD1D99}"/>
              </a:ext>
            </a:extLst>
          </p:cNvPr>
          <p:cNvSpPr txBox="1"/>
          <p:nvPr/>
        </p:nvSpPr>
        <p:spPr>
          <a:xfrm>
            <a:off x="660026" y="2571750"/>
            <a:ext cx="3911974" cy="923330"/>
          </a:xfrm>
          <a:prstGeom prst="rect">
            <a:avLst/>
          </a:prstGeom>
          <a:noFill/>
        </p:spPr>
        <p:txBody>
          <a:bodyPr wrap="square">
            <a:spAutoFit/>
          </a:bodyPr>
          <a:lstStyle/>
          <a:p>
            <a:pPr lvl="0"/>
            <a:r>
              <a:rPr lang="en-US" dirty="0"/>
              <a:t>This type of question is useful for identifying potential refugia or climate exposure, but not future occupancy.</a:t>
            </a:r>
          </a:p>
        </p:txBody>
      </p:sp>
    </p:spTree>
    <p:extLst>
      <p:ext uri="{BB962C8B-B14F-4D97-AF65-F5344CB8AC3E}">
        <p14:creationId xmlns:p14="http://schemas.microsoft.com/office/powerpoint/2010/main" val="96648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8632-C8C3-FA0D-0905-E0DA9754E632}"/>
              </a:ext>
            </a:extLst>
          </p:cNvPr>
          <p:cNvSpPr>
            <a:spLocks noGrp="1"/>
          </p:cNvSpPr>
          <p:nvPr>
            <p:ph type="title"/>
          </p:nvPr>
        </p:nvSpPr>
        <p:spPr/>
        <p:txBody>
          <a:bodyPr>
            <a:normAutofit fontScale="90000"/>
          </a:bodyPr>
          <a:lstStyle/>
          <a:p>
            <a:r>
              <a:rPr lang="en-US" dirty="0"/>
              <a:t>Are conclusions consistent across algorithms, predictor sets, background samples, or occurrence-filtering decisions?</a:t>
            </a:r>
          </a:p>
        </p:txBody>
      </p:sp>
      <p:pic>
        <p:nvPicPr>
          <p:cNvPr id="4" name="Picture 3">
            <a:extLst>
              <a:ext uri="{FF2B5EF4-FFF2-40B4-BE49-F238E27FC236}">
                <a16:creationId xmlns:a16="http://schemas.microsoft.com/office/drawing/2014/main" id="{B3DCE562-DAA3-83BC-1591-3F78B33116B6}"/>
              </a:ext>
            </a:extLst>
          </p:cNvPr>
          <p:cNvPicPr>
            <a:picLocks noChangeAspect="1"/>
          </p:cNvPicPr>
          <p:nvPr/>
        </p:nvPicPr>
        <p:blipFill>
          <a:blip r:embed="rId2"/>
          <a:stretch>
            <a:fillRect/>
          </a:stretch>
        </p:blipFill>
        <p:spPr>
          <a:xfrm>
            <a:off x="4926817" y="1536868"/>
            <a:ext cx="3134591" cy="3134591"/>
          </a:xfrm>
          <a:prstGeom prst="rect">
            <a:avLst/>
          </a:prstGeom>
        </p:spPr>
      </p:pic>
      <p:sp>
        <p:nvSpPr>
          <p:cNvPr id="5" name="TextBox 4">
            <a:extLst>
              <a:ext uri="{FF2B5EF4-FFF2-40B4-BE49-F238E27FC236}">
                <a16:creationId xmlns:a16="http://schemas.microsoft.com/office/drawing/2014/main" id="{B89CEF42-CA77-5A74-8065-6818B39235A5}"/>
              </a:ext>
            </a:extLst>
          </p:cNvPr>
          <p:cNvSpPr txBox="1"/>
          <p:nvPr/>
        </p:nvSpPr>
        <p:spPr>
          <a:xfrm>
            <a:off x="709633" y="2480982"/>
            <a:ext cx="3862367" cy="1200329"/>
          </a:xfrm>
          <a:prstGeom prst="rect">
            <a:avLst/>
          </a:prstGeom>
          <a:noFill/>
        </p:spPr>
        <p:txBody>
          <a:bodyPr wrap="square">
            <a:spAutoFit/>
          </a:bodyPr>
          <a:lstStyle/>
          <a:p>
            <a:pPr lvl="0"/>
            <a:r>
              <a:rPr lang="en-US" dirty="0"/>
              <a:t>This type of question makes any interpretation/conclusion stronger when it persists across M, predictors, and algorithms.</a:t>
            </a:r>
          </a:p>
        </p:txBody>
      </p:sp>
    </p:spTree>
    <p:extLst>
      <p:ext uri="{BB962C8B-B14F-4D97-AF65-F5344CB8AC3E}">
        <p14:creationId xmlns:p14="http://schemas.microsoft.com/office/powerpoint/2010/main" val="559133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3417-37F0-4569-32D8-485F39F5AD7F}"/>
              </a:ext>
            </a:extLst>
          </p:cNvPr>
          <p:cNvSpPr>
            <a:spLocks noGrp="1"/>
          </p:cNvSpPr>
          <p:nvPr>
            <p:ph type="title"/>
          </p:nvPr>
        </p:nvSpPr>
        <p:spPr/>
        <p:txBody>
          <a:bodyPr>
            <a:normAutofit/>
          </a:bodyPr>
          <a:lstStyle/>
          <a:p>
            <a:r>
              <a:rPr lang="en-US" sz="3400" dirty="0"/>
              <a:t>Connection to model fitting</a:t>
            </a:r>
          </a:p>
        </p:txBody>
      </p:sp>
      <p:sp>
        <p:nvSpPr>
          <p:cNvPr id="3" name="Content Placeholder 2">
            <a:extLst>
              <a:ext uri="{FF2B5EF4-FFF2-40B4-BE49-F238E27FC236}">
                <a16:creationId xmlns:a16="http://schemas.microsoft.com/office/drawing/2014/main" id="{458EDE36-09E8-EC13-6516-79B90A7190FD}"/>
              </a:ext>
            </a:extLst>
          </p:cNvPr>
          <p:cNvSpPr>
            <a:spLocks noGrp="1"/>
          </p:cNvSpPr>
          <p:nvPr>
            <p:ph idx="1"/>
          </p:nvPr>
        </p:nvSpPr>
        <p:spPr/>
        <p:txBody>
          <a:bodyPr>
            <a:normAutofit fontScale="85000" lnSpcReduction="20000"/>
          </a:bodyPr>
          <a:lstStyle/>
          <a:p>
            <a:r>
              <a:rPr lang="en-US" dirty="0"/>
              <a:t>A presence-background model compares:</a:t>
            </a:r>
          </a:p>
          <a:p>
            <a:pPr lvl="1"/>
            <a:r>
              <a:rPr lang="en-US" dirty="0"/>
              <a:t>Environments at occurrences</a:t>
            </a:r>
          </a:p>
          <a:p>
            <a:pPr lvl="1"/>
            <a:r>
              <a:rPr lang="en-US" dirty="0"/>
              <a:t>Environments sampled from the calibration region</a:t>
            </a:r>
          </a:p>
          <a:p>
            <a:pPr lvl="1"/>
            <a:endParaRPr lang="en-US" dirty="0"/>
          </a:p>
          <a:p>
            <a:r>
              <a:rPr lang="en-US" dirty="0"/>
              <a:t>The model estimates </a:t>
            </a:r>
            <a:r>
              <a:rPr lang="en-US" dirty="0">
                <a:solidFill>
                  <a:schemeClr val="accent2">
                    <a:lumMod val="50000"/>
                  </a:schemeClr>
                </a:solidFill>
                <a:highlight>
                  <a:srgbClr val="FFFF00"/>
                </a:highlight>
              </a:rPr>
              <a:t>relative environmental suitability </a:t>
            </a:r>
            <a:r>
              <a:rPr lang="en-US" dirty="0"/>
              <a:t>or discrimination within the specified sampling design. Keep in mind it does not estimate:</a:t>
            </a:r>
          </a:p>
          <a:p>
            <a:pPr lvl="1"/>
            <a:r>
              <a:rPr lang="en-US" dirty="0"/>
              <a:t>Occupancy probability</a:t>
            </a:r>
          </a:p>
          <a:p>
            <a:pPr lvl="1"/>
            <a:r>
              <a:rPr lang="en-US" dirty="0"/>
              <a:t>Detection probability</a:t>
            </a:r>
          </a:p>
          <a:p>
            <a:pPr lvl="1"/>
            <a:r>
              <a:rPr lang="en-US" dirty="0"/>
              <a:t>Abundance</a:t>
            </a:r>
          </a:p>
          <a:p>
            <a:pPr lvl="1"/>
            <a:r>
              <a:rPr lang="en-US" dirty="0"/>
              <a:t>Causal effects of environmental variables</a:t>
            </a:r>
          </a:p>
          <a:p>
            <a:pPr lvl="1"/>
            <a:endParaRPr lang="en-US" dirty="0"/>
          </a:p>
          <a:p>
            <a:r>
              <a:rPr lang="en-US" dirty="0"/>
              <a:t>Changing M changes the comparison used to fit the model. Later, we can fit the same model under several M assumptions and compare the interpretations.</a:t>
            </a:r>
          </a:p>
          <a:p>
            <a:endParaRPr lang="en-US" dirty="0"/>
          </a:p>
        </p:txBody>
      </p:sp>
    </p:spTree>
    <p:extLst>
      <p:ext uri="{BB962C8B-B14F-4D97-AF65-F5344CB8AC3E}">
        <p14:creationId xmlns:p14="http://schemas.microsoft.com/office/powerpoint/2010/main" val="248412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A3BF8-1077-781A-4EF9-9D6BDE937882}"/>
              </a:ext>
            </a:extLst>
          </p:cNvPr>
          <p:cNvSpPr>
            <a:spLocks noGrp="1"/>
          </p:cNvSpPr>
          <p:nvPr>
            <p:ph type="title"/>
          </p:nvPr>
        </p:nvSpPr>
        <p:spPr>
          <a:xfrm>
            <a:off x="2133600" y="2062716"/>
            <a:ext cx="4876800" cy="857250"/>
          </a:xfrm>
        </p:spPr>
        <p:txBody>
          <a:bodyPr>
            <a:normAutofit/>
          </a:bodyPr>
          <a:lstStyle/>
          <a:p>
            <a:pPr algn="ctr"/>
            <a:r>
              <a:rPr lang="en-US" sz="3400" dirty="0"/>
              <a:t>Peterson et al. Chapter 6</a:t>
            </a:r>
          </a:p>
        </p:txBody>
      </p:sp>
    </p:spTree>
    <p:extLst>
      <p:ext uri="{BB962C8B-B14F-4D97-AF65-F5344CB8AC3E}">
        <p14:creationId xmlns:p14="http://schemas.microsoft.com/office/powerpoint/2010/main" val="3775311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9801-B88E-450C-84BC-8CAAFA6255E0}"/>
              </a:ext>
            </a:extLst>
          </p:cNvPr>
          <p:cNvSpPr>
            <a:spLocks noGrp="1"/>
          </p:cNvSpPr>
          <p:nvPr>
            <p:ph type="title"/>
          </p:nvPr>
        </p:nvSpPr>
        <p:spPr/>
        <p:txBody>
          <a:bodyPr>
            <a:normAutofit/>
          </a:bodyPr>
          <a:lstStyle/>
          <a:p>
            <a:r>
              <a:rPr lang="en-US" sz="3400" dirty="0"/>
              <a:t>Environmental Data</a:t>
            </a:r>
          </a:p>
        </p:txBody>
      </p:sp>
      <p:sp>
        <p:nvSpPr>
          <p:cNvPr id="3" name="Content Placeholder 2">
            <a:extLst>
              <a:ext uri="{FF2B5EF4-FFF2-40B4-BE49-F238E27FC236}">
                <a16:creationId xmlns:a16="http://schemas.microsoft.com/office/drawing/2014/main" id="{FCDDCC03-2B04-F6B5-920A-2EFEACB362FE}"/>
              </a:ext>
            </a:extLst>
          </p:cNvPr>
          <p:cNvSpPr>
            <a:spLocks noGrp="1"/>
          </p:cNvSpPr>
          <p:nvPr>
            <p:ph idx="1"/>
          </p:nvPr>
        </p:nvSpPr>
        <p:spPr>
          <a:xfrm>
            <a:off x="457200" y="1329292"/>
            <a:ext cx="3048000" cy="3265331"/>
          </a:xfrm>
        </p:spPr>
        <p:txBody>
          <a:bodyPr>
            <a:normAutofit lnSpcReduction="10000"/>
          </a:bodyPr>
          <a:lstStyle/>
          <a:p>
            <a:pPr lvl="0"/>
            <a:r>
              <a:rPr lang="en-US" dirty="0"/>
              <a:t>Environmental predictors define the dimensions of environmental space</a:t>
            </a:r>
          </a:p>
          <a:p>
            <a:pPr lvl="0"/>
            <a:endParaRPr lang="en-US" dirty="0"/>
          </a:p>
          <a:p>
            <a:pPr lvl="0"/>
            <a:r>
              <a:rPr lang="en-US" dirty="0"/>
              <a:t>Predictor choice determines what the model can fit/learn and how its output can be interpreted</a:t>
            </a:r>
          </a:p>
        </p:txBody>
      </p:sp>
      <p:pic>
        <p:nvPicPr>
          <p:cNvPr id="4" name="Picture 3" descr="Schematic overview of the process of ecological niche modeling. The environmental conditions where species occur are extracted from GIS environmental data sets using the geographic coordinates of species occurrences. Based on the information about the species' environmental preferences, a model is then optimized. The model and the environmental maps can subsequently be used to predict the habitat suitability of every location on the map. Inspired by a figure from Elith and Leathwick (2009).">
            <a:extLst>
              <a:ext uri="{FF2B5EF4-FFF2-40B4-BE49-F238E27FC236}">
                <a16:creationId xmlns:a16="http://schemas.microsoft.com/office/drawing/2014/main" id="{F68452ED-19A9-337B-920A-4DD1848610AB}"/>
              </a:ext>
            </a:extLst>
          </p:cNvPr>
          <p:cNvPicPr>
            <a:picLocks noChangeAspect="1"/>
          </p:cNvPicPr>
          <p:nvPr/>
        </p:nvPicPr>
        <p:blipFill>
          <a:blip r:embed="rId2"/>
          <a:stretch>
            <a:fillRect/>
          </a:stretch>
        </p:blipFill>
        <p:spPr>
          <a:xfrm>
            <a:off x="3712728" y="1268568"/>
            <a:ext cx="4974071" cy="3265331"/>
          </a:xfrm>
          <a:prstGeom prst="rect">
            <a:avLst/>
          </a:prstGeom>
        </p:spPr>
      </p:pic>
      <p:sp>
        <p:nvSpPr>
          <p:cNvPr id="6" name="TextBox 5">
            <a:extLst>
              <a:ext uri="{FF2B5EF4-FFF2-40B4-BE49-F238E27FC236}">
                <a16:creationId xmlns:a16="http://schemas.microsoft.com/office/drawing/2014/main" id="{BE079A57-7DAD-BA50-3388-8B9C62D5601C}"/>
              </a:ext>
            </a:extLst>
          </p:cNvPr>
          <p:cNvSpPr txBox="1"/>
          <p:nvPr/>
        </p:nvSpPr>
        <p:spPr>
          <a:xfrm>
            <a:off x="4705350" y="4566654"/>
            <a:ext cx="3495675" cy="400110"/>
          </a:xfrm>
          <a:prstGeom prst="rect">
            <a:avLst/>
          </a:prstGeom>
          <a:noFill/>
        </p:spPr>
        <p:txBody>
          <a:bodyPr wrap="square">
            <a:spAutoFit/>
          </a:bodyPr>
          <a:lstStyle/>
          <a:p>
            <a:r>
              <a:rPr lang="en-US" sz="1000" dirty="0"/>
              <a:t>Marcelino, V.R. and Verbruggen, H. (2015), Ecological niche models of invasive seaweeds. J. </a:t>
            </a:r>
            <a:r>
              <a:rPr lang="en-US" sz="1000" dirty="0" err="1"/>
              <a:t>Phycol</a:t>
            </a:r>
            <a:r>
              <a:rPr lang="en-US" sz="1000" dirty="0"/>
              <a:t>., 51: 606-620. </a:t>
            </a:r>
          </a:p>
        </p:txBody>
      </p:sp>
    </p:spTree>
    <p:extLst>
      <p:ext uri="{BB962C8B-B14F-4D97-AF65-F5344CB8AC3E}">
        <p14:creationId xmlns:p14="http://schemas.microsoft.com/office/powerpoint/2010/main" val="1181752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ED94F-AC3C-8DD5-3999-425BB4B0E06C}"/>
              </a:ext>
            </a:extLst>
          </p:cNvPr>
          <p:cNvSpPr>
            <a:spLocks noGrp="1"/>
          </p:cNvSpPr>
          <p:nvPr>
            <p:ph type="title"/>
          </p:nvPr>
        </p:nvSpPr>
        <p:spPr/>
        <p:txBody>
          <a:bodyPr>
            <a:normAutofit/>
          </a:bodyPr>
          <a:lstStyle/>
          <a:p>
            <a:r>
              <a:rPr lang="en-US" sz="3200" dirty="0"/>
              <a:t>The two main inputs to niche models</a:t>
            </a:r>
          </a:p>
        </p:txBody>
      </p:sp>
      <p:sp>
        <p:nvSpPr>
          <p:cNvPr id="3" name="Content Placeholder 2">
            <a:extLst>
              <a:ext uri="{FF2B5EF4-FFF2-40B4-BE49-F238E27FC236}">
                <a16:creationId xmlns:a16="http://schemas.microsoft.com/office/drawing/2014/main" id="{F4ECC7AC-54B6-AEEB-B902-D6BEF2791E63}"/>
              </a:ext>
            </a:extLst>
          </p:cNvPr>
          <p:cNvSpPr>
            <a:spLocks noGrp="1"/>
          </p:cNvSpPr>
          <p:nvPr>
            <p:ph idx="1"/>
          </p:nvPr>
        </p:nvSpPr>
        <p:spPr>
          <a:xfrm>
            <a:off x="457200" y="1329292"/>
            <a:ext cx="3086100" cy="3265331"/>
          </a:xfrm>
        </p:spPr>
        <p:txBody>
          <a:bodyPr>
            <a:normAutofit lnSpcReduction="10000"/>
          </a:bodyPr>
          <a:lstStyle/>
          <a:p>
            <a:pPr lvl="0"/>
            <a:r>
              <a:rPr lang="en-US" dirty="0"/>
              <a:t>Species occurrence locations</a:t>
            </a:r>
          </a:p>
          <a:p>
            <a:pPr lvl="0"/>
            <a:r>
              <a:rPr lang="en-US" dirty="0"/>
              <a:t>Environmental raster layers</a:t>
            </a:r>
          </a:p>
          <a:p>
            <a:pPr marL="0" lvl="0" indent="0">
              <a:buNone/>
            </a:pPr>
            <a:endParaRPr lang="en-US" dirty="0"/>
          </a:p>
          <a:p>
            <a:pPr marL="0" lvl="0" indent="0">
              <a:buNone/>
            </a:pPr>
            <a:r>
              <a:rPr lang="en-US" dirty="0"/>
              <a:t>The model compares environments associated with occurrences to environments available within the study region</a:t>
            </a:r>
          </a:p>
        </p:txBody>
      </p:sp>
      <p:pic>
        <p:nvPicPr>
          <p:cNvPr id="4" name="Picture 3" descr="Schematic overview of the process of ecological niche modeling. The environmental conditions where species occur are extracted from GIS environmental data sets using the geographic coordinates of species occurrences. Based on the information about the species' environmental preferences, a model is then optimized. The model and the environmental maps can subsequently be used to predict the habitat suitability of every location on the map. Inspired by a figure from Elith and Leathwick (2009).">
            <a:extLst>
              <a:ext uri="{FF2B5EF4-FFF2-40B4-BE49-F238E27FC236}">
                <a16:creationId xmlns:a16="http://schemas.microsoft.com/office/drawing/2014/main" id="{517C2E46-52CC-563F-33C4-C3ED0512D982}"/>
              </a:ext>
            </a:extLst>
          </p:cNvPr>
          <p:cNvPicPr>
            <a:picLocks noChangeAspect="1"/>
          </p:cNvPicPr>
          <p:nvPr/>
        </p:nvPicPr>
        <p:blipFill>
          <a:blip r:embed="rId2"/>
          <a:stretch>
            <a:fillRect/>
          </a:stretch>
        </p:blipFill>
        <p:spPr>
          <a:xfrm>
            <a:off x="3712728" y="1268568"/>
            <a:ext cx="4974071" cy="3265331"/>
          </a:xfrm>
          <a:prstGeom prst="rect">
            <a:avLst/>
          </a:prstGeom>
        </p:spPr>
      </p:pic>
      <p:sp>
        <p:nvSpPr>
          <p:cNvPr id="5" name="TextBox 4">
            <a:extLst>
              <a:ext uri="{FF2B5EF4-FFF2-40B4-BE49-F238E27FC236}">
                <a16:creationId xmlns:a16="http://schemas.microsoft.com/office/drawing/2014/main" id="{FB8C905B-D4AE-8625-1EAA-A25EC688C2C9}"/>
              </a:ext>
            </a:extLst>
          </p:cNvPr>
          <p:cNvSpPr txBox="1"/>
          <p:nvPr/>
        </p:nvSpPr>
        <p:spPr>
          <a:xfrm>
            <a:off x="4705350" y="4566654"/>
            <a:ext cx="3495675" cy="400110"/>
          </a:xfrm>
          <a:prstGeom prst="rect">
            <a:avLst/>
          </a:prstGeom>
          <a:noFill/>
        </p:spPr>
        <p:txBody>
          <a:bodyPr wrap="square">
            <a:spAutoFit/>
          </a:bodyPr>
          <a:lstStyle/>
          <a:p>
            <a:r>
              <a:rPr lang="en-US" sz="1000" dirty="0"/>
              <a:t>Marcelino, V.R. and Verbruggen, H. (2015), Ecological niche models of invasive seaweeds. J. </a:t>
            </a:r>
            <a:r>
              <a:rPr lang="en-US" sz="1000" dirty="0" err="1"/>
              <a:t>Phycol</a:t>
            </a:r>
            <a:r>
              <a:rPr lang="en-US" sz="1000" dirty="0"/>
              <a:t>., 51: 606-620. </a:t>
            </a:r>
          </a:p>
        </p:txBody>
      </p:sp>
    </p:spTree>
    <p:extLst>
      <p:ext uri="{BB962C8B-B14F-4D97-AF65-F5344CB8AC3E}">
        <p14:creationId xmlns:p14="http://schemas.microsoft.com/office/powerpoint/2010/main" val="1793306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D476D-1FB8-D24D-D39D-EA38452DEAD0}"/>
              </a:ext>
            </a:extLst>
          </p:cNvPr>
          <p:cNvSpPr>
            <a:spLocks noGrp="1"/>
          </p:cNvSpPr>
          <p:nvPr>
            <p:ph type="title"/>
          </p:nvPr>
        </p:nvSpPr>
        <p:spPr>
          <a:xfrm>
            <a:off x="479161" y="479394"/>
            <a:ext cx="3017074" cy="2680137"/>
          </a:xfrm>
        </p:spPr>
        <p:txBody>
          <a:bodyPr vert="horz" lIns="91440" tIns="45720" rIns="91440" bIns="45720" rtlCol="0" anchor="b">
            <a:normAutofit/>
          </a:bodyPr>
          <a:lstStyle/>
          <a:p>
            <a:pPr defTabSz="914400">
              <a:lnSpc>
                <a:spcPct val="90000"/>
              </a:lnSpc>
            </a:pPr>
            <a:r>
              <a:rPr lang="en-US" sz="3400" kern="1200" dirty="0">
                <a:solidFill>
                  <a:schemeClr val="accent2">
                    <a:lumMod val="75000"/>
                  </a:schemeClr>
                </a:solidFill>
                <a:latin typeface="+mj-lt"/>
                <a:ea typeface="+mj-ea"/>
                <a:cs typeface="+mj-cs"/>
              </a:rPr>
              <a:t>Environmental raster layers</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3306950"/>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Raster processing using Python Tools: Introduction to Raster Data">
            <a:extLst>
              <a:ext uri="{FF2B5EF4-FFF2-40B4-BE49-F238E27FC236}">
                <a16:creationId xmlns:a16="http://schemas.microsoft.com/office/drawing/2014/main" id="{D4031507-682C-AC65-2C09-945302E32793}"/>
              </a:ext>
            </a:extLst>
          </p:cNvPr>
          <p:cNvPicPr>
            <a:picLocks noChangeAspect="1"/>
          </p:cNvPicPr>
          <p:nvPr/>
        </p:nvPicPr>
        <p:blipFill>
          <a:blip r:embed="rId2"/>
          <a:srcRect b="8140"/>
          <a:stretch>
            <a:fillRect/>
          </a:stretch>
        </p:blipFill>
        <p:spPr>
          <a:xfrm>
            <a:off x="3660534" y="240030"/>
            <a:ext cx="5001008" cy="4663440"/>
          </a:xfrm>
          <a:prstGeom prst="rect">
            <a:avLst/>
          </a:prstGeom>
        </p:spPr>
      </p:pic>
    </p:spTree>
    <p:extLst>
      <p:ext uri="{BB962C8B-B14F-4D97-AF65-F5344CB8AC3E}">
        <p14:creationId xmlns:p14="http://schemas.microsoft.com/office/powerpoint/2010/main" val="3696607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ED9E-68AE-C498-9ED5-282140BA54F3}"/>
              </a:ext>
            </a:extLst>
          </p:cNvPr>
          <p:cNvSpPr>
            <a:spLocks noGrp="1"/>
          </p:cNvSpPr>
          <p:nvPr>
            <p:ph type="title"/>
          </p:nvPr>
        </p:nvSpPr>
        <p:spPr>
          <a:xfrm>
            <a:off x="457200" y="942686"/>
            <a:ext cx="4502727" cy="857250"/>
          </a:xfrm>
        </p:spPr>
        <p:txBody>
          <a:bodyPr>
            <a:noAutofit/>
          </a:bodyPr>
          <a:lstStyle/>
          <a:p>
            <a:r>
              <a:rPr lang="en-US" sz="3400" dirty="0"/>
              <a:t>Species–environment relationships</a:t>
            </a:r>
          </a:p>
        </p:txBody>
      </p:sp>
      <p:sp>
        <p:nvSpPr>
          <p:cNvPr id="3" name="Content Placeholder 2">
            <a:extLst>
              <a:ext uri="{FF2B5EF4-FFF2-40B4-BE49-F238E27FC236}">
                <a16:creationId xmlns:a16="http://schemas.microsoft.com/office/drawing/2014/main" id="{B935D462-7107-ADE3-C60A-D5F5331D950B}"/>
              </a:ext>
            </a:extLst>
          </p:cNvPr>
          <p:cNvSpPr>
            <a:spLocks noGrp="1"/>
          </p:cNvSpPr>
          <p:nvPr>
            <p:ph idx="1"/>
          </p:nvPr>
        </p:nvSpPr>
        <p:spPr>
          <a:xfrm>
            <a:off x="457200" y="1980790"/>
            <a:ext cx="4502727" cy="3084478"/>
          </a:xfrm>
        </p:spPr>
        <p:txBody>
          <a:bodyPr/>
          <a:lstStyle/>
          <a:p>
            <a:pPr lvl="0"/>
            <a:r>
              <a:rPr lang="en-US" dirty="0"/>
              <a:t>Species respond to different combinations of environmental conditions</a:t>
            </a:r>
          </a:p>
          <a:p>
            <a:pPr lvl="0"/>
            <a:r>
              <a:rPr lang="en-US" dirty="0"/>
              <a:t>Relevant predictors differ among species and geographic contexts</a:t>
            </a:r>
          </a:p>
          <a:p>
            <a:pPr lvl="0"/>
            <a:r>
              <a:rPr lang="en-US" dirty="0"/>
              <a:t>A statistical association does not necessarily identify a causal mechanism</a:t>
            </a:r>
          </a:p>
        </p:txBody>
      </p:sp>
      <p:pic>
        <p:nvPicPr>
          <p:cNvPr id="4" name="Picture 3">
            <a:extLst>
              <a:ext uri="{FF2B5EF4-FFF2-40B4-BE49-F238E27FC236}">
                <a16:creationId xmlns:a16="http://schemas.microsoft.com/office/drawing/2014/main" id="{36343BA0-32F3-450B-6A87-B247BFB50ECB}"/>
              </a:ext>
            </a:extLst>
          </p:cNvPr>
          <p:cNvPicPr>
            <a:picLocks noChangeAspect="1"/>
          </p:cNvPicPr>
          <p:nvPr/>
        </p:nvPicPr>
        <p:blipFill>
          <a:blip r:embed="rId2"/>
          <a:stretch>
            <a:fillRect/>
          </a:stretch>
        </p:blipFill>
        <p:spPr>
          <a:xfrm>
            <a:off x="5252173" y="762000"/>
            <a:ext cx="3301966" cy="3925346"/>
          </a:xfrm>
          <a:prstGeom prst="rect">
            <a:avLst/>
          </a:prstGeom>
        </p:spPr>
      </p:pic>
      <p:sp>
        <p:nvSpPr>
          <p:cNvPr id="6" name="TextBox 5">
            <a:extLst>
              <a:ext uri="{FF2B5EF4-FFF2-40B4-BE49-F238E27FC236}">
                <a16:creationId xmlns:a16="http://schemas.microsoft.com/office/drawing/2014/main" id="{40F4E1BB-8912-5001-18D8-4329F7CE9E04}"/>
              </a:ext>
            </a:extLst>
          </p:cNvPr>
          <p:cNvSpPr txBox="1"/>
          <p:nvPr/>
        </p:nvSpPr>
        <p:spPr>
          <a:xfrm>
            <a:off x="5128347" y="4686240"/>
            <a:ext cx="3924300" cy="400110"/>
          </a:xfrm>
          <a:prstGeom prst="rect">
            <a:avLst/>
          </a:prstGeom>
          <a:noFill/>
        </p:spPr>
        <p:txBody>
          <a:bodyPr wrap="square">
            <a:spAutoFit/>
          </a:bodyPr>
          <a:lstStyle/>
          <a:p>
            <a:pPr marL="0" marR="0">
              <a:buNone/>
            </a:pPr>
            <a:r>
              <a:rPr lang="en-US" sz="1000" dirty="0">
                <a:effectLst/>
                <a:latin typeface="+mn-lt"/>
              </a:rPr>
              <a:t>Figure 6.1. Example summary of responses of a virtual species to eight environmental characteristics. Adapted from Austin et al. (2006).</a:t>
            </a:r>
            <a:endParaRPr lang="en-US" sz="1000" dirty="0">
              <a:effectLst/>
              <a:latin typeface="Helvetica" pitchFamily="2" charset="0"/>
            </a:endParaRPr>
          </a:p>
        </p:txBody>
      </p:sp>
    </p:spTree>
    <p:extLst>
      <p:ext uri="{BB962C8B-B14F-4D97-AF65-F5344CB8AC3E}">
        <p14:creationId xmlns:p14="http://schemas.microsoft.com/office/powerpoint/2010/main" val="2341232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88247-9B04-F072-6FFF-EE6C7A95178E}"/>
              </a:ext>
            </a:extLst>
          </p:cNvPr>
          <p:cNvSpPr>
            <a:spLocks noGrp="1"/>
          </p:cNvSpPr>
          <p:nvPr>
            <p:ph type="title"/>
          </p:nvPr>
        </p:nvSpPr>
        <p:spPr/>
        <p:txBody>
          <a:bodyPr>
            <a:normAutofit/>
          </a:bodyPr>
          <a:lstStyle/>
          <a:p>
            <a:r>
              <a:rPr lang="en-US" sz="3400" dirty="0"/>
              <a:t>Types of environmental predictors</a:t>
            </a:r>
          </a:p>
        </p:txBody>
      </p:sp>
      <p:sp>
        <p:nvSpPr>
          <p:cNvPr id="3" name="Content Placeholder 2">
            <a:extLst>
              <a:ext uri="{FF2B5EF4-FFF2-40B4-BE49-F238E27FC236}">
                <a16:creationId xmlns:a16="http://schemas.microsoft.com/office/drawing/2014/main" id="{8BF0F5D9-8804-001D-534F-80CD717A522F}"/>
              </a:ext>
            </a:extLst>
          </p:cNvPr>
          <p:cNvSpPr>
            <a:spLocks noGrp="1"/>
          </p:cNvSpPr>
          <p:nvPr>
            <p:ph idx="1"/>
          </p:nvPr>
        </p:nvSpPr>
        <p:spPr/>
        <p:txBody>
          <a:bodyPr/>
          <a:lstStyle/>
          <a:p>
            <a:pPr lvl="0"/>
            <a:r>
              <a:rPr lang="en-US" b="1" dirty="0"/>
              <a:t>Indirect:</a:t>
            </a:r>
            <a:r>
              <a:rPr lang="en-US" dirty="0"/>
              <a:t> correlated with causal conditions, such as elevation</a:t>
            </a:r>
          </a:p>
          <a:p>
            <a:pPr lvl="0"/>
            <a:r>
              <a:rPr lang="en-US" b="1" dirty="0"/>
              <a:t>Direct:</a:t>
            </a:r>
            <a:r>
              <a:rPr lang="en-US" dirty="0"/>
              <a:t> affects organisms physiologically, such as temperature</a:t>
            </a:r>
          </a:p>
          <a:p>
            <a:pPr lvl="0"/>
            <a:r>
              <a:rPr lang="en-US" b="1" dirty="0"/>
              <a:t>Resource:</a:t>
            </a:r>
            <a:r>
              <a:rPr lang="en-US" dirty="0"/>
              <a:t> consumed or modified by organisms, such as food or light</a:t>
            </a:r>
          </a:p>
        </p:txBody>
      </p:sp>
    </p:spTree>
    <p:extLst>
      <p:ext uri="{BB962C8B-B14F-4D97-AF65-F5344CB8AC3E}">
        <p14:creationId xmlns:p14="http://schemas.microsoft.com/office/powerpoint/2010/main" val="979219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A8007-F114-41D9-E1F0-17330543A23E}"/>
              </a:ext>
            </a:extLst>
          </p:cNvPr>
          <p:cNvSpPr>
            <a:spLocks noGrp="1"/>
          </p:cNvSpPr>
          <p:nvPr>
            <p:ph type="title"/>
          </p:nvPr>
        </p:nvSpPr>
        <p:spPr/>
        <p:txBody>
          <a:bodyPr>
            <a:normAutofit/>
          </a:bodyPr>
          <a:lstStyle/>
          <a:p>
            <a:r>
              <a:rPr lang="en-US" sz="3400" dirty="0"/>
              <a:t>Causal distance</a:t>
            </a:r>
          </a:p>
        </p:txBody>
      </p:sp>
      <p:sp>
        <p:nvSpPr>
          <p:cNvPr id="3" name="Content Placeholder 2">
            <a:extLst>
              <a:ext uri="{FF2B5EF4-FFF2-40B4-BE49-F238E27FC236}">
                <a16:creationId xmlns:a16="http://schemas.microsoft.com/office/drawing/2014/main" id="{FD234A71-1665-6CB7-F560-A5927D6C074B}"/>
              </a:ext>
            </a:extLst>
          </p:cNvPr>
          <p:cNvSpPr>
            <a:spLocks noGrp="1"/>
          </p:cNvSpPr>
          <p:nvPr>
            <p:ph idx="1"/>
          </p:nvPr>
        </p:nvSpPr>
        <p:spPr/>
        <p:txBody>
          <a:bodyPr/>
          <a:lstStyle/>
          <a:p>
            <a:pPr lvl="0"/>
            <a:r>
              <a:rPr lang="en-US" b="1" dirty="0"/>
              <a:t>Proximal variables</a:t>
            </a:r>
            <a:r>
              <a:rPr lang="en-US" dirty="0"/>
              <a:t> describe conditions that act directly on the organism</a:t>
            </a:r>
          </a:p>
          <a:p>
            <a:pPr lvl="0"/>
            <a:r>
              <a:rPr lang="en-US" b="1" dirty="0"/>
              <a:t>Distal variables</a:t>
            </a:r>
            <a:r>
              <a:rPr lang="en-US" dirty="0"/>
              <a:t> summarize conditions through several causal steps</a:t>
            </a:r>
          </a:p>
          <a:p>
            <a:pPr lvl="0"/>
            <a:endParaRPr lang="en-US" dirty="0"/>
          </a:p>
          <a:p>
            <a:pPr lvl="0"/>
            <a:endParaRPr lang="en-US" dirty="0"/>
          </a:p>
          <a:p>
            <a:pPr lvl="0"/>
            <a:r>
              <a:rPr lang="en-US" dirty="0"/>
              <a:t>Example: freeze duration is proximal, mean annual temperature is distal</a:t>
            </a:r>
          </a:p>
          <a:p>
            <a:pPr marL="0" lvl="0" indent="0">
              <a:buNone/>
            </a:pPr>
            <a:endParaRPr lang="en-US" dirty="0"/>
          </a:p>
          <a:p>
            <a:pPr lvl="0"/>
            <a:r>
              <a:rPr lang="en-US" dirty="0"/>
              <a:t>These categories can overlap with direct, indirect, and resource variables</a:t>
            </a:r>
          </a:p>
        </p:txBody>
      </p:sp>
      <p:sp>
        <p:nvSpPr>
          <p:cNvPr id="5" name="TextBox 4">
            <a:extLst>
              <a:ext uri="{FF2B5EF4-FFF2-40B4-BE49-F238E27FC236}">
                <a16:creationId xmlns:a16="http://schemas.microsoft.com/office/drawing/2014/main" id="{AC716257-3D27-70BF-BCF5-A30200A972FD}"/>
              </a:ext>
            </a:extLst>
          </p:cNvPr>
          <p:cNvSpPr txBox="1"/>
          <p:nvPr/>
        </p:nvSpPr>
        <p:spPr>
          <a:xfrm>
            <a:off x="1543050" y="2472422"/>
            <a:ext cx="5648325" cy="369332"/>
          </a:xfrm>
          <a:prstGeom prst="rect">
            <a:avLst/>
          </a:prstGeom>
          <a:noFill/>
        </p:spPr>
        <p:txBody>
          <a:bodyPr wrap="square">
            <a:spAutoFit/>
          </a:bodyPr>
          <a:lstStyle/>
          <a:p>
            <a:r>
              <a:rPr lang="en-US" dirty="0"/>
              <a:t>annual temperature → freezing duration → survival</a:t>
            </a:r>
          </a:p>
        </p:txBody>
      </p:sp>
    </p:spTree>
    <p:extLst>
      <p:ext uri="{BB962C8B-B14F-4D97-AF65-F5344CB8AC3E}">
        <p14:creationId xmlns:p14="http://schemas.microsoft.com/office/powerpoint/2010/main" val="3632079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353AF-3715-AF36-44C0-FEAF33F68911}"/>
              </a:ext>
            </a:extLst>
          </p:cNvPr>
          <p:cNvSpPr>
            <a:spLocks noGrp="1"/>
          </p:cNvSpPr>
          <p:nvPr>
            <p:ph type="title"/>
          </p:nvPr>
        </p:nvSpPr>
        <p:spPr>
          <a:xfrm>
            <a:off x="457200" y="646853"/>
            <a:ext cx="8229600" cy="857250"/>
          </a:xfrm>
        </p:spPr>
        <p:txBody>
          <a:bodyPr>
            <a:noAutofit/>
          </a:bodyPr>
          <a:lstStyle/>
          <a:p>
            <a:r>
              <a:rPr lang="en-US" sz="3400" dirty="0"/>
              <a:t>Environmental predictors operate at different scales (extents)</a:t>
            </a:r>
          </a:p>
        </p:txBody>
      </p:sp>
      <p:sp>
        <p:nvSpPr>
          <p:cNvPr id="3" name="Content Placeholder 2">
            <a:extLst>
              <a:ext uri="{FF2B5EF4-FFF2-40B4-BE49-F238E27FC236}">
                <a16:creationId xmlns:a16="http://schemas.microsoft.com/office/drawing/2014/main" id="{711D8954-7A59-20AB-7AAB-E8EDD2F9DAF4}"/>
              </a:ext>
            </a:extLst>
          </p:cNvPr>
          <p:cNvSpPr>
            <a:spLocks noGrp="1"/>
          </p:cNvSpPr>
          <p:nvPr>
            <p:ph idx="1"/>
          </p:nvPr>
        </p:nvSpPr>
        <p:spPr>
          <a:xfrm>
            <a:off x="457200" y="1732703"/>
            <a:ext cx="8229600" cy="1387014"/>
          </a:xfrm>
        </p:spPr>
        <p:txBody>
          <a:bodyPr>
            <a:normAutofit fontScale="92500" lnSpcReduction="10000"/>
          </a:bodyPr>
          <a:lstStyle/>
          <a:p>
            <a:pPr lvl="0"/>
            <a:r>
              <a:rPr lang="en-US" dirty="0"/>
              <a:t>Broad extent: climate</a:t>
            </a:r>
          </a:p>
          <a:p>
            <a:pPr lvl="0"/>
            <a:r>
              <a:rPr lang="en-US" dirty="0"/>
              <a:t>Regional and landscape extent: topography, land cover, and vegetation</a:t>
            </a:r>
          </a:p>
          <a:p>
            <a:pPr lvl="0"/>
            <a:r>
              <a:rPr lang="en-US" dirty="0"/>
              <a:t>Local extent: microclimate, soil, resources, and biotic interactions</a:t>
            </a:r>
          </a:p>
          <a:p>
            <a:pPr lvl="0"/>
            <a:r>
              <a:rPr lang="en-US" dirty="0"/>
              <a:t>Predictor resolution should match the ecological process being studied</a:t>
            </a:r>
          </a:p>
        </p:txBody>
      </p:sp>
      <p:pic>
        <p:nvPicPr>
          <p:cNvPr id="7" name="Picture 6">
            <a:extLst>
              <a:ext uri="{FF2B5EF4-FFF2-40B4-BE49-F238E27FC236}">
                <a16:creationId xmlns:a16="http://schemas.microsoft.com/office/drawing/2014/main" id="{4EF8CC63-C880-8C7D-C90B-A70CA122EB67}"/>
              </a:ext>
            </a:extLst>
          </p:cNvPr>
          <p:cNvPicPr>
            <a:picLocks noChangeAspect="1"/>
          </p:cNvPicPr>
          <p:nvPr/>
        </p:nvPicPr>
        <p:blipFill>
          <a:blip r:embed="rId2"/>
          <a:srcRect l="3327" t="11420" r="2558"/>
          <a:stretch>
            <a:fillRect/>
          </a:stretch>
        </p:blipFill>
        <p:spPr>
          <a:xfrm>
            <a:off x="290945" y="3119717"/>
            <a:ext cx="8229600" cy="1868466"/>
          </a:xfrm>
          <a:prstGeom prst="rect">
            <a:avLst/>
          </a:prstGeom>
        </p:spPr>
      </p:pic>
    </p:spTree>
    <p:extLst>
      <p:ext uri="{BB962C8B-B14F-4D97-AF65-F5344CB8AC3E}">
        <p14:creationId xmlns:p14="http://schemas.microsoft.com/office/powerpoint/2010/main" val="3563288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9045-253F-0C58-850C-B74404BA4188}"/>
              </a:ext>
            </a:extLst>
          </p:cNvPr>
          <p:cNvSpPr>
            <a:spLocks noGrp="1"/>
          </p:cNvSpPr>
          <p:nvPr>
            <p:ph type="title"/>
          </p:nvPr>
        </p:nvSpPr>
        <p:spPr>
          <a:xfrm>
            <a:off x="349623" y="781323"/>
            <a:ext cx="8229600" cy="857250"/>
          </a:xfrm>
        </p:spPr>
        <p:txBody>
          <a:bodyPr>
            <a:normAutofit/>
          </a:bodyPr>
          <a:lstStyle/>
          <a:p>
            <a:r>
              <a:rPr lang="en-US" sz="3400" dirty="0"/>
              <a:t>Predictor choice as an ecological hypothesis</a:t>
            </a:r>
          </a:p>
        </p:txBody>
      </p:sp>
      <p:sp>
        <p:nvSpPr>
          <p:cNvPr id="3" name="Content Placeholder 2">
            <a:extLst>
              <a:ext uri="{FF2B5EF4-FFF2-40B4-BE49-F238E27FC236}">
                <a16:creationId xmlns:a16="http://schemas.microsoft.com/office/drawing/2014/main" id="{A7BD3824-3E29-A7B5-A3CB-656FD81CD039}"/>
              </a:ext>
            </a:extLst>
          </p:cNvPr>
          <p:cNvSpPr>
            <a:spLocks noGrp="1"/>
          </p:cNvSpPr>
          <p:nvPr>
            <p:ph idx="1"/>
          </p:nvPr>
        </p:nvSpPr>
        <p:spPr>
          <a:xfrm>
            <a:off x="457200" y="1638573"/>
            <a:ext cx="8229600" cy="2956050"/>
          </a:xfrm>
        </p:spPr>
        <p:txBody>
          <a:bodyPr/>
          <a:lstStyle/>
          <a:p>
            <a:pPr marL="0" indent="0">
              <a:buNone/>
            </a:pPr>
            <a:r>
              <a:rPr lang="en-US" dirty="0"/>
              <a:t>Ask:</a:t>
            </a:r>
          </a:p>
          <a:p>
            <a:pPr lvl="0"/>
            <a:r>
              <a:rPr lang="en-US" dirty="0"/>
              <a:t>What aspect of the distribution am I trying to explain?</a:t>
            </a:r>
          </a:p>
          <a:p>
            <a:pPr lvl="0"/>
            <a:r>
              <a:rPr lang="en-US" dirty="0"/>
              <a:t>Am I estimating potential or occupied distribution?</a:t>
            </a:r>
          </a:p>
          <a:p>
            <a:pPr lvl="0"/>
            <a:r>
              <a:rPr lang="en-US" dirty="0"/>
              <a:t>Over what geographic and temporal scale?</a:t>
            </a:r>
          </a:p>
          <a:p>
            <a:pPr lvl="0"/>
            <a:r>
              <a:rPr lang="en-US" dirty="0"/>
              <a:t>Why should each predictor matter to this species?</a:t>
            </a:r>
          </a:p>
        </p:txBody>
      </p:sp>
    </p:spTree>
    <p:extLst>
      <p:ext uri="{BB962C8B-B14F-4D97-AF65-F5344CB8AC3E}">
        <p14:creationId xmlns:p14="http://schemas.microsoft.com/office/powerpoint/2010/main" val="1709068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052A8-E135-42BD-0507-309490BFDFA3}"/>
              </a:ext>
            </a:extLst>
          </p:cNvPr>
          <p:cNvSpPr>
            <a:spLocks noGrp="1"/>
          </p:cNvSpPr>
          <p:nvPr>
            <p:ph type="title"/>
          </p:nvPr>
        </p:nvSpPr>
        <p:spPr/>
        <p:txBody>
          <a:bodyPr>
            <a:normAutofit/>
          </a:bodyPr>
          <a:lstStyle/>
          <a:p>
            <a:r>
              <a:rPr lang="en-US" sz="3400" dirty="0"/>
              <a:t>How many predictors?</a:t>
            </a:r>
          </a:p>
        </p:txBody>
      </p:sp>
      <p:sp>
        <p:nvSpPr>
          <p:cNvPr id="3" name="Content Placeholder 2">
            <a:extLst>
              <a:ext uri="{FF2B5EF4-FFF2-40B4-BE49-F238E27FC236}">
                <a16:creationId xmlns:a16="http://schemas.microsoft.com/office/drawing/2014/main" id="{12EA941A-EA77-EDE0-950D-10CAF2110ACB}"/>
              </a:ext>
            </a:extLst>
          </p:cNvPr>
          <p:cNvSpPr>
            <a:spLocks noGrp="1"/>
          </p:cNvSpPr>
          <p:nvPr>
            <p:ph idx="1"/>
          </p:nvPr>
        </p:nvSpPr>
        <p:spPr>
          <a:xfrm>
            <a:off x="457200" y="1275504"/>
            <a:ext cx="8229600" cy="2081165"/>
          </a:xfrm>
        </p:spPr>
        <p:txBody>
          <a:bodyPr>
            <a:normAutofit lnSpcReduction="10000"/>
          </a:bodyPr>
          <a:lstStyle/>
          <a:p>
            <a:pPr lvl="0"/>
            <a:r>
              <a:rPr lang="en-US" dirty="0"/>
              <a:t>Too few predictors may omit important niche dimensions and produce overly broad predictions (under characterization)</a:t>
            </a:r>
          </a:p>
          <a:p>
            <a:pPr lvl="0"/>
            <a:r>
              <a:rPr lang="en-US" dirty="0"/>
              <a:t>Too many predictors may produce complex, overfit, and unstable models (over specified)</a:t>
            </a:r>
          </a:p>
          <a:p>
            <a:pPr lvl="0"/>
            <a:r>
              <a:rPr lang="en-US" dirty="0"/>
              <a:t>The risk increases when the number of occurrences is small</a:t>
            </a:r>
          </a:p>
          <a:p>
            <a:pPr lvl="0"/>
            <a:r>
              <a:rPr lang="en-US" dirty="0"/>
              <a:t>There is no universally correct number of predictors</a:t>
            </a:r>
          </a:p>
        </p:txBody>
      </p:sp>
      <p:pic>
        <p:nvPicPr>
          <p:cNvPr id="4" name="Picture 3">
            <a:extLst>
              <a:ext uri="{FF2B5EF4-FFF2-40B4-BE49-F238E27FC236}">
                <a16:creationId xmlns:a16="http://schemas.microsoft.com/office/drawing/2014/main" id="{72D25872-E375-F632-1FA5-B417B642A355}"/>
              </a:ext>
            </a:extLst>
          </p:cNvPr>
          <p:cNvPicPr>
            <a:picLocks noChangeAspect="1"/>
          </p:cNvPicPr>
          <p:nvPr/>
        </p:nvPicPr>
        <p:blipFill>
          <a:blip r:embed="rId2"/>
          <a:srcRect t="25844" b="30981"/>
          <a:stretch>
            <a:fillRect/>
          </a:stretch>
        </p:blipFill>
        <p:spPr>
          <a:xfrm>
            <a:off x="1896035" y="3410457"/>
            <a:ext cx="5351929" cy="1733043"/>
          </a:xfrm>
          <a:prstGeom prst="rect">
            <a:avLst/>
          </a:prstGeom>
        </p:spPr>
      </p:pic>
    </p:spTree>
    <p:extLst>
      <p:ext uri="{BB962C8B-B14F-4D97-AF65-F5344CB8AC3E}">
        <p14:creationId xmlns:p14="http://schemas.microsoft.com/office/powerpoint/2010/main" val="3342311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68D0E-5F68-83C3-4EDF-DE8EE4A76CAE}"/>
              </a:ext>
            </a:extLst>
          </p:cNvPr>
          <p:cNvSpPr>
            <a:spLocks noGrp="1"/>
          </p:cNvSpPr>
          <p:nvPr>
            <p:ph type="title"/>
          </p:nvPr>
        </p:nvSpPr>
        <p:spPr>
          <a:xfrm>
            <a:off x="322729" y="716056"/>
            <a:ext cx="8229600" cy="857250"/>
          </a:xfrm>
        </p:spPr>
        <p:txBody>
          <a:bodyPr>
            <a:normAutofit/>
          </a:bodyPr>
          <a:lstStyle/>
          <a:p>
            <a:r>
              <a:rPr lang="en-US" sz="3400" dirty="0"/>
              <a:t>Correlated predictors and dimensionality</a:t>
            </a:r>
          </a:p>
        </p:txBody>
      </p:sp>
      <p:sp>
        <p:nvSpPr>
          <p:cNvPr id="3" name="Content Placeholder 2">
            <a:extLst>
              <a:ext uri="{FF2B5EF4-FFF2-40B4-BE49-F238E27FC236}">
                <a16:creationId xmlns:a16="http://schemas.microsoft.com/office/drawing/2014/main" id="{456A4764-BC51-FD41-45F9-E205F6DADF0A}"/>
              </a:ext>
            </a:extLst>
          </p:cNvPr>
          <p:cNvSpPr>
            <a:spLocks noGrp="1"/>
          </p:cNvSpPr>
          <p:nvPr>
            <p:ph idx="1"/>
          </p:nvPr>
        </p:nvSpPr>
        <p:spPr>
          <a:xfrm>
            <a:off x="457200" y="1573306"/>
            <a:ext cx="8229600" cy="3021317"/>
          </a:xfrm>
        </p:spPr>
        <p:txBody>
          <a:bodyPr/>
          <a:lstStyle/>
          <a:p>
            <a:pPr lvl="0"/>
            <a:r>
              <a:rPr lang="en-US" dirty="0"/>
              <a:t>Correlated variables contain overlapping information</a:t>
            </a:r>
          </a:p>
          <a:p>
            <a:pPr lvl="0"/>
            <a:r>
              <a:rPr lang="en-US" dirty="0"/>
              <a:t>Correlation can make response curves and variable importance difficult to interpret</a:t>
            </a:r>
          </a:p>
          <a:p>
            <a:pPr lvl="0"/>
            <a:r>
              <a:rPr lang="en-US" dirty="0"/>
              <a:t>Common approaches include ecological preselection, correlation filtering, and PCA</a:t>
            </a:r>
          </a:p>
          <a:p>
            <a:pPr lvl="0"/>
            <a:r>
              <a:rPr lang="en-US" dirty="0"/>
              <a:t>An algorithm may tolerate correlation while the ecological interpretation is unstable or unreliable</a:t>
            </a:r>
          </a:p>
        </p:txBody>
      </p:sp>
    </p:spTree>
    <p:extLst>
      <p:ext uri="{BB962C8B-B14F-4D97-AF65-F5344CB8AC3E}">
        <p14:creationId xmlns:p14="http://schemas.microsoft.com/office/powerpoint/2010/main" val="1176940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186D48-57EA-6CEC-48D8-9DD2A0F5D5A1}"/>
              </a:ext>
            </a:extLst>
          </p:cNvPr>
          <p:cNvSpPr>
            <a:spLocks noGrp="1"/>
          </p:cNvSpPr>
          <p:nvPr>
            <p:ph type="title"/>
          </p:nvPr>
        </p:nvSpPr>
        <p:spPr>
          <a:xfrm>
            <a:off x="473202" y="480060"/>
            <a:ext cx="3614166" cy="1110996"/>
          </a:xfrm>
        </p:spPr>
        <p:txBody>
          <a:bodyPr anchor="b">
            <a:normAutofit/>
          </a:bodyPr>
          <a:lstStyle/>
          <a:p>
            <a:pPr>
              <a:lnSpc>
                <a:spcPct val="90000"/>
              </a:lnSpc>
            </a:pPr>
            <a:r>
              <a:rPr lang="en-US" sz="3500"/>
              <a:t>Building a raster stack</a:t>
            </a:r>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1779651"/>
            <a:ext cx="2441321" cy="13716"/>
          </a:xfrm>
          <a:custGeom>
            <a:avLst/>
            <a:gdLst>
              <a:gd name="csX0" fmla="*/ 0 w 2441321"/>
              <a:gd name="csY0" fmla="*/ 0 h 13716"/>
              <a:gd name="csX1" fmla="*/ 585917 w 2441321"/>
              <a:gd name="csY1" fmla="*/ 0 h 13716"/>
              <a:gd name="csX2" fmla="*/ 1196247 w 2441321"/>
              <a:gd name="csY2" fmla="*/ 0 h 13716"/>
              <a:gd name="csX3" fmla="*/ 1806578 w 2441321"/>
              <a:gd name="csY3" fmla="*/ 0 h 13716"/>
              <a:gd name="csX4" fmla="*/ 2441321 w 2441321"/>
              <a:gd name="csY4" fmla="*/ 0 h 13716"/>
              <a:gd name="csX5" fmla="*/ 2441321 w 2441321"/>
              <a:gd name="csY5" fmla="*/ 13716 h 13716"/>
              <a:gd name="csX6" fmla="*/ 1830991 w 2441321"/>
              <a:gd name="csY6" fmla="*/ 13716 h 13716"/>
              <a:gd name="csX7" fmla="*/ 1269487 w 2441321"/>
              <a:gd name="csY7" fmla="*/ 13716 h 13716"/>
              <a:gd name="csX8" fmla="*/ 707983 w 2441321"/>
              <a:gd name="csY8" fmla="*/ 13716 h 13716"/>
              <a:gd name="csX9" fmla="*/ 0 w 2441321"/>
              <a:gd name="csY9" fmla="*/ 13716 h 13716"/>
              <a:gd name="csX10" fmla="*/ 0 w 2441321"/>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3716"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939" y="4363"/>
                  <a:pt x="2441580" y="8857"/>
                  <a:pt x="2441321" y="13716"/>
                </a:cubicBezTo>
                <a:cubicBezTo>
                  <a:pt x="2169723" y="25934"/>
                  <a:pt x="2045712" y="34568"/>
                  <a:pt x="1830991" y="13716"/>
                </a:cubicBezTo>
                <a:cubicBezTo>
                  <a:pt x="1616270" y="-7136"/>
                  <a:pt x="1505876" y="-623"/>
                  <a:pt x="1269487" y="13716"/>
                </a:cubicBezTo>
                <a:cubicBezTo>
                  <a:pt x="1033098" y="28055"/>
                  <a:pt x="908661" y="36619"/>
                  <a:pt x="707983" y="13716"/>
                </a:cubicBezTo>
                <a:cubicBezTo>
                  <a:pt x="507305" y="-9187"/>
                  <a:pt x="333592" y="16187"/>
                  <a:pt x="0" y="13716"/>
                </a:cubicBezTo>
                <a:cubicBezTo>
                  <a:pt x="-459" y="8317"/>
                  <a:pt x="190" y="2744"/>
                  <a:pt x="0" y="0"/>
                </a:cubicBezTo>
                <a:close/>
              </a:path>
              <a:path w="2441321" h="13716"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507" y="3335"/>
                  <a:pt x="2441322" y="9457"/>
                  <a:pt x="2441321" y="13716"/>
                </a:cubicBezTo>
                <a:cubicBezTo>
                  <a:pt x="2166745" y="24201"/>
                  <a:pt x="2078726" y="10904"/>
                  <a:pt x="1879817" y="13716"/>
                </a:cubicBezTo>
                <a:cubicBezTo>
                  <a:pt x="1680908" y="16528"/>
                  <a:pt x="1548770" y="-8699"/>
                  <a:pt x="1318313" y="13716"/>
                </a:cubicBezTo>
                <a:cubicBezTo>
                  <a:pt x="1087856" y="36131"/>
                  <a:pt x="894613" y="-645"/>
                  <a:pt x="659157" y="13716"/>
                </a:cubicBezTo>
                <a:cubicBezTo>
                  <a:pt x="423701" y="28077"/>
                  <a:pt x="246611" y="29403"/>
                  <a:pt x="0" y="13716"/>
                </a:cubicBezTo>
                <a:cubicBezTo>
                  <a:pt x="-120" y="7867"/>
                  <a:pt x="674" y="391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06D719-B92B-220D-BBAD-3208D80FB7B5}"/>
              </a:ext>
            </a:extLst>
          </p:cNvPr>
          <p:cNvSpPr>
            <a:spLocks noGrp="1"/>
          </p:cNvSpPr>
          <p:nvPr>
            <p:ph idx="1"/>
          </p:nvPr>
        </p:nvSpPr>
        <p:spPr>
          <a:xfrm>
            <a:off x="473202" y="1995678"/>
            <a:ext cx="3614166" cy="2660904"/>
          </a:xfrm>
        </p:spPr>
        <p:txBody>
          <a:bodyPr anchor="t">
            <a:normAutofit/>
          </a:bodyPr>
          <a:lstStyle/>
          <a:p>
            <a:pPr marL="0" indent="0">
              <a:buNone/>
            </a:pPr>
            <a:r>
              <a:rPr lang="en-US" sz="1700"/>
              <a:t>All predictor layers should have compatible:</a:t>
            </a:r>
          </a:p>
          <a:p>
            <a:pPr lvl="0"/>
            <a:r>
              <a:rPr lang="en-US" sz="1700"/>
              <a:t>Coordinate reference system and datum</a:t>
            </a:r>
          </a:p>
          <a:p>
            <a:pPr lvl="0"/>
            <a:r>
              <a:rPr lang="en-US" sz="1700"/>
              <a:t>Spatial extent and cell alignment</a:t>
            </a:r>
          </a:p>
          <a:p>
            <a:pPr lvl="0"/>
            <a:r>
              <a:rPr lang="en-US" sz="1700"/>
              <a:t>Resolution and origin</a:t>
            </a:r>
          </a:p>
          <a:p>
            <a:pPr lvl="0"/>
            <a:r>
              <a:rPr lang="en-US" sz="1700"/>
              <a:t>Units, variable definitions, and missing-value conventions</a:t>
            </a:r>
          </a:p>
        </p:txBody>
      </p:sp>
      <p:pic>
        <p:nvPicPr>
          <p:cNvPr id="4" name="Picture 3">
            <a:extLst>
              <a:ext uri="{FF2B5EF4-FFF2-40B4-BE49-F238E27FC236}">
                <a16:creationId xmlns:a16="http://schemas.microsoft.com/office/drawing/2014/main" id="{4F13CD43-EDDA-2805-F14E-D29DD351A4FC}"/>
              </a:ext>
            </a:extLst>
          </p:cNvPr>
          <p:cNvPicPr>
            <a:picLocks noChangeAspect="1"/>
          </p:cNvPicPr>
          <p:nvPr/>
        </p:nvPicPr>
        <p:blipFill>
          <a:blip r:embed="rId2"/>
          <a:srcRect t="25844"/>
          <a:stretch>
            <a:fillRect/>
          </a:stretch>
        </p:blipFill>
        <p:spPr>
          <a:xfrm>
            <a:off x="4574286" y="1036415"/>
            <a:ext cx="4094226" cy="3070669"/>
          </a:xfrm>
          <a:prstGeom prst="rect">
            <a:avLst/>
          </a:prstGeom>
        </p:spPr>
      </p:pic>
    </p:spTree>
    <p:extLst>
      <p:ext uri="{BB962C8B-B14F-4D97-AF65-F5344CB8AC3E}">
        <p14:creationId xmlns:p14="http://schemas.microsoft.com/office/powerpoint/2010/main" val="37570767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0106-8ABA-2945-5D66-30CF985F43F9}"/>
              </a:ext>
            </a:extLst>
          </p:cNvPr>
          <p:cNvSpPr>
            <a:spLocks noGrp="1"/>
          </p:cNvSpPr>
          <p:nvPr>
            <p:ph type="title"/>
          </p:nvPr>
        </p:nvSpPr>
        <p:spPr>
          <a:xfrm>
            <a:off x="457200" y="660299"/>
            <a:ext cx="8229600" cy="857250"/>
          </a:xfrm>
        </p:spPr>
        <p:txBody>
          <a:bodyPr>
            <a:normAutofit/>
          </a:bodyPr>
          <a:lstStyle/>
          <a:p>
            <a:r>
              <a:rPr lang="en-US" sz="3800" dirty="0"/>
              <a:t>Data quality and metadata</a:t>
            </a:r>
          </a:p>
        </p:txBody>
      </p:sp>
      <p:sp>
        <p:nvSpPr>
          <p:cNvPr id="3" name="Content Placeholder 2">
            <a:extLst>
              <a:ext uri="{FF2B5EF4-FFF2-40B4-BE49-F238E27FC236}">
                <a16:creationId xmlns:a16="http://schemas.microsoft.com/office/drawing/2014/main" id="{973DE05E-7BA9-9960-990A-2091C5922D9A}"/>
              </a:ext>
            </a:extLst>
          </p:cNvPr>
          <p:cNvSpPr>
            <a:spLocks noGrp="1"/>
          </p:cNvSpPr>
          <p:nvPr>
            <p:ph idx="1"/>
          </p:nvPr>
        </p:nvSpPr>
        <p:spPr>
          <a:xfrm>
            <a:off x="685800" y="1613647"/>
            <a:ext cx="8001000" cy="2980976"/>
          </a:xfrm>
        </p:spPr>
        <p:txBody>
          <a:bodyPr/>
          <a:lstStyle/>
          <a:p>
            <a:pPr marL="0" indent="0">
              <a:buNone/>
            </a:pPr>
            <a:r>
              <a:rPr lang="en-US" dirty="0"/>
              <a:t>Before modeling, examine:</a:t>
            </a:r>
          </a:p>
          <a:p>
            <a:pPr lvl="0"/>
            <a:r>
              <a:rPr lang="en-US" dirty="0"/>
              <a:t>The original data source and collection method</a:t>
            </a:r>
          </a:p>
          <a:p>
            <a:pPr lvl="0"/>
            <a:r>
              <a:rPr lang="en-US" dirty="0"/>
              <a:t>Interpolation or processing used to create the raster</a:t>
            </a:r>
          </a:p>
          <a:p>
            <a:pPr lvl="0"/>
            <a:r>
              <a:rPr lang="en-US" dirty="0"/>
              <a:t>Temporal coverage and station density</a:t>
            </a:r>
          </a:p>
          <a:p>
            <a:pPr lvl="0"/>
            <a:r>
              <a:rPr lang="en-US" dirty="0"/>
              <a:t>Known errors, uncertainty, and missing data</a:t>
            </a:r>
          </a:p>
        </p:txBody>
      </p:sp>
      <p:sp>
        <p:nvSpPr>
          <p:cNvPr id="5" name="TextBox 4">
            <a:extLst>
              <a:ext uri="{FF2B5EF4-FFF2-40B4-BE49-F238E27FC236}">
                <a16:creationId xmlns:a16="http://schemas.microsoft.com/office/drawing/2014/main" id="{63444356-1BEC-F0C8-4457-B6DCAA5E42F5}"/>
              </a:ext>
            </a:extLst>
          </p:cNvPr>
          <p:cNvSpPr txBox="1"/>
          <p:nvPr/>
        </p:nvSpPr>
        <p:spPr>
          <a:xfrm>
            <a:off x="1714500" y="3858230"/>
            <a:ext cx="5934075" cy="954107"/>
          </a:xfrm>
          <a:prstGeom prst="rect">
            <a:avLst/>
          </a:prstGeom>
          <a:noFill/>
        </p:spPr>
        <p:txBody>
          <a:bodyPr wrap="square">
            <a:spAutoFit/>
          </a:bodyPr>
          <a:lstStyle/>
          <a:p>
            <a:pPr algn="ctr">
              <a:buNone/>
            </a:pPr>
            <a:r>
              <a:rPr lang="en-US" sz="2800" b="1" dirty="0">
                <a:solidFill>
                  <a:schemeClr val="accent2">
                    <a:lumMod val="75000"/>
                  </a:schemeClr>
                </a:solidFill>
              </a:rPr>
              <a:t>High spatial resolution does not necessarily mean high accuracy!</a:t>
            </a:r>
            <a:endParaRPr lang="en-US" sz="2800" dirty="0">
              <a:solidFill>
                <a:schemeClr val="accent2">
                  <a:lumMod val="75000"/>
                </a:schemeClr>
              </a:solidFill>
            </a:endParaRPr>
          </a:p>
        </p:txBody>
      </p:sp>
    </p:spTree>
    <p:extLst>
      <p:ext uri="{BB962C8B-B14F-4D97-AF65-F5344CB8AC3E}">
        <p14:creationId xmlns:p14="http://schemas.microsoft.com/office/powerpoint/2010/main" val="384095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ADEFE3-13E9-74D8-3417-8A11B7E23F64}"/>
              </a:ext>
            </a:extLst>
          </p:cNvPr>
          <p:cNvSpPr>
            <a:spLocks noGrp="1"/>
          </p:cNvSpPr>
          <p:nvPr>
            <p:ph type="title"/>
          </p:nvPr>
        </p:nvSpPr>
        <p:spPr>
          <a:xfrm>
            <a:off x="480060" y="244026"/>
            <a:ext cx="3276451" cy="1467631"/>
          </a:xfrm>
        </p:spPr>
        <p:txBody>
          <a:bodyPr anchor="b">
            <a:normAutofit/>
          </a:bodyPr>
          <a:lstStyle/>
          <a:p>
            <a:r>
              <a:rPr lang="en-US" sz="4100" dirty="0"/>
              <a:t>Spatial extent and M</a:t>
            </a:r>
          </a:p>
        </p:txBody>
      </p:sp>
      <p:sp>
        <p:nvSpPr>
          <p:cNvPr id="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1940245"/>
            <a:ext cx="2606040" cy="13716"/>
          </a:xfrm>
          <a:custGeom>
            <a:avLst/>
            <a:gdLst>
              <a:gd name="csX0" fmla="*/ 0 w 2606040"/>
              <a:gd name="csY0" fmla="*/ 0 h 13716"/>
              <a:gd name="csX1" fmla="*/ 625450 w 2606040"/>
              <a:gd name="csY1" fmla="*/ 0 h 13716"/>
              <a:gd name="csX2" fmla="*/ 1224839 w 2606040"/>
              <a:gd name="csY2" fmla="*/ 0 h 13716"/>
              <a:gd name="csX3" fmla="*/ 1824228 w 2606040"/>
              <a:gd name="csY3" fmla="*/ 0 h 13716"/>
              <a:gd name="csX4" fmla="*/ 2606040 w 2606040"/>
              <a:gd name="csY4" fmla="*/ 0 h 13716"/>
              <a:gd name="csX5" fmla="*/ 2606040 w 2606040"/>
              <a:gd name="csY5" fmla="*/ 13716 h 13716"/>
              <a:gd name="csX6" fmla="*/ 1902409 w 2606040"/>
              <a:gd name="csY6" fmla="*/ 13716 h 13716"/>
              <a:gd name="csX7" fmla="*/ 1276960 w 2606040"/>
              <a:gd name="csY7" fmla="*/ 13716 h 13716"/>
              <a:gd name="csX8" fmla="*/ 677570 w 2606040"/>
              <a:gd name="csY8" fmla="*/ 13716 h 13716"/>
              <a:gd name="csX9" fmla="*/ 0 w 2606040"/>
              <a:gd name="csY9" fmla="*/ 13716 h 13716"/>
              <a:gd name="csX10" fmla="*/ 0 w 2606040"/>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3716"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690" y="5728"/>
                  <a:pt x="2605650" y="7624"/>
                  <a:pt x="2606040" y="13716"/>
                </a:cubicBezTo>
                <a:cubicBezTo>
                  <a:pt x="2256758" y="26838"/>
                  <a:pt x="2173673" y="-17450"/>
                  <a:pt x="1902409" y="13716"/>
                </a:cubicBezTo>
                <a:cubicBezTo>
                  <a:pt x="1631145" y="44882"/>
                  <a:pt x="1461378" y="894"/>
                  <a:pt x="1276960" y="13716"/>
                </a:cubicBezTo>
                <a:cubicBezTo>
                  <a:pt x="1092542" y="26538"/>
                  <a:pt x="890442" y="8641"/>
                  <a:pt x="677570" y="13716"/>
                </a:cubicBezTo>
                <a:cubicBezTo>
                  <a:pt x="464698" y="18792"/>
                  <a:pt x="187648" y="31265"/>
                  <a:pt x="0" y="13716"/>
                </a:cubicBezTo>
                <a:cubicBezTo>
                  <a:pt x="-302" y="10335"/>
                  <a:pt x="417" y="4724"/>
                  <a:pt x="0" y="0"/>
                </a:cubicBezTo>
                <a:close/>
              </a:path>
              <a:path w="2606040" h="13716"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6569" y="5071"/>
                  <a:pt x="2606315" y="7437"/>
                  <a:pt x="2606040" y="13716"/>
                </a:cubicBezTo>
                <a:cubicBezTo>
                  <a:pt x="2393024" y="-2332"/>
                  <a:pt x="2191161" y="34687"/>
                  <a:pt x="1980590" y="13716"/>
                </a:cubicBezTo>
                <a:cubicBezTo>
                  <a:pt x="1770019" y="-7255"/>
                  <a:pt x="1476440" y="31542"/>
                  <a:pt x="1276960" y="13716"/>
                </a:cubicBezTo>
                <a:cubicBezTo>
                  <a:pt x="1077480" y="-4110"/>
                  <a:pt x="880988" y="37553"/>
                  <a:pt x="651510" y="13716"/>
                </a:cubicBezTo>
                <a:cubicBezTo>
                  <a:pt x="422032" y="-10121"/>
                  <a:pt x="130744" y="-6519"/>
                  <a:pt x="0" y="13716"/>
                </a:cubicBezTo>
                <a:cubicBezTo>
                  <a:pt x="198" y="8947"/>
                  <a:pt x="304" y="52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531176-3DD1-A72C-3E4A-83C3B1CDDC07}"/>
              </a:ext>
            </a:extLst>
          </p:cNvPr>
          <p:cNvSpPr>
            <a:spLocks noGrp="1"/>
          </p:cNvSpPr>
          <p:nvPr>
            <p:ph idx="1"/>
          </p:nvPr>
        </p:nvSpPr>
        <p:spPr>
          <a:xfrm>
            <a:off x="480060" y="2154674"/>
            <a:ext cx="3182691" cy="2490501"/>
          </a:xfrm>
        </p:spPr>
        <p:txBody>
          <a:bodyPr>
            <a:normAutofit/>
          </a:bodyPr>
          <a:lstStyle/>
          <a:p>
            <a:pPr lvl="0">
              <a:lnSpc>
                <a:spcPct val="90000"/>
              </a:lnSpc>
            </a:pPr>
            <a:r>
              <a:rPr lang="en-US" sz="1400"/>
              <a:t>The study extent determines which environments are available to the model</a:t>
            </a:r>
          </a:p>
          <a:p>
            <a:pPr lvl="0">
              <a:lnSpc>
                <a:spcPct val="90000"/>
              </a:lnSpc>
            </a:pPr>
            <a:r>
              <a:rPr lang="en-US" sz="1400"/>
              <a:t>A very broad extent may include places the species could never access</a:t>
            </a:r>
          </a:p>
          <a:p>
            <a:pPr lvl="0">
              <a:lnSpc>
                <a:spcPct val="90000"/>
              </a:lnSpc>
            </a:pPr>
            <a:r>
              <a:rPr lang="en-US" sz="1400"/>
              <a:t>These additional environments can change fitted relationships and model evaluation</a:t>
            </a:r>
          </a:p>
          <a:p>
            <a:pPr lvl="0">
              <a:lnSpc>
                <a:spcPct val="90000"/>
              </a:lnSpc>
            </a:pPr>
            <a:r>
              <a:rPr lang="en-US" sz="1400"/>
              <a:t>The modeling extent should represent a defensible hypothesis about </a:t>
            </a:r>
            <a:r>
              <a:rPr lang="en-US" sz="1400" b="1"/>
              <a:t>M</a:t>
            </a:r>
            <a:endParaRPr lang="en-US" sz="1400"/>
          </a:p>
        </p:txBody>
      </p:sp>
      <p:pic>
        <p:nvPicPr>
          <p:cNvPr id="5" name="Picture 4">
            <a:extLst>
              <a:ext uri="{FF2B5EF4-FFF2-40B4-BE49-F238E27FC236}">
                <a16:creationId xmlns:a16="http://schemas.microsoft.com/office/drawing/2014/main" id="{1EB7798F-C0DF-BE43-F236-71AF09B7797D}"/>
              </a:ext>
            </a:extLst>
          </p:cNvPr>
          <p:cNvPicPr>
            <a:picLocks noChangeAspect="1"/>
          </p:cNvPicPr>
          <p:nvPr/>
        </p:nvPicPr>
        <p:blipFill>
          <a:blip r:embed="rId2"/>
          <a:srcRect t="302" r="2" b="2"/>
          <a:stretch>
            <a:fillRect/>
          </a:stretch>
        </p:blipFill>
        <p:spPr>
          <a:xfrm>
            <a:off x="3983776" y="10"/>
            <a:ext cx="5159081" cy="51434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667379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CC5F1-22BF-0BC4-7D36-5827A0901513}"/>
              </a:ext>
            </a:extLst>
          </p:cNvPr>
          <p:cNvSpPr>
            <a:spLocks noGrp="1"/>
          </p:cNvSpPr>
          <p:nvPr>
            <p:ph type="title"/>
          </p:nvPr>
        </p:nvSpPr>
        <p:spPr/>
        <p:txBody>
          <a:bodyPr>
            <a:normAutofit/>
          </a:bodyPr>
          <a:lstStyle/>
          <a:p>
            <a:r>
              <a:rPr lang="en-US" sz="3400" dirty="0"/>
              <a:t>Spatial resolution</a:t>
            </a:r>
          </a:p>
        </p:txBody>
      </p:sp>
      <p:sp>
        <p:nvSpPr>
          <p:cNvPr id="3" name="Content Placeholder 2">
            <a:extLst>
              <a:ext uri="{FF2B5EF4-FFF2-40B4-BE49-F238E27FC236}">
                <a16:creationId xmlns:a16="http://schemas.microsoft.com/office/drawing/2014/main" id="{956AF937-7D86-67B8-7A39-FC002CD663B9}"/>
              </a:ext>
            </a:extLst>
          </p:cNvPr>
          <p:cNvSpPr>
            <a:spLocks noGrp="1"/>
          </p:cNvSpPr>
          <p:nvPr>
            <p:ph idx="1"/>
          </p:nvPr>
        </p:nvSpPr>
        <p:spPr>
          <a:xfrm>
            <a:off x="457200" y="1329292"/>
            <a:ext cx="4246899" cy="3265331"/>
          </a:xfrm>
        </p:spPr>
        <p:txBody>
          <a:bodyPr>
            <a:normAutofit lnSpcReduction="10000"/>
          </a:bodyPr>
          <a:lstStyle/>
          <a:p>
            <a:pPr lvl="0"/>
            <a:r>
              <a:rPr lang="en-US" dirty="0"/>
              <a:t>Grain size should match the organism, ecological process, and coordinate uncertainty</a:t>
            </a:r>
          </a:p>
          <a:p>
            <a:pPr lvl="0"/>
            <a:r>
              <a:rPr lang="en-US" dirty="0"/>
              <a:t>Upscaling loses fine-scale information (such as merging nearby occurrences and environmental details)</a:t>
            </a:r>
          </a:p>
          <a:p>
            <a:pPr lvl="0"/>
            <a:r>
              <a:rPr lang="en-US" dirty="0"/>
              <a:t>Downscaling often creates false precision without adding new information</a:t>
            </a:r>
          </a:p>
        </p:txBody>
      </p:sp>
      <p:pic>
        <p:nvPicPr>
          <p:cNvPr id="4" name="Picture 3">
            <a:extLst>
              <a:ext uri="{FF2B5EF4-FFF2-40B4-BE49-F238E27FC236}">
                <a16:creationId xmlns:a16="http://schemas.microsoft.com/office/drawing/2014/main" id="{CDDA6842-361E-EB60-0FC4-1EE8C320BA41}"/>
              </a:ext>
            </a:extLst>
          </p:cNvPr>
          <p:cNvPicPr>
            <a:picLocks noChangeAspect="1"/>
          </p:cNvPicPr>
          <p:nvPr/>
        </p:nvPicPr>
        <p:blipFill>
          <a:blip r:embed="rId2"/>
          <a:stretch>
            <a:fillRect/>
          </a:stretch>
        </p:blipFill>
        <p:spPr>
          <a:xfrm>
            <a:off x="4704099" y="630074"/>
            <a:ext cx="3648603" cy="3610497"/>
          </a:xfrm>
          <a:prstGeom prst="rect">
            <a:avLst/>
          </a:prstGeom>
        </p:spPr>
      </p:pic>
      <p:sp>
        <p:nvSpPr>
          <p:cNvPr id="6" name="TextBox 5">
            <a:extLst>
              <a:ext uri="{FF2B5EF4-FFF2-40B4-BE49-F238E27FC236}">
                <a16:creationId xmlns:a16="http://schemas.microsoft.com/office/drawing/2014/main" id="{0498CF5D-CA7A-C69F-7C35-C0F7B6F26BF2}"/>
              </a:ext>
            </a:extLst>
          </p:cNvPr>
          <p:cNvSpPr txBox="1"/>
          <p:nvPr/>
        </p:nvSpPr>
        <p:spPr>
          <a:xfrm>
            <a:off x="4322619" y="4240572"/>
            <a:ext cx="4821381" cy="861774"/>
          </a:xfrm>
          <a:prstGeom prst="rect">
            <a:avLst/>
          </a:prstGeom>
          <a:noFill/>
        </p:spPr>
        <p:txBody>
          <a:bodyPr wrap="square">
            <a:spAutoFit/>
          </a:bodyPr>
          <a:lstStyle/>
          <a:p>
            <a:pPr marL="0" marR="0">
              <a:buNone/>
            </a:pPr>
            <a:r>
              <a:rPr lang="en-US" sz="1000" dirty="0">
                <a:effectLst/>
                <a:latin typeface="+mn-lt"/>
              </a:rPr>
              <a:t>Figure 6.3. Illustration of different spatial resolutions in geospatial datasets. MODIS satellite data from the region of the northern tip of Australia summarizing photosynthetic mass at 250 m resolution in gray scale, on top of </a:t>
            </a:r>
            <a:r>
              <a:rPr lang="en-US" sz="1000" dirty="0" err="1">
                <a:effectLst/>
                <a:latin typeface="+mn-lt"/>
              </a:rPr>
              <a:t>WorldClim</a:t>
            </a:r>
            <a:r>
              <a:rPr lang="en-US" sz="1000" dirty="0">
                <a:effectLst/>
                <a:latin typeface="+mn-lt"/>
              </a:rPr>
              <a:t> climatic data at 17 km resolution in the background, in black. Note that even the definition of islands as separate depends on the pixel resolution.</a:t>
            </a:r>
            <a:endParaRPr lang="en-US" sz="1000" dirty="0">
              <a:effectLst/>
              <a:latin typeface="Helvetica" pitchFamily="2" charset="0"/>
            </a:endParaRPr>
          </a:p>
        </p:txBody>
      </p:sp>
    </p:spTree>
    <p:extLst>
      <p:ext uri="{BB962C8B-B14F-4D97-AF65-F5344CB8AC3E}">
        <p14:creationId xmlns:p14="http://schemas.microsoft.com/office/powerpoint/2010/main" val="3267418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24758</TotalTime>
  <Words>1916</Words>
  <Application>Microsoft Macintosh PowerPoint</Application>
  <PresentationFormat>On-screen Show (16:9)</PresentationFormat>
  <Paragraphs>249</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Helvetica</vt:lpstr>
      <vt:lpstr>Office Theme</vt:lpstr>
      <vt:lpstr>Week 5. Robustness, Models, Environments</vt:lpstr>
      <vt:lpstr>Welcome, hello, any announcements?</vt:lpstr>
      <vt:lpstr>Project Milestones</vt:lpstr>
      <vt:lpstr>Class Plan</vt:lpstr>
      <vt:lpstr>Lab 03 Debrief</vt:lpstr>
      <vt:lpstr>Class progress</vt:lpstr>
      <vt:lpstr>Background, absence, and suitability</vt:lpstr>
      <vt:lpstr>M as an accessibility hypothesis</vt:lpstr>
      <vt:lpstr>Robustness of interpretations</vt:lpstr>
      <vt:lpstr>Robustness refers to an interpretation</vt:lpstr>
      <vt:lpstr>Common interpretation errors</vt:lpstr>
      <vt:lpstr>Repair the interpretation</vt:lpstr>
      <vt:lpstr>Reproducibility check</vt:lpstr>
      <vt:lpstr>PowerPoint Presentation</vt:lpstr>
      <vt:lpstr>Presence-Background Models</vt:lpstr>
      <vt:lpstr>Questions that presence-background models can answer</vt:lpstr>
      <vt:lpstr>Within the environments a species could access, where are occurrences concentrated more than expected from availability?</vt:lpstr>
      <vt:lpstr>Where is relative environmental suitability higher or lower within the modeled region?</vt:lpstr>
      <vt:lpstr>How does the predicted suitability pattern change under alternative definitions of M?</vt:lpstr>
      <vt:lpstr>Which unsampled areas have environments similar to known occurrence locations?</vt:lpstr>
      <vt:lpstr>Which predictors have the strongest associations with occurrence locations?</vt:lpstr>
      <vt:lpstr>What is the shape of the association with temperature, precipitation, elevation, or other predictors?</vt:lpstr>
      <vt:lpstr>Does a model calibrated in one region or period transfer well to another?</vt:lpstr>
      <vt:lpstr>How might relative suitability shift under a future or past climate scenario?</vt:lpstr>
      <vt:lpstr>Are conclusions consistent across algorithms, predictor sets, background samples, or occurrence-filtering decisions?</vt:lpstr>
      <vt:lpstr>Connection to model fitting</vt:lpstr>
      <vt:lpstr>Peterson et al. Chapter 6</vt:lpstr>
      <vt:lpstr>Environmental Data</vt:lpstr>
      <vt:lpstr>The two main inputs to niche models</vt:lpstr>
      <vt:lpstr>Environmental raster layers</vt:lpstr>
      <vt:lpstr>Species–environment relationships</vt:lpstr>
      <vt:lpstr>Types of environmental predictors</vt:lpstr>
      <vt:lpstr>Causal distance</vt:lpstr>
      <vt:lpstr>Environmental predictors operate at different scales (extents)</vt:lpstr>
      <vt:lpstr>Predictor choice as an ecological hypothesis</vt:lpstr>
      <vt:lpstr>How many predictors?</vt:lpstr>
      <vt:lpstr>Correlated predictors and dimensionality</vt:lpstr>
      <vt:lpstr>Building a raster stack</vt:lpstr>
      <vt:lpstr>Data quality and metadata</vt:lpstr>
      <vt:lpstr>Spatial extent and M</vt:lpstr>
      <vt:lpstr>Spatial resolution</vt:lpstr>
    </vt:vector>
  </TitlesOfParts>
  <Company>TAMU - Spatial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 Projections</dc:title>
  <dc:creator>Michelle Lawing</dc:creator>
  <cp:lastModifiedBy>Michelle Lawing</cp:lastModifiedBy>
  <cp:revision>984</cp:revision>
  <dcterms:created xsi:type="dcterms:W3CDTF">2014-08-30T17:37:24Z</dcterms:created>
  <dcterms:modified xsi:type="dcterms:W3CDTF">2026-09-29T18:33:02Z</dcterms:modified>
</cp:coreProperties>
</file>