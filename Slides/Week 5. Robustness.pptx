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256" r:id="rId2"/>
    <p:sldId id="515" r:id="rId3"/>
    <p:sldId id="540" r:id="rId4"/>
    <p:sldId id="514" r:id="rId5"/>
    <p:sldId id="566" r:id="rId6"/>
    <p:sldId id="567" r:id="rId7"/>
    <p:sldId id="568" r:id="rId8"/>
    <p:sldId id="569" r:id="rId9"/>
    <p:sldId id="575" r:id="rId10"/>
    <p:sldId id="570" r:id="rId11"/>
    <p:sldId id="571" r:id="rId12"/>
    <p:sldId id="572" r:id="rId13"/>
    <p:sldId id="573" r:id="rId14"/>
    <p:sldId id="577" r:id="rId15"/>
    <p:sldId id="582" r:id="rId16"/>
    <p:sldId id="580" r:id="rId17"/>
    <p:sldId id="578" r:id="rId18"/>
    <p:sldId id="588" r:id="rId19"/>
    <p:sldId id="587" r:id="rId20"/>
    <p:sldId id="583" r:id="rId21"/>
    <p:sldId id="579" r:id="rId22"/>
    <p:sldId id="585" r:id="rId23"/>
    <p:sldId id="586" r:id="rId24"/>
    <p:sldId id="584" r:id="rId25"/>
    <p:sldId id="574" r:id="rId2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A6E93F3-11AD-C848-9581-61FF99ABE858}">
          <p14:sldIdLst>
            <p14:sldId id="256"/>
            <p14:sldId id="515"/>
            <p14:sldId id="540"/>
            <p14:sldId id="514"/>
            <p14:sldId id="566"/>
            <p14:sldId id="567"/>
            <p14:sldId id="568"/>
            <p14:sldId id="569"/>
            <p14:sldId id="575"/>
            <p14:sldId id="570"/>
            <p14:sldId id="571"/>
            <p14:sldId id="572"/>
            <p14:sldId id="573"/>
            <p14:sldId id="577"/>
            <p14:sldId id="582"/>
            <p14:sldId id="580"/>
            <p14:sldId id="578"/>
            <p14:sldId id="588"/>
            <p14:sldId id="587"/>
            <p14:sldId id="583"/>
            <p14:sldId id="579"/>
            <p14:sldId id="585"/>
            <p14:sldId id="586"/>
            <p14:sldId id="584"/>
            <p14:sldId id="5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nna Lawing" initials="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201"/>
    <p:restoredTop sz="94589"/>
  </p:normalViewPr>
  <p:slideViewPr>
    <p:cSldViewPr snapToGrid="0" snapToObjects="1">
      <p:cViewPr varScale="1">
        <p:scale>
          <a:sx n="92" d="100"/>
          <a:sy n="92" d="100"/>
        </p:scale>
        <p:origin x="184" y="128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5" d="100"/>
          <a:sy n="85" d="100"/>
        </p:scale>
        <p:origin x="3928" y="16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D2D4AE1-BD9C-1741-B132-ACC4FD870A3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52F900-87CF-6E4F-9FCE-F0A8E37B2F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8404FB-D815-9B49-9DBC-B684E3C0E790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9167D0-463A-4043-821F-310E6E04806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556C2-9555-094A-9761-17FDE74E664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95A322-2EE7-5046-A0D8-D3FF3645CA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6563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AC5A93-540D-2443-A380-5679C155FF1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0A90D5-3B1D-1149-800E-15EBB2932B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365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7937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699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590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436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905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6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834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741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507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324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596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72041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29292"/>
            <a:ext cx="8229600" cy="32653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768856" y="69057"/>
            <a:ext cx="2368925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Calibri"/>
                <a:ea typeface="+mn-ea"/>
                <a:cs typeface="Calibri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ECCB</a:t>
            </a:r>
            <a:r>
              <a:rPr lang="en-US" sz="1100" baseline="0" dirty="0">
                <a:solidFill>
                  <a:schemeClr val="bg1">
                    <a:lumMod val="50000"/>
                  </a:schemeClr>
                </a:solidFill>
              </a:rPr>
              <a:t> 689 Modeling Ecological Niches</a:t>
            </a:r>
          </a:p>
          <a:p>
            <a:r>
              <a:rPr lang="en-US" sz="1100" baseline="0" dirty="0">
                <a:solidFill>
                  <a:schemeClr val="bg1">
                    <a:lumMod val="50000"/>
                  </a:schemeClr>
                </a:solidFill>
              </a:rPr>
              <a:t>and Species’ Geographic Distributions</a:t>
            </a:r>
            <a:endParaRPr 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94237" y="69057"/>
            <a:ext cx="3735891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Calibri"/>
                <a:ea typeface="+mn-ea"/>
                <a:cs typeface="Calibri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Ecology and Conservation Biology | </a:t>
            </a:r>
            <a:r>
              <a:rPr lang="en-US" sz="1100" dirty="0">
                <a:solidFill>
                  <a:srgbClr val="800000"/>
                </a:solidFill>
              </a:rPr>
              <a:t>Texas A&amp;M University</a:t>
            </a:r>
          </a:p>
        </p:txBody>
      </p:sp>
    </p:spTree>
    <p:extLst>
      <p:ext uri="{BB962C8B-B14F-4D97-AF65-F5344CB8AC3E}">
        <p14:creationId xmlns:p14="http://schemas.microsoft.com/office/powerpoint/2010/main" val="1907738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rgbClr val="800000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Font typeface="Arial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buFont typeface="Arial"/>
        <a:buChar char="–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buFont typeface="Arial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34589" y="1469231"/>
            <a:ext cx="7158247" cy="1102519"/>
          </a:xfrm>
        </p:spPr>
        <p:txBody>
          <a:bodyPr>
            <a:normAutofit/>
          </a:bodyPr>
          <a:lstStyle/>
          <a:p>
            <a:r>
              <a:rPr lang="en-US" sz="2800" dirty="0"/>
              <a:t>Week 5. Robustness, Models, Environments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08812" y="2826129"/>
            <a:ext cx="2326373" cy="1001825"/>
          </a:xfrm>
        </p:spPr>
        <p:txBody>
          <a:bodyPr>
            <a:normAutofit fontScale="85000" lnSpcReduction="10000"/>
          </a:bodyPr>
          <a:lstStyle/>
          <a:p>
            <a:r>
              <a:rPr lang="en-US" sz="1600" dirty="0">
                <a:solidFill>
                  <a:srgbClr val="800000"/>
                </a:solidFill>
              </a:rPr>
              <a:t>A. Michelle Lawing, PhD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Associate Professor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Paleobiology, Evolution, and Climate Lab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Ecology and Conservation Biology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Texas A&amp;M University</a:t>
            </a:r>
          </a:p>
          <a:p>
            <a:pPr>
              <a:spcBef>
                <a:spcPts val="0"/>
              </a:spcBef>
            </a:pPr>
            <a:r>
              <a:rPr lang="en-US" sz="1200" dirty="0" err="1">
                <a:solidFill>
                  <a:schemeClr val="tx1"/>
                </a:solidFill>
              </a:rPr>
              <a:t>alawing@tamu.edu</a:t>
            </a:r>
            <a:endParaRPr lang="en-US" sz="1200" dirty="0">
              <a:solidFill>
                <a:schemeClr val="tx1"/>
              </a:solidFill>
            </a:endParaRP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104773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90A04-CC46-81EB-10DB-8BF42B5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4487" y="1979975"/>
            <a:ext cx="5495026" cy="857250"/>
          </a:xfrm>
        </p:spPr>
        <p:txBody>
          <a:bodyPr>
            <a:normAutofit/>
          </a:bodyPr>
          <a:lstStyle/>
          <a:p>
            <a:r>
              <a:rPr lang="en-US" dirty="0"/>
              <a:t>Welcome, hello, any announcements?</a:t>
            </a:r>
          </a:p>
        </p:txBody>
      </p:sp>
    </p:spTree>
    <p:extLst>
      <p:ext uri="{BB962C8B-B14F-4D97-AF65-F5344CB8AC3E}">
        <p14:creationId xmlns:p14="http://schemas.microsoft.com/office/powerpoint/2010/main" val="1826526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529E7-D049-043B-4B15-5DABF32E1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57" y="272864"/>
            <a:ext cx="8229600" cy="857250"/>
          </a:xfrm>
        </p:spPr>
        <p:txBody>
          <a:bodyPr/>
          <a:lstStyle/>
          <a:p>
            <a:r>
              <a:rPr lang="en-US" dirty="0"/>
              <a:t>Project Milestones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CC3541F-8F94-C67C-3731-7CA5648C4EC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5758146"/>
              </p:ext>
            </p:extLst>
          </p:nvPr>
        </p:nvGraphicFramePr>
        <p:xfrm>
          <a:off x="1454356" y="1062036"/>
          <a:ext cx="5944607" cy="3808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54173">
                  <a:extLst>
                    <a:ext uri="{9D8B030D-6E8A-4147-A177-3AD203B41FA5}">
                      <a16:colId xmlns:a16="http://schemas.microsoft.com/office/drawing/2014/main" val="4005966982"/>
                    </a:ext>
                  </a:extLst>
                </a:gridCol>
                <a:gridCol w="2890434">
                  <a:extLst>
                    <a:ext uri="{9D8B030D-6E8A-4147-A177-3AD203B41FA5}">
                      <a16:colId xmlns:a16="http://schemas.microsoft.com/office/drawing/2014/main" val="262250381"/>
                    </a:ext>
                  </a:extLst>
                </a:gridCol>
              </a:tblGrid>
              <a:tr h="39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Milestone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4071243"/>
                  </a:ext>
                </a:extLst>
              </a:tr>
              <a:tr h="5631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Sept. 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Project topic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6119000"/>
                  </a:ext>
                </a:extLst>
              </a:tr>
              <a:tr h="332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Oct.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Data plan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392885"/>
                  </a:ext>
                </a:extLst>
              </a:tr>
              <a:tr h="332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Oct. 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Modeling plan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5707035"/>
                  </a:ext>
                </a:extLst>
              </a:tr>
              <a:tr h="332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Nov. 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Preliminary results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3199924"/>
                  </a:ext>
                </a:extLst>
              </a:tr>
              <a:tr h="332788"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Dec. 1 (optional)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Full final draft due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7244458"/>
                  </a:ext>
                </a:extLst>
              </a:tr>
              <a:tr h="332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strike="sngStrike" dirty="0"/>
                        <a:t>Dec. 1</a:t>
                      </a:r>
                      <a:r>
                        <a:rPr lang="en-US" sz="2000" strike="noStrike" dirty="0"/>
                        <a:t> (redefined day)</a:t>
                      </a:r>
                    </a:p>
                    <a:p>
                      <a:pPr>
                        <a:buNone/>
                      </a:pPr>
                      <a:r>
                        <a:rPr lang="en-US" sz="2000" strike="noStrike" dirty="0"/>
                        <a:t>Dec. 10 1-3 pm (finals slot)</a:t>
                      </a:r>
                      <a:endParaRPr lang="en-US" sz="2000" strike="sngStrik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Presentation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0838770"/>
                  </a:ext>
                </a:extLst>
              </a:tr>
              <a:tr h="5631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Dec. 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Final paper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4816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0322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63A30-1780-5937-E856-89F2E8552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A0307-79AE-61F3-A7AF-66C33C0C2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7468E-DFB5-9223-01DC-321D344FD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Review Lab 03</a:t>
            </a:r>
          </a:p>
          <a:p>
            <a:pPr lvl="1"/>
            <a:r>
              <a:rPr lang="en-US" dirty="0"/>
              <a:t>Check and update interpretations (commit)</a:t>
            </a:r>
          </a:p>
          <a:p>
            <a:pPr lvl="1"/>
            <a:r>
              <a:rPr lang="en-US" dirty="0"/>
              <a:t>Check and update repeatability (commit)</a:t>
            </a:r>
          </a:p>
          <a:p>
            <a:pPr lvl="1"/>
            <a:r>
              <a:rPr lang="en-US" dirty="0"/>
              <a:t>Push</a:t>
            </a:r>
          </a:p>
          <a:p>
            <a:r>
              <a:rPr lang="en-US" dirty="0"/>
              <a:t>Preview presence-background models</a:t>
            </a:r>
          </a:p>
          <a:p>
            <a:r>
              <a:rPr lang="en-US" dirty="0"/>
              <a:t>Overview of questions these models can address</a:t>
            </a:r>
          </a:p>
          <a:p>
            <a:r>
              <a:rPr lang="en-US" dirty="0"/>
              <a:t>Read Peterson Chapter 6 for Thursday class preparation</a:t>
            </a:r>
          </a:p>
        </p:txBody>
      </p:sp>
    </p:spTree>
    <p:extLst>
      <p:ext uri="{BB962C8B-B14F-4D97-AF65-F5344CB8AC3E}">
        <p14:creationId xmlns:p14="http://schemas.microsoft.com/office/powerpoint/2010/main" val="135870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B5B77-7A3E-3B88-7DDA-82E1C87C8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03 Debrief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47427-7479-CDD5-8147-77D8A044E0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Distinguish background, absence, and suitable habitat</a:t>
            </a:r>
          </a:p>
          <a:p>
            <a:pPr lvl="0"/>
            <a:r>
              <a:rPr lang="en-US" dirty="0"/>
              <a:t>Interpret M as an accessibility hypothesis</a:t>
            </a:r>
          </a:p>
          <a:p>
            <a:pPr lvl="0"/>
            <a:r>
              <a:rPr lang="en-US" dirty="0"/>
              <a:t>Evaluate whether an ecological interpretation is stable given a change in M</a:t>
            </a:r>
          </a:p>
          <a:p>
            <a:pPr lvl="0"/>
            <a:r>
              <a:rPr lang="en-US" dirty="0"/>
              <a:t>Make the analysis reproducible before fitting a model</a:t>
            </a:r>
          </a:p>
        </p:txBody>
      </p:sp>
    </p:spTree>
    <p:extLst>
      <p:ext uri="{BB962C8B-B14F-4D97-AF65-F5344CB8AC3E}">
        <p14:creationId xmlns:p14="http://schemas.microsoft.com/office/powerpoint/2010/main" val="462283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0C0A0-5C5E-0BA7-7ADE-BE44F1825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B511E-BA47-A9AB-CA66-D8C2F9A69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Everyone connected occurrences to environmental variables</a:t>
            </a:r>
          </a:p>
          <a:p>
            <a:pPr lvl="0"/>
            <a:r>
              <a:rPr lang="en-US" dirty="0"/>
              <a:t>Everyone produced an environmental-space comparison</a:t>
            </a:r>
          </a:p>
          <a:p>
            <a:pPr lvl="0"/>
            <a:r>
              <a:rPr lang="en-US" dirty="0"/>
              <a:t>Most students correctly recognized that background points are not confirmed absences</a:t>
            </a:r>
          </a:p>
          <a:p>
            <a:pPr lvl="0"/>
            <a:r>
              <a:rPr lang="en-US" dirty="0"/>
              <a:t>The main difficulty was explaining what “stable” or “conditional” means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4472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5192D-AD96-2DFC-8683-BCABE60A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Background, absence, and suitability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A213F-802B-D0C8-E94C-AB5D1D58DD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background point represents a sampled environmental condition available within the assumed M</a:t>
            </a:r>
          </a:p>
          <a:p>
            <a:r>
              <a:rPr lang="en-US" dirty="0"/>
              <a:t>A background point does not establish:</a:t>
            </a:r>
          </a:p>
          <a:p>
            <a:pPr lvl="1"/>
            <a:r>
              <a:rPr lang="en-US" dirty="0"/>
              <a:t>Species absence</a:t>
            </a:r>
          </a:p>
          <a:p>
            <a:pPr lvl="1"/>
            <a:r>
              <a:rPr lang="en-US" dirty="0"/>
              <a:t>Habitat suitability</a:t>
            </a:r>
          </a:p>
          <a:p>
            <a:pPr lvl="1"/>
            <a:r>
              <a:rPr lang="en-US" dirty="0"/>
              <a:t>Survey effort</a:t>
            </a:r>
          </a:p>
          <a:p>
            <a:pPr lvl="1"/>
            <a:r>
              <a:rPr lang="en-US" dirty="0"/>
              <a:t>Failure to detect the species</a:t>
            </a:r>
          </a:p>
          <a:p>
            <a:r>
              <a:rPr lang="en-US" dirty="0"/>
              <a:t>A location represented by a background point may contain the species, lack the species, or be inaccessible for reasons outside the selected predictors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1942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91F5C-5424-2DC7-0D91-F9042304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 as an accessibility 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26610-EAFA-3144-6737-36CCCD81E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 represents the area the species could have accessed during the relevant period</a:t>
            </a:r>
          </a:p>
          <a:p>
            <a:r>
              <a:rPr lang="en-US" dirty="0"/>
              <a:t>A distance buffer is a simplified hypothesis about M. It is not:</a:t>
            </a:r>
          </a:p>
          <a:p>
            <a:pPr lvl="1"/>
            <a:r>
              <a:rPr lang="en-US" dirty="0"/>
              <a:t>An individual home range</a:t>
            </a:r>
          </a:p>
          <a:p>
            <a:pPr lvl="1"/>
            <a:r>
              <a:rPr lang="en-US" dirty="0"/>
              <a:t>A maximum movement distance</a:t>
            </a:r>
          </a:p>
          <a:p>
            <a:pPr lvl="1"/>
            <a:r>
              <a:rPr lang="en-US" dirty="0"/>
              <a:t>Suitable habitat</a:t>
            </a:r>
          </a:p>
          <a:p>
            <a:pPr lvl="1"/>
            <a:r>
              <a:rPr lang="en-US" dirty="0"/>
              <a:t>The true species range</a:t>
            </a:r>
          </a:p>
          <a:p>
            <a:r>
              <a:rPr lang="en-US" dirty="0"/>
              <a:t>A defensible M may require information about dispersal history, barriers, elevation, connectivity, or biogeographic regions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5138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19A37-1876-59D9-27C8-04F09F8DF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5F914-CB87-32BA-9C0E-6C289E8F4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Robustness of interpretations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D47EC-1F66-A683-FEDD-3870566439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b="1" dirty="0"/>
              <a:t>Stable:</a:t>
            </a:r>
            <a:r>
              <a:rPr lang="en-US" dirty="0"/>
              <a:t> substantively unchanged across plausible scenarios</a:t>
            </a:r>
          </a:p>
          <a:p>
            <a:pPr lvl="0"/>
            <a:endParaRPr lang="en-US" dirty="0"/>
          </a:p>
          <a:p>
            <a:pPr lvl="0"/>
            <a:r>
              <a:rPr lang="en-US" b="1" dirty="0"/>
              <a:t>Conditional:</a:t>
            </a:r>
            <a:r>
              <a:rPr lang="en-US" dirty="0"/>
              <a:t> valid only under specified assumptions</a:t>
            </a:r>
          </a:p>
          <a:p>
            <a:pPr lvl="0"/>
            <a:endParaRPr lang="en-US" b="1" dirty="0"/>
          </a:p>
          <a:p>
            <a:pPr lvl="0"/>
            <a:r>
              <a:rPr lang="en-US" b="1" dirty="0"/>
              <a:t>Not robust/unstable:</a:t>
            </a:r>
            <a:r>
              <a:rPr lang="en-US" dirty="0"/>
              <a:t> disappears or reverses under plausible alternatives</a:t>
            </a:r>
          </a:p>
        </p:txBody>
      </p:sp>
    </p:spTree>
    <p:extLst>
      <p:ext uri="{BB962C8B-B14F-4D97-AF65-F5344CB8AC3E}">
        <p14:creationId xmlns:p14="http://schemas.microsoft.com/office/powerpoint/2010/main" val="24172022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3D049-63E5-88D6-7373-9CDA0CB5D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Robustness refers to an interpretation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80090F-3FD8-B819-B27A-B78B11B81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7002363"/>
              </p:ext>
            </p:extLst>
          </p:nvPr>
        </p:nvGraphicFramePr>
        <p:xfrm>
          <a:off x="1218334" y="1329291"/>
          <a:ext cx="6249266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49237">
                  <a:extLst>
                    <a:ext uri="{9D8B030D-6E8A-4147-A177-3AD203B41FA5}">
                      <a16:colId xmlns:a16="http://schemas.microsoft.com/office/drawing/2014/main" val="3534451194"/>
                    </a:ext>
                  </a:extLst>
                </a:gridCol>
                <a:gridCol w="3700029">
                  <a:extLst>
                    <a:ext uri="{9D8B030D-6E8A-4147-A177-3AD203B41FA5}">
                      <a16:colId xmlns:a16="http://schemas.microsoft.com/office/drawing/2014/main" val="40590809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Sample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Average mean annual temperature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06239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Occurrences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13.82°C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6594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50-km background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18.13°C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4156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200-km background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19.33°C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79823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E934419-1F95-4D33-05BA-069E008127FC}"/>
              </a:ext>
            </a:extLst>
          </p:cNvPr>
          <p:cNvSpPr txBox="1"/>
          <p:nvPr/>
        </p:nvSpPr>
        <p:spPr>
          <a:xfrm>
            <a:off x="580592" y="3123736"/>
            <a:ext cx="80018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Interpretation:</a:t>
            </a:r>
            <a:r>
              <a:rPr lang="en-US" dirty="0"/>
              <a:t> Occurrences represent cooler environments than the sampled background under both M assumptions.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 dirty="0"/>
              <a:t>Direction:</a:t>
            </a:r>
            <a:r>
              <a:rPr lang="en-US" dirty="0"/>
              <a:t> stable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 dirty="0"/>
              <a:t>Magnitude:</a:t>
            </a:r>
            <a:r>
              <a:rPr lang="en-US" dirty="0"/>
              <a:t> conditional on M</a:t>
            </a:r>
          </a:p>
          <a:p>
            <a:pPr>
              <a:buNone/>
            </a:pPr>
            <a:r>
              <a:rPr lang="en-US" dirty="0"/>
              <a:t>We evaluate the robustness of the ecological conclusion, not whether one buffer or figure looks more stable</a:t>
            </a:r>
          </a:p>
        </p:txBody>
      </p:sp>
    </p:spTree>
    <p:extLst>
      <p:ext uri="{BB962C8B-B14F-4D97-AF65-F5344CB8AC3E}">
        <p14:creationId xmlns:p14="http://schemas.microsoft.com/office/powerpoint/2010/main" val="3497348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25EC6-D44B-FD26-1311-AA17603F0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interpretation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47E48-CDE1-E512-04BB-D0A69375E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“Background points are suitable but unoccupied habitat.”</a:t>
            </a:r>
          </a:p>
          <a:p>
            <a:pPr marL="342900" lvl="1" indent="0">
              <a:buNone/>
            </a:pPr>
            <a:r>
              <a:rPr lang="en-US" dirty="0"/>
              <a:t>Background describes availability, not confirmed suitability or occupancy.</a:t>
            </a:r>
          </a:p>
          <a:p>
            <a:pPr marL="342900" lvl="1" indent="0">
              <a:buNone/>
            </a:pPr>
            <a:endParaRPr lang="en-US" dirty="0"/>
          </a:p>
          <a:p>
            <a:r>
              <a:rPr lang="en-US" b="1" dirty="0"/>
              <a:t>“The 150-km M is more stable.”</a:t>
            </a:r>
            <a:br>
              <a:rPr lang="en-US" dirty="0"/>
            </a:br>
            <a:r>
              <a:rPr lang="en-US" dirty="0"/>
              <a:t>Stable describes an interpretation across assumptions, not an M value.</a:t>
            </a:r>
          </a:p>
          <a:p>
            <a:endParaRPr lang="en-US" dirty="0"/>
          </a:p>
          <a:p>
            <a:r>
              <a:rPr lang="en-US" b="1" dirty="0"/>
              <a:t>“The broader M produced more background points.”</a:t>
            </a:r>
            <a:br>
              <a:rPr lang="en-US" dirty="0"/>
            </a:br>
            <a:r>
              <a:rPr lang="en-US" dirty="0"/>
              <a:t>Both scenarios sampled 1,000 points. The environmental range changed.</a:t>
            </a:r>
          </a:p>
          <a:p>
            <a:endParaRPr lang="en-US" dirty="0"/>
          </a:p>
          <a:p>
            <a:r>
              <a:rPr lang="en-US" b="1" dirty="0"/>
              <a:t>“White space inside the buffer means unsuitable habitat.”</a:t>
            </a:r>
            <a:br>
              <a:rPr lang="en-US" dirty="0"/>
            </a:br>
            <a:r>
              <a:rPr lang="en-US" dirty="0"/>
              <a:t>White cells usually contain no raster value, often because the buffer extends over water.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92857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467BB-0BD1-20AF-8F52-A77BA04E8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Repair the 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6ECC87-9A12-37A7-EF71-0E99E6675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Choose one environmental variable:</a:t>
            </a:r>
          </a:p>
          <a:p>
            <a:pPr marL="757238" lvl="1" indent="-457200">
              <a:buFont typeface="+mj-lt"/>
              <a:buAutoNum type="arabicPeriod"/>
            </a:pPr>
            <a:r>
              <a:rPr lang="en-US" dirty="0"/>
              <a:t>Compare occurrences with background under each M.</a:t>
            </a:r>
          </a:p>
          <a:p>
            <a:pPr marL="757238" lvl="1" indent="-457200">
              <a:buFont typeface="+mj-lt"/>
              <a:buAutoNum type="arabicPeriod"/>
            </a:pPr>
            <a:r>
              <a:rPr lang="en-US" dirty="0"/>
              <a:t>Write(rewrite) one ecological interpretation/conclusion.</a:t>
            </a:r>
          </a:p>
          <a:p>
            <a:pPr marL="757238" lvl="1" indent="-457200">
              <a:buFont typeface="+mj-lt"/>
              <a:buAutoNum type="arabicPeriod"/>
            </a:pPr>
            <a:r>
              <a:rPr lang="en-US" dirty="0"/>
              <a:t>Classify the interpretation/conclusion as stable, conditional, or unstable.</a:t>
            </a:r>
          </a:p>
          <a:p>
            <a:pPr marL="757238" lvl="1" indent="-457200">
              <a:buFont typeface="+mj-lt"/>
              <a:buAutoNum type="arabicPeriod"/>
            </a:pPr>
            <a:r>
              <a:rPr lang="en-US" dirty="0"/>
              <a:t>Cite numbers or a visible pattern as evidence.</a:t>
            </a:r>
          </a:p>
          <a:p>
            <a:pPr marL="757238" lvl="1" indent="-457200">
              <a:buFont typeface="+mj-lt"/>
              <a:buAutoNum type="arabicPeriod"/>
            </a:pPr>
            <a:r>
              <a:rPr lang="en-US" dirty="0"/>
              <a:t>Save your updated script and ReadMe</a:t>
            </a:r>
          </a:p>
          <a:p>
            <a:pPr marL="757238" lvl="1" indent="-457200">
              <a:buFont typeface="+mj-lt"/>
              <a:buAutoNum type="arabicPeriod"/>
            </a:pPr>
            <a:r>
              <a:rPr lang="en-US" dirty="0"/>
              <a:t>Commit your changes (wait to push)</a:t>
            </a:r>
          </a:p>
          <a:p>
            <a:pPr marL="757238" lvl="1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0430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BE5BE-A57C-B570-3DB5-D8657B011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Reproducibility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D2681-A6E8-62F1-4259-ABB1DD23C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Restart R and run the script from the project root</a:t>
            </a:r>
          </a:p>
          <a:p>
            <a:r>
              <a:rPr lang="en-US" dirty="0"/>
              <a:t>Remove any hard-coded commands</a:t>
            </a:r>
          </a:p>
          <a:p>
            <a:r>
              <a:rPr lang="en-US" dirty="0"/>
              <a:t>Confirm that the script recreates both figures and saves them to the output folder</a:t>
            </a:r>
          </a:p>
          <a:p>
            <a:r>
              <a:rPr lang="en-US" dirty="0"/>
              <a:t>Confirm that all of your choices in the script match the README and figure labels</a:t>
            </a:r>
          </a:p>
          <a:p>
            <a:r>
              <a:rPr lang="en-US" dirty="0"/>
              <a:t>Check the order of your scripting output and that functions are defined before they are called</a:t>
            </a:r>
          </a:p>
          <a:p>
            <a:r>
              <a:rPr lang="en-US" dirty="0"/>
              <a:t>Save your updated script</a:t>
            </a:r>
          </a:p>
          <a:p>
            <a:r>
              <a:rPr lang="en-US" dirty="0"/>
              <a:t>Commit your changes and push</a:t>
            </a:r>
          </a:p>
        </p:txBody>
      </p:sp>
    </p:spTree>
    <p:extLst>
      <p:ext uri="{BB962C8B-B14F-4D97-AF65-F5344CB8AC3E}">
        <p14:creationId xmlns:p14="http://schemas.microsoft.com/office/powerpoint/2010/main" val="591673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318D0-6364-5E48-D6D7-52020B2A4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62491"/>
            <a:ext cx="8229600" cy="857250"/>
          </a:xfrm>
        </p:spPr>
        <p:txBody>
          <a:bodyPr/>
          <a:lstStyle/>
          <a:p>
            <a:r>
              <a:rPr lang="en-US" dirty="0"/>
              <a:t>Presence-Background Models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22A756-CCDA-34BA-1D36-8EE0525133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796671"/>
              </p:ext>
            </p:extLst>
          </p:nvPr>
        </p:nvGraphicFramePr>
        <p:xfrm>
          <a:off x="457200" y="1023049"/>
          <a:ext cx="8362951" cy="38621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6850">
                  <a:extLst>
                    <a:ext uri="{9D8B030D-6E8A-4147-A177-3AD203B41FA5}">
                      <a16:colId xmlns:a16="http://schemas.microsoft.com/office/drawing/2014/main" val="1899927598"/>
                    </a:ext>
                  </a:extLst>
                </a:gridCol>
                <a:gridCol w="1952625">
                  <a:extLst>
                    <a:ext uri="{9D8B030D-6E8A-4147-A177-3AD203B41FA5}">
                      <a16:colId xmlns:a16="http://schemas.microsoft.com/office/drawing/2014/main" val="2276815839"/>
                    </a:ext>
                  </a:extLst>
                </a:gridCol>
                <a:gridCol w="4943476">
                  <a:extLst>
                    <a:ext uri="{9D8B030D-6E8A-4147-A177-3AD203B41FA5}">
                      <a16:colId xmlns:a16="http://schemas.microsoft.com/office/drawing/2014/main" val="4034250234"/>
                    </a:ext>
                  </a:extLst>
                </a:gridCol>
              </a:tblGrid>
              <a:tr h="1965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Model type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Example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Typical use</a:t>
                      </a:r>
                    </a:p>
                  </a:txBody>
                  <a:tcPr marL="60472" marR="60472" marT="30236" marB="30236" anchor="ctr"/>
                </a:tc>
                <a:extLst>
                  <a:ext uri="{0D108BD9-81ED-4DB2-BD59-A6C34878D82A}">
                    <a16:rowId xmlns:a16="http://schemas.microsoft.com/office/drawing/2014/main" val="2216772049"/>
                  </a:ext>
                </a:extLst>
              </a:tr>
              <a:tr h="468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C00000"/>
                          </a:solidFill>
                        </a:rPr>
                        <a:t>Maximum entropy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C00000"/>
                          </a:solidFill>
                        </a:rPr>
                        <a:t>Maxent, </a:t>
                      </a:r>
                      <a:r>
                        <a:rPr lang="en-US" sz="1400" dirty="0" err="1">
                          <a:solidFill>
                            <a:srgbClr val="C00000"/>
                          </a:solidFill>
                        </a:rPr>
                        <a:t>maxnet</a:t>
                      </a:r>
                      <a:endParaRPr lang="en-US" sz="1400" dirty="0">
                        <a:solidFill>
                          <a:srgbClr val="C00000"/>
                        </a:solidFill>
                      </a:endParaRP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Estimate relative suitability from occurrences and background environments</a:t>
                      </a:r>
                    </a:p>
                  </a:txBody>
                  <a:tcPr marL="60472" marR="60472" marT="30236" marB="30236" anchor="ctr"/>
                </a:tc>
                <a:extLst>
                  <a:ext uri="{0D108BD9-81ED-4DB2-BD59-A6C34878D82A}">
                    <a16:rowId xmlns:a16="http://schemas.microsoft.com/office/drawing/2014/main" val="620249176"/>
                  </a:ext>
                </a:extLst>
              </a:tr>
              <a:tr h="3325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Point-process model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Poisson point-process model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Model the relative intensity of occurrence locations across space</a:t>
                      </a:r>
                    </a:p>
                  </a:txBody>
                  <a:tcPr marL="60472" marR="60472" marT="30236" marB="30236" anchor="ctr"/>
                </a:tc>
                <a:extLst>
                  <a:ext uri="{0D108BD9-81ED-4DB2-BD59-A6C34878D82A}">
                    <a16:rowId xmlns:a16="http://schemas.microsoft.com/office/drawing/2014/main" val="2328496231"/>
                  </a:ext>
                </a:extLst>
              </a:tr>
              <a:tr h="3325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Resource-selection model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Resource selection function, or RSF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Compare locations used by organisms with available locations</a:t>
                      </a:r>
                    </a:p>
                  </a:txBody>
                  <a:tcPr marL="60472" marR="60472" marT="30236" marB="30236" anchor="ctr"/>
                </a:tc>
                <a:extLst>
                  <a:ext uri="{0D108BD9-81ED-4DB2-BD59-A6C34878D82A}">
                    <a16:rowId xmlns:a16="http://schemas.microsoft.com/office/drawing/2014/main" val="141802892"/>
                  </a:ext>
                </a:extLst>
              </a:tr>
              <a:tr h="468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C00000"/>
                          </a:solidFill>
                        </a:rPr>
                        <a:t>Regression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C00000"/>
                          </a:solidFill>
                        </a:rPr>
                        <a:t>Logistic regression, GAM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Estimate environmental associations using occurrences coded 1 and background coded 0</a:t>
                      </a:r>
                    </a:p>
                  </a:txBody>
                  <a:tcPr marL="60472" marR="60472" marT="30236" marB="30236" anchor="ctr"/>
                </a:tc>
                <a:extLst>
                  <a:ext uri="{0D108BD9-81ED-4DB2-BD59-A6C34878D82A}">
                    <a16:rowId xmlns:a16="http://schemas.microsoft.com/office/drawing/2014/main" val="658276708"/>
                  </a:ext>
                </a:extLst>
              </a:tr>
              <a:tr h="3325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C00000"/>
                          </a:solidFill>
                        </a:rPr>
                        <a:t>Tree-based model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C00000"/>
                          </a:solidFill>
                        </a:rPr>
                        <a:t>Boosted regression trees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Fit nonlinear relationships and interactions</a:t>
                      </a:r>
                    </a:p>
                  </a:txBody>
                  <a:tcPr marL="60472" marR="60472" marT="30236" marB="30236" anchor="ctr"/>
                </a:tc>
                <a:extLst>
                  <a:ext uri="{0D108BD9-81ED-4DB2-BD59-A6C34878D82A}">
                    <a16:rowId xmlns:a16="http://schemas.microsoft.com/office/drawing/2014/main" val="3368765509"/>
                  </a:ext>
                </a:extLst>
              </a:tr>
              <a:tr h="3325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C00000"/>
                          </a:solidFill>
                        </a:rPr>
                        <a:t>Machine learning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C00000"/>
                          </a:solidFill>
                        </a:rPr>
                        <a:t>Random forest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Classify occurrences relative to sampled background</a:t>
                      </a:r>
                    </a:p>
                  </a:txBody>
                  <a:tcPr marL="60472" marR="60472" marT="30236" marB="30236" anchor="ctr"/>
                </a:tc>
                <a:extLst>
                  <a:ext uri="{0D108BD9-81ED-4DB2-BD59-A6C34878D82A}">
                    <a16:rowId xmlns:a16="http://schemas.microsoft.com/office/drawing/2014/main" val="2197504641"/>
                  </a:ext>
                </a:extLst>
              </a:tr>
              <a:tr h="468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Ecological-factor analysis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ENFA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Compare the environments used by a species with the environments available</a:t>
                      </a:r>
                    </a:p>
                  </a:txBody>
                  <a:tcPr marL="60472" marR="60472" marT="30236" marB="30236" anchor="ctr"/>
                </a:tc>
                <a:extLst>
                  <a:ext uri="{0D108BD9-81ED-4DB2-BD59-A6C34878D82A}">
                    <a16:rowId xmlns:a16="http://schemas.microsoft.com/office/drawing/2014/main" val="632011118"/>
                  </a:ext>
                </a:extLst>
              </a:tr>
              <a:tr h="3325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C00000"/>
                          </a:solidFill>
                        </a:rPr>
                        <a:t>Ensemble model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C00000"/>
                          </a:solidFill>
                        </a:rPr>
                        <a:t>biomod2 ensemble</a:t>
                      </a:r>
                    </a:p>
                  </a:txBody>
                  <a:tcPr marL="60472" marR="60472" marT="30236" marB="3023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Combine predictions from several presence-background algorithms</a:t>
                      </a:r>
                    </a:p>
                  </a:txBody>
                  <a:tcPr marL="60472" marR="60472" marT="30236" marB="30236" anchor="ctr"/>
                </a:tc>
                <a:extLst>
                  <a:ext uri="{0D108BD9-81ED-4DB2-BD59-A6C34878D82A}">
                    <a16:rowId xmlns:a16="http://schemas.microsoft.com/office/drawing/2014/main" val="23624522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90116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D4338-D493-20B5-3FA9-18CC0CE2F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143125"/>
            <a:ext cx="8229600" cy="857250"/>
          </a:xfrm>
        </p:spPr>
        <p:txBody>
          <a:bodyPr/>
          <a:lstStyle/>
          <a:p>
            <a:r>
              <a:rPr lang="en-US" dirty="0"/>
              <a:t>Questions that presence-background models can answer</a:t>
            </a:r>
          </a:p>
        </p:txBody>
      </p:sp>
    </p:spTree>
    <p:extLst>
      <p:ext uri="{BB962C8B-B14F-4D97-AF65-F5344CB8AC3E}">
        <p14:creationId xmlns:p14="http://schemas.microsoft.com/office/powerpoint/2010/main" val="2186344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9FC64-4190-8B12-CF71-A18AAFB1C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93713"/>
            <a:ext cx="8229600" cy="857250"/>
          </a:xfrm>
        </p:spPr>
        <p:txBody>
          <a:bodyPr>
            <a:normAutofit fontScale="90000"/>
          </a:bodyPr>
          <a:lstStyle/>
          <a:p>
            <a:r>
              <a:rPr lang="en-US" dirty="0"/>
              <a:t>Which environmental conditions distinguish observed occurrences from other conditions available within M?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2D8E93-EA48-5235-B103-4B62D63F4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218" y="1995055"/>
            <a:ext cx="2931222" cy="2931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584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A5BF1-C05C-9BD3-9848-DB4390FAA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Where is relative environmental suitability higher or lower within the modeled region?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26F554-9CDD-42C6-9A9B-64134C436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7727" y="1329291"/>
            <a:ext cx="3768545" cy="3768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8989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6F8C9-FAFF-97DB-8597-1E55F1822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does the predicted suitability pattern change under alternative definitions of M?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AC74B4-8617-2F68-D5E2-577A8734C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9126" y="978477"/>
            <a:ext cx="4165023" cy="4165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6170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81FEE-ABF7-AE52-4AF9-28043DD97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Which unsampled areas have environments similar to known occurrence locations?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6E56DB-7BE6-F06A-9BDF-76FE1D3E4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655" y="1615786"/>
            <a:ext cx="3430732" cy="343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1219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967C0-CD69-E9C8-9A90-3A9B5AB03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Which predictors have the strongest associations with occurrence locations?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B3EB0F-8EE0-5836-F6CD-1C191457B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491" y="1520535"/>
            <a:ext cx="2973533" cy="297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8487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C19A4-FCA3-505B-9A22-8D03126CB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32260"/>
            <a:ext cx="8229600" cy="857250"/>
          </a:xfrm>
        </p:spPr>
        <p:txBody>
          <a:bodyPr>
            <a:normAutofit fontScale="90000"/>
          </a:bodyPr>
          <a:lstStyle/>
          <a:p>
            <a:pPr lvl="0"/>
            <a:r>
              <a:rPr lang="en-US" dirty="0"/>
              <a:t>What is the shape of the association with temperature, precipitation, elevation, or other predictors?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C92449-B650-2683-A183-3A8A893AD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527" y="1879022"/>
            <a:ext cx="3458441" cy="3458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0698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BEF57-F223-2C4E-39AD-B9500B470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887678"/>
            <a:ext cx="8229600" cy="857250"/>
          </a:xfrm>
        </p:spPr>
        <p:txBody>
          <a:bodyPr>
            <a:normAutofit fontScale="90000"/>
          </a:bodyPr>
          <a:lstStyle/>
          <a:p>
            <a:r>
              <a:rPr lang="en-US" dirty="0"/>
              <a:t>Does a model calibrated in one region or period transfer well to another?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16C3E8-89FF-6005-7B8A-2613128FA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779" y="1449531"/>
            <a:ext cx="3361459" cy="3361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3941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1F4DB-B502-937E-CBB7-DC26401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41766"/>
            <a:ext cx="8229600" cy="857250"/>
          </a:xfrm>
        </p:spPr>
        <p:txBody>
          <a:bodyPr>
            <a:normAutofit fontScale="90000"/>
          </a:bodyPr>
          <a:lstStyle/>
          <a:p>
            <a:r>
              <a:rPr lang="en-US" dirty="0"/>
              <a:t>How might relative suitability shift under a future or past climate scenario?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508A7C-B56F-FC33-3A8F-855FDFC94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3818" y="1170391"/>
            <a:ext cx="3583132" cy="3583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488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88632-C8C3-FA0D-0905-E0DA9754E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Are conclusions consistent across algorithms, predictor sets, background samples, or occurrence-filtering decisions?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DCE562-DAA3-83BC-1591-3F78B3311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8394" y="1536868"/>
            <a:ext cx="3134591" cy="3134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1336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33417-37F0-4569-32D8-485F39F5A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model 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8EDE36-09E8-EC13-6516-79B90A719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 presence-background model compares:</a:t>
            </a:r>
          </a:p>
          <a:p>
            <a:pPr lvl="1"/>
            <a:r>
              <a:rPr lang="en-US" dirty="0"/>
              <a:t>Environments at occurrences</a:t>
            </a:r>
          </a:p>
          <a:p>
            <a:pPr lvl="1"/>
            <a:r>
              <a:rPr lang="en-US" dirty="0"/>
              <a:t>Environments sampled from the calibration region</a:t>
            </a:r>
          </a:p>
          <a:p>
            <a:pPr lvl="1"/>
            <a:endParaRPr lang="en-US" dirty="0"/>
          </a:p>
          <a:p>
            <a:r>
              <a:rPr lang="en-US" dirty="0"/>
              <a:t>The model estimates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highlight>
                  <a:srgbClr val="FFFF00"/>
                </a:highlight>
              </a:rPr>
              <a:t>relative environmental suitability </a:t>
            </a:r>
            <a:r>
              <a:rPr lang="en-US" dirty="0"/>
              <a:t>or discrimination within the specified sampling design. Keep in mind it does not estimate:</a:t>
            </a:r>
          </a:p>
          <a:p>
            <a:pPr lvl="1"/>
            <a:r>
              <a:rPr lang="en-US" dirty="0"/>
              <a:t>Occupancy probability</a:t>
            </a:r>
          </a:p>
          <a:p>
            <a:pPr lvl="1"/>
            <a:r>
              <a:rPr lang="en-US" dirty="0"/>
              <a:t>Detection probability</a:t>
            </a:r>
          </a:p>
          <a:p>
            <a:pPr lvl="1"/>
            <a:r>
              <a:rPr lang="en-US" dirty="0"/>
              <a:t>Abundance</a:t>
            </a:r>
          </a:p>
          <a:p>
            <a:pPr lvl="1"/>
            <a:r>
              <a:rPr lang="en-US" dirty="0"/>
              <a:t>Causal effects of environmental variables</a:t>
            </a:r>
          </a:p>
          <a:p>
            <a:pPr lvl="1"/>
            <a:endParaRPr lang="en-US" dirty="0"/>
          </a:p>
          <a:p>
            <a:r>
              <a:rPr lang="en-US" dirty="0"/>
              <a:t>Changing M changes the comparison used to fit the model. Later, we can fit the same model under several M assumptions and compare the interpretations.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12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22151</TotalTime>
  <Words>971</Words>
  <Application>Microsoft Macintosh PowerPoint</Application>
  <PresentationFormat>On-screen Show (16:9)</PresentationFormat>
  <Paragraphs>154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Week 5. Robustness, Models, Environments</vt:lpstr>
      <vt:lpstr>Welcome, hello, any announcements?</vt:lpstr>
      <vt:lpstr>Project Milestones</vt:lpstr>
      <vt:lpstr>Class Plan</vt:lpstr>
      <vt:lpstr>Lab 03 Debrief</vt:lpstr>
      <vt:lpstr>Class progress</vt:lpstr>
      <vt:lpstr>Background, absence, and suitability</vt:lpstr>
      <vt:lpstr>M as an accessibility hypothesis</vt:lpstr>
      <vt:lpstr>Robustness of interpretations</vt:lpstr>
      <vt:lpstr>Robustness refers to an interpretation</vt:lpstr>
      <vt:lpstr>Common interpretation errors</vt:lpstr>
      <vt:lpstr>Repair the interpretation</vt:lpstr>
      <vt:lpstr>Reproducibility check</vt:lpstr>
      <vt:lpstr>Presence-Background Models</vt:lpstr>
      <vt:lpstr>Questions that presence-background models can answer</vt:lpstr>
      <vt:lpstr>Which environmental conditions distinguish observed occurrences from other conditions available within M?</vt:lpstr>
      <vt:lpstr>Where is relative environmental suitability higher or lower within the modeled region?</vt:lpstr>
      <vt:lpstr>How does the predicted suitability pattern change under alternative definitions of M?</vt:lpstr>
      <vt:lpstr>Which unsampled areas have environments similar to known occurrence locations?</vt:lpstr>
      <vt:lpstr>Which predictors have the strongest associations with occurrence locations?</vt:lpstr>
      <vt:lpstr>What is the shape of the association with temperature, precipitation, elevation, or other predictors?</vt:lpstr>
      <vt:lpstr>Does a model calibrated in one region or period transfer well to another?</vt:lpstr>
      <vt:lpstr>How might relative suitability shift under a future or past climate scenario?</vt:lpstr>
      <vt:lpstr>Are conclusions consistent across algorithms, predictor sets, background samples, or occurrence-filtering decisions?</vt:lpstr>
      <vt:lpstr>Connection to model fitting</vt:lpstr>
    </vt:vector>
  </TitlesOfParts>
  <Company>TAMU - Spatial Sciences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 Projections</dc:title>
  <dc:creator>Michelle Lawing</dc:creator>
  <cp:lastModifiedBy>Michelle Lawing</cp:lastModifiedBy>
  <cp:revision>919</cp:revision>
  <dcterms:created xsi:type="dcterms:W3CDTF">2014-08-30T17:37:24Z</dcterms:created>
  <dcterms:modified xsi:type="dcterms:W3CDTF">2026-09-22T19:29:54Z</dcterms:modified>
</cp:coreProperties>
</file>